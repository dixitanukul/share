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webextensions/taskpanes.xml" ContentType="application/vnd.ms-office.webextensiontaskpanes+xml"/>
  <Override PartName="/ppt/webextensions/webextension1.xml" ContentType="application/vnd.ms-office.webextension+xml"/>
  <Override PartName="/ppt/webextensions/webextension2.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officeDocument/2006/relationships/officeDocument" Target="ppt/presentation.xml"/><Relationship Id="rId1" Type="http://schemas.microsoft.com/office/2011/relationships/webextensiontaskpanes" Target="ppt/webextensions/taskpanes.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50" r:id="rId2"/>
  </p:sldMasterIdLst>
  <p:notesMasterIdLst>
    <p:notesMasterId r:id="rId19"/>
  </p:notesMasterIdLst>
  <p:sldIdLst>
    <p:sldId id="256" r:id="rId3"/>
    <p:sldId id="281" r:id="rId4"/>
    <p:sldId id="277" r:id="rId5"/>
    <p:sldId id="258" r:id="rId6"/>
    <p:sldId id="259" r:id="rId7"/>
    <p:sldId id="260" r:id="rId8"/>
    <p:sldId id="261" r:id="rId9"/>
    <p:sldId id="262" r:id="rId10"/>
    <p:sldId id="263" r:id="rId11"/>
    <p:sldId id="264" r:id="rId12"/>
    <p:sldId id="265" r:id="rId13"/>
    <p:sldId id="266" r:id="rId14"/>
    <p:sldId id="278" r:id="rId15"/>
    <p:sldId id="279" r:id="rId16"/>
    <p:sldId id="269" r:id="rId17"/>
    <p:sldId id="280" r:id="rId1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78" d="100"/>
          <a:sy n="78" d="100"/>
        </p:scale>
        <p:origin x="850" y="43"/>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3" Type="http://schemas.openxmlformats.org/officeDocument/2006/relationships/slide" Target="slides/slide1.xml"/><Relationship Id="rId21" Type="http://schemas.openxmlformats.org/officeDocument/2006/relationships/viewProps" Target="viewProp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tableStyles" Target="tableStyles.xml"/><Relationship Id="rId10" Type="http://schemas.openxmlformats.org/officeDocument/2006/relationships/slide" Target="slides/slide8.xml"/><Relationship Id="rId19" Type="http://schemas.openxmlformats.org/officeDocument/2006/relationships/notesMaster" Target="notesMasters/notesMaster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Opening. '10,372 provider contracts. 27 gigabytes of legal documents. Every rate, every clause, every amendment — locked in PDFs and inaccessible at scale. This platform changes that.' Do not jump to the solution. Let the scale of the corpus land first.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Lead with the thesis: contract intelligence is a strategic operating asset, not document search. Emphasize the governed foundation, defensible evidence-linked decisions, reusable scale, and the trust-and-value gates that control each investment step.</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State the problem in business terms only. No technology. No solution yet. Three structural pains: you cannot query, you cannot trust amendment currency, you cannot benchmark. The right panel captures the qualitative reality — not fabricated numbers. Let the pain land before moving 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Left: three approaches that fail and exactly why. Right: the transformation arc in three steps. Bottom principle is the responsible AI frame — use it word for word. The message: none of the alternatives gets you all four things simultaneously: full corpus, validated, amendment-aware, governed.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Be honest: green items are genuinely live and production-ready. Amber items are known gaps on the roadmap. The corpus progress bar is key: ~70% complete, ~3,000 files remaining — not starting over, nearly there. The closing statement is important: this is live, not a prototype.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Walk the left flow once: English question → semantic layer → governed SQL → curated gold tables → answer in seconds. The right scope shows breadth. Key message: not just a rate lookup tool — it covers the full range of contracting intelligence needs across every business persona.</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Frame as complementary, not competing. Genie = fast structured answers for business users. RAG = deep citation-grounded legal retrieval for analysts and compliance. Bottom line is the key: both front doors read from the same governed, validated foundation.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Walk left to right. Highlight the interleaving: teal (AI) steps are wrapped by grey (deterministic) checks at every stage. The three bottom cards are the hard-won engineering decisions that make this production-grade — especially per-file REST API isolation which eliminated multi-hour batch stalls.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Walk the chain left to right. The last box (dark) is the only one that counts — the platform resolves to the current state only. Explain the three scope types because real amendments behave differently. Land on the right-hand risk message: citing a superseded rate is a real exposure.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Walk every stage. The 4-channel box shows why this is more reliable than a simple keyword search. The citation check is what makes output trustworthy — six independent checks before an answer is returned. The refuse behavior is a feature: if evidence is insufficient, the system says so rather than guessing.</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Slow down on this slide. Five independent layers, each catching what the previous might miss. The framing on the right is exact — use it word for word. NEVER say hallucinations are eliminated. Say risk is layered, measured and controlled. The 'refuse rather than guess' behavior is a trust feature, not a limitation.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Walk the four accountable roles: platform and data, business product, risk and legal, and executive sponsor. Emphasize that scale requires evidence across quality, adoption, controls and validated value.</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Present the sequence as three gated decisions: complete the governed foundation, measure trust and economics, then scale selectively. Make clear that no expansion is approved until quality, adoption, control evidence and net benefit are demonstrated.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Close with conviction. Read the title line slowly. Recap the three things they should remember. Make a SPECIFIC ask — not vague sponsorship but the three items listed. End on the final italic line and hand to Q&amp;A.</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Walk top to bottom from source documents through ingestion, governed data, evidence retrieval and application delivery. The governance rail applies across every layer and keeps access, lineage, audit, quality and feedback controls consistent.</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a:spcBef>
          <a:spcPct val="0"/>
        </a:spcBef>
        <a:buNone/>
        <a:defRPr sz="4400" kern="1200">
          <a:solidFill>
            <a:schemeClr val="tx1"/>
          </a:solidFill>
          <a:latin typeface="+mj-lt"/>
          <a:ea typeface="+mj-lt"/>
          <a:cs typeface="+mj-lt"/>
        </a:defRPr>
      </a:lvl1pPr>
    </p:titleStyle>
    <p:bodyStyle>
      <a:lvl1pPr marL="342900" indent="-342900" algn="l" defTabSz="914400">
        <a:spcBef>
          <a:spcPct val="20000"/>
        </a:spcBef>
        <a:buFont typeface="Arial"/>
        <a:buChar char="•"/>
        <a:defRPr sz="3200" kern="1200">
          <a:solidFill>
            <a:schemeClr val="tx1"/>
          </a:solidFill>
          <a:latin typeface="+mn-lt"/>
          <a:ea typeface="+mn-lt"/>
          <a:cs typeface="+mn-lt"/>
        </a:defRPr>
      </a:lvl1pPr>
      <a:lvl2pPr marL="742950" indent="-285750" algn="l" defTabSz="914400">
        <a:spcBef>
          <a:spcPct val="20000"/>
        </a:spcBef>
        <a:buFont typeface="Arial"/>
        <a:buChar char="–"/>
        <a:defRPr sz="2800" kern="1200">
          <a:solidFill>
            <a:schemeClr val="tx1"/>
          </a:solidFill>
          <a:latin typeface="+mn-lt"/>
          <a:ea typeface="+mn-lt"/>
          <a:cs typeface="+mn-lt"/>
        </a:defRPr>
      </a:lvl2pPr>
      <a:lvl3pPr marL="1143000" indent="-228600" algn="l" defTabSz="914400">
        <a:spcBef>
          <a:spcPct val="20000"/>
        </a:spcBef>
        <a:buFont typeface="Arial"/>
        <a:buChar char="•"/>
        <a:defRPr sz="2400" kern="1200">
          <a:solidFill>
            <a:schemeClr val="tx1"/>
          </a:solidFill>
          <a:latin typeface="+mn-lt"/>
          <a:ea typeface="+mn-lt"/>
          <a:cs typeface="+mn-lt"/>
        </a:defRPr>
      </a:lvl3pPr>
      <a:lvl4pPr marL="1600200" indent="-228600" algn="l" defTabSz="914400">
        <a:spcBef>
          <a:spcPct val="20000"/>
        </a:spcBef>
        <a:buFont typeface="Arial"/>
        <a:buChar char="–"/>
        <a:defRPr sz="2000" kern="1200">
          <a:solidFill>
            <a:schemeClr val="tx1"/>
          </a:solidFill>
          <a:latin typeface="+mn-lt"/>
          <a:ea typeface="+mn-lt"/>
          <a:cs typeface="+mn-lt"/>
        </a:defRPr>
      </a:lvl4pPr>
      <a:lvl5pPr marL="2057400" indent="-228600" algn="l" defTabSz="914400">
        <a:spcBef>
          <a:spcPct val="20000"/>
        </a:spcBef>
        <a:buFont typeface="Arial"/>
        <a:buChar char="»"/>
        <a:defRPr sz="2000" kern="1200">
          <a:solidFill>
            <a:schemeClr val="tx1"/>
          </a:solidFill>
          <a:latin typeface="+mn-lt"/>
          <a:ea typeface="+mn-lt"/>
          <a:cs typeface="+mn-lt"/>
        </a:defRPr>
      </a:lvl5pPr>
      <a:lvl6pPr marL="2514600" indent="-228600" algn="l" defTabSz="914400">
        <a:spcBef>
          <a:spcPct val="20000"/>
        </a:spcBef>
        <a:buFont typeface="Arial"/>
        <a:buChar char="•"/>
        <a:defRPr sz="2000" kern="1200">
          <a:solidFill>
            <a:schemeClr val="tx1"/>
          </a:solidFill>
          <a:latin typeface="+mn-lt"/>
          <a:ea typeface="+mn-lt"/>
          <a:cs typeface="+mn-lt"/>
        </a:defRPr>
      </a:lvl6pPr>
      <a:lvl7pPr marL="2971800" indent="-228600" algn="l" defTabSz="914400">
        <a:spcBef>
          <a:spcPct val="20000"/>
        </a:spcBef>
        <a:buFont typeface="Arial"/>
        <a:buChar char="•"/>
        <a:defRPr sz="2000" kern="1200">
          <a:solidFill>
            <a:schemeClr val="tx1"/>
          </a:solidFill>
          <a:latin typeface="+mn-lt"/>
          <a:ea typeface="+mn-lt"/>
          <a:cs typeface="+mn-lt"/>
        </a:defRPr>
      </a:lvl7pPr>
      <a:lvl8pPr marL="3429000" indent="-228600" algn="l" defTabSz="914400">
        <a:spcBef>
          <a:spcPct val="20000"/>
        </a:spcBef>
        <a:buFont typeface="Arial"/>
        <a:buChar char="•"/>
        <a:defRPr sz="2000" kern="1200">
          <a:solidFill>
            <a:schemeClr val="tx1"/>
          </a:solidFill>
          <a:latin typeface="+mn-lt"/>
          <a:ea typeface="+mn-lt"/>
          <a:cs typeface="+mn-lt"/>
        </a:defRPr>
      </a:lvl8pPr>
      <a:lvl9pPr marL="3886200" indent="-228600" algn="l" defTabSz="914400">
        <a:spcBef>
          <a:spcPct val="20000"/>
        </a:spcBef>
        <a:buFont typeface="Arial"/>
        <a:buChar char="•"/>
        <a:defRPr sz="2000" kern="1200">
          <a:solidFill>
            <a:schemeClr val="tx1"/>
          </a:solidFill>
          <a:latin typeface="+mn-lt"/>
          <a:ea typeface="+mn-lt"/>
          <a:cs typeface="+mn-lt"/>
        </a:defRPr>
      </a:lvl9pPr>
    </p:bodyStyle>
    <p:otherStyle>
      <a:lvl1pPr marL="0" algn="l" defTabSz="914400">
        <a:buNone/>
        <a:defRPr sz="1800" kern="1200">
          <a:solidFill>
            <a:schemeClr val="tx1"/>
          </a:solidFill>
          <a:latin typeface="+mn-lt"/>
          <a:ea typeface="+mn-lt"/>
          <a:cs typeface="+mn-lt"/>
        </a:defRPr>
      </a:lvl1pPr>
      <a:lvl2pPr marL="457200" algn="l" defTabSz="914400">
        <a:buNone/>
        <a:defRPr sz="1800" kern="1200">
          <a:solidFill>
            <a:schemeClr val="tx1"/>
          </a:solidFill>
          <a:latin typeface="+mn-lt"/>
          <a:ea typeface="+mn-lt"/>
          <a:cs typeface="+mn-lt"/>
        </a:defRPr>
      </a:lvl2pPr>
      <a:lvl3pPr marL="914400" algn="l" defTabSz="914400">
        <a:buNone/>
        <a:defRPr sz="1800" kern="1200">
          <a:solidFill>
            <a:schemeClr val="tx1"/>
          </a:solidFill>
          <a:latin typeface="+mn-lt"/>
          <a:ea typeface="+mn-lt"/>
          <a:cs typeface="+mn-lt"/>
        </a:defRPr>
      </a:lvl3pPr>
      <a:lvl4pPr marL="1371600" algn="l" defTabSz="914400">
        <a:buNone/>
        <a:defRPr sz="1800" kern="1200">
          <a:solidFill>
            <a:schemeClr val="tx1"/>
          </a:solidFill>
          <a:latin typeface="+mn-lt"/>
          <a:ea typeface="+mn-lt"/>
          <a:cs typeface="+mn-lt"/>
        </a:defRPr>
      </a:lvl4pPr>
      <a:lvl5pPr marL="1828800" algn="l" defTabSz="914400">
        <a:buNone/>
        <a:defRPr sz="1800" kern="1200">
          <a:solidFill>
            <a:schemeClr val="tx1"/>
          </a:solidFill>
          <a:latin typeface="+mn-lt"/>
          <a:ea typeface="+mn-lt"/>
          <a:cs typeface="+mn-lt"/>
        </a:defRPr>
      </a:lvl5pPr>
      <a:lvl6pPr marL="2286000" algn="l" defTabSz="914400">
        <a:buNone/>
        <a:defRPr sz="1800" kern="1200">
          <a:solidFill>
            <a:schemeClr val="tx1"/>
          </a:solidFill>
          <a:latin typeface="+mn-lt"/>
          <a:ea typeface="+mn-lt"/>
          <a:cs typeface="+mn-lt"/>
        </a:defRPr>
      </a:lvl6pPr>
      <a:lvl7pPr marL="2743200" algn="l" defTabSz="914400">
        <a:buNone/>
        <a:defRPr sz="1800" kern="1200">
          <a:solidFill>
            <a:schemeClr val="tx1"/>
          </a:solidFill>
          <a:latin typeface="+mn-lt"/>
          <a:ea typeface="+mn-lt"/>
          <a:cs typeface="+mn-lt"/>
        </a:defRPr>
      </a:lvl7pPr>
      <a:lvl8pPr marL="3200400" algn="l" defTabSz="914400">
        <a:buNone/>
        <a:defRPr sz="1800" kern="1200">
          <a:solidFill>
            <a:schemeClr val="tx1"/>
          </a:solidFill>
          <a:latin typeface="+mn-lt"/>
          <a:ea typeface="+mn-lt"/>
          <a:cs typeface="+mn-lt"/>
        </a:defRPr>
      </a:lvl8pPr>
      <a:lvl9pPr marL="3657600" algn="l" defTabSz="914400">
        <a:buNone/>
        <a:defRPr sz="1800" kern="1200">
          <a:solidFill>
            <a:schemeClr val="tx1"/>
          </a:solidFill>
          <a:latin typeface="+mn-lt"/>
          <a:ea typeface="+mn-lt"/>
          <a:cs typeface="+mn-lt"/>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51"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B1B2E"/>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93B4202C-A521-4829-8CE5-725B5E35D2F6}"/>
              </a:ext>
            </a:extLst>
          </p:cNvPr>
          <p:cNvSpPr>
            <a:spLocks noGrp="1"/>
          </p:cNvSpPr>
          <p:nvPr/>
        </p:nvSpPr>
        <p:spPr>
          <a:xfrm>
            <a:off x="8366760" y="1397000"/>
            <a:ext cx="3337560" cy="787400"/>
          </a:xfrm>
          <a:prstGeom prst="rect">
            <a:avLst/>
          </a:prstGeom>
          <a:solidFill>
            <a:srgbClr val="13283F"/>
          </a:solidFill>
        </p:spPr>
        <p:txBody>
          <a:bodyPr/>
          <a:lstStyle/>
          <a:p>
            <a:endParaRPr/>
          </a:p>
        </p:txBody>
      </p:sp>
      <p:sp>
        <p:nvSpPr>
          <p:cNvPr id="3" name="Shape 1">
            <a:extLst>
              <a:ext uri="{FF2B5EF4-FFF2-40B4-BE49-F238E27FC236}">
                <a16:creationId xmlns:a16="http://schemas.microsoft.com/office/drawing/2014/main" id="{2639DB14-02F9-4D9F-BFE5-8C6D76FD135F}"/>
              </a:ext>
            </a:extLst>
          </p:cNvPr>
          <p:cNvSpPr>
            <a:spLocks noGrp="1"/>
          </p:cNvSpPr>
          <p:nvPr/>
        </p:nvSpPr>
        <p:spPr>
          <a:xfrm>
            <a:off x="8366760" y="1397000"/>
            <a:ext cx="82296" cy="787400"/>
          </a:xfrm>
          <a:prstGeom prst="rect">
            <a:avLst/>
          </a:prstGeom>
          <a:solidFill>
            <a:srgbClr val="1FC7B6"/>
          </a:solidFill>
        </p:spPr>
        <p:txBody>
          <a:bodyPr/>
          <a:lstStyle/>
          <a:p>
            <a:endParaRPr/>
          </a:p>
        </p:txBody>
      </p:sp>
      <p:sp>
        <p:nvSpPr>
          <p:cNvPr id="4" name="Text 2">
            <a:extLst>
              <a:ext uri="{FF2B5EF4-FFF2-40B4-BE49-F238E27FC236}">
                <a16:creationId xmlns:a16="http://schemas.microsoft.com/office/drawing/2014/main" id="{CAE7F92D-2F48-4220-8375-69D341AAF05D}"/>
              </a:ext>
            </a:extLst>
          </p:cNvPr>
          <p:cNvSpPr>
            <a:spLocks noGrp="1"/>
          </p:cNvSpPr>
          <p:nvPr/>
        </p:nvSpPr>
        <p:spPr>
          <a:xfrm>
            <a:off x="8577072" y="1397000"/>
            <a:ext cx="3017520" cy="787400"/>
          </a:xfrm>
          <a:prstGeom prst="rect">
            <a:avLst/>
          </a:prstGeom>
          <a:noFill/>
        </p:spPr>
        <p:txBody>
          <a:bodyPr wrap="square" lIns="0" tIns="0" rIns="0" bIns="0" anchor="ctr"/>
          <a:lstStyle/>
          <a:p>
            <a:pPr marL="0" indent="0">
              <a:buNone/>
            </a:pPr>
            <a:r>
              <a:rPr lang="en-IN" sz="1150" b="1">
                <a:solidFill>
                  <a:srgbClr val="93A4BD"/>
                </a:solidFill>
                <a:latin typeface="Calibri"/>
                <a:ea typeface="Calibri"/>
                <a:cs typeface="Calibri"/>
              </a:rPr>
              <a:t>GOVERNED FOUNDATION</a:t>
            </a:r>
            <a:endParaRPr sz="1150" b="1">
              <a:solidFill>
                <a:srgbClr val="93A4BD"/>
              </a:solidFill>
              <a:latin typeface="Calibri"/>
              <a:ea typeface="Calibri"/>
              <a:cs typeface="Calibri"/>
            </a:endParaRPr>
          </a:p>
        </p:txBody>
      </p:sp>
      <p:sp>
        <p:nvSpPr>
          <p:cNvPr id="5" name="Shape 3">
            <a:extLst>
              <a:ext uri="{FF2B5EF4-FFF2-40B4-BE49-F238E27FC236}">
                <a16:creationId xmlns:a16="http://schemas.microsoft.com/office/drawing/2014/main" id="{A518A061-F9B6-4891-9A65-3D6A21222FEA}"/>
              </a:ext>
            </a:extLst>
          </p:cNvPr>
          <p:cNvSpPr>
            <a:spLocks noGrp="1"/>
          </p:cNvSpPr>
          <p:nvPr/>
        </p:nvSpPr>
        <p:spPr>
          <a:xfrm>
            <a:off x="8366760" y="2489200"/>
            <a:ext cx="3337560" cy="787400"/>
          </a:xfrm>
          <a:prstGeom prst="rect">
            <a:avLst/>
          </a:prstGeom>
          <a:solidFill>
            <a:srgbClr val="13283F"/>
          </a:solidFill>
        </p:spPr>
        <p:txBody>
          <a:bodyPr/>
          <a:lstStyle/>
          <a:p>
            <a:endParaRPr/>
          </a:p>
        </p:txBody>
      </p:sp>
      <p:sp>
        <p:nvSpPr>
          <p:cNvPr id="6" name="Shape 4">
            <a:extLst>
              <a:ext uri="{FF2B5EF4-FFF2-40B4-BE49-F238E27FC236}">
                <a16:creationId xmlns:a16="http://schemas.microsoft.com/office/drawing/2014/main" id="{F3379CF6-631D-4BFF-BFBC-E1157CAA9D91}"/>
              </a:ext>
            </a:extLst>
          </p:cNvPr>
          <p:cNvSpPr>
            <a:spLocks noGrp="1"/>
          </p:cNvSpPr>
          <p:nvPr/>
        </p:nvSpPr>
        <p:spPr>
          <a:xfrm>
            <a:off x="8366760" y="2489200"/>
            <a:ext cx="82296" cy="787400"/>
          </a:xfrm>
          <a:prstGeom prst="rect">
            <a:avLst/>
          </a:prstGeom>
          <a:solidFill>
            <a:srgbClr val="1FC7B6"/>
          </a:solidFill>
        </p:spPr>
        <p:txBody>
          <a:bodyPr/>
          <a:lstStyle/>
          <a:p>
            <a:endParaRPr/>
          </a:p>
        </p:txBody>
      </p:sp>
      <p:sp>
        <p:nvSpPr>
          <p:cNvPr id="7" name="Text 5">
            <a:extLst>
              <a:ext uri="{FF2B5EF4-FFF2-40B4-BE49-F238E27FC236}">
                <a16:creationId xmlns:a16="http://schemas.microsoft.com/office/drawing/2014/main" id="{29931680-A1A2-4E23-A5DB-2470EF56A54D}"/>
              </a:ext>
            </a:extLst>
          </p:cNvPr>
          <p:cNvSpPr>
            <a:spLocks noGrp="1"/>
          </p:cNvSpPr>
          <p:nvPr/>
        </p:nvSpPr>
        <p:spPr>
          <a:xfrm>
            <a:off x="8577072" y="2489200"/>
            <a:ext cx="3017520" cy="787400"/>
          </a:xfrm>
          <a:prstGeom prst="rect">
            <a:avLst/>
          </a:prstGeom>
          <a:noFill/>
        </p:spPr>
        <p:txBody>
          <a:bodyPr wrap="square" lIns="0" tIns="0" rIns="0" bIns="0" anchor="ctr"/>
          <a:lstStyle/>
          <a:p>
            <a:pPr marL="0" indent="0">
              <a:buNone/>
            </a:pPr>
            <a:r>
              <a:rPr lang="en-IN" sz="1150" b="1">
                <a:solidFill>
                  <a:srgbClr val="93A4BD"/>
                </a:solidFill>
                <a:latin typeface="Calibri"/>
                <a:ea typeface="Calibri"/>
                <a:cs typeface="Calibri"/>
              </a:rPr>
              <a:t>EVIDENCE &amp; ANSWERS</a:t>
            </a:r>
            <a:endParaRPr sz="1150" b="1">
              <a:solidFill>
                <a:srgbClr val="93A4BD"/>
              </a:solidFill>
              <a:latin typeface="Calibri"/>
              <a:ea typeface="Calibri"/>
              <a:cs typeface="Calibri"/>
            </a:endParaRPr>
          </a:p>
        </p:txBody>
      </p:sp>
      <p:sp>
        <p:nvSpPr>
          <p:cNvPr id="8" name="Shape 6">
            <a:extLst>
              <a:ext uri="{FF2B5EF4-FFF2-40B4-BE49-F238E27FC236}">
                <a16:creationId xmlns:a16="http://schemas.microsoft.com/office/drawing/2014/main" id="{2C5E1278-BE92-44C7-9225-E4532CB42F4C}"/>
              </a:ext>
            </a:extLst>
          </p:cNvPr>
          <p:cNvSpPr>
            <a:spLocks noGrp="1"/>
          </p:cNvSpPr>
          <p:nvPr/>
        </p:nvSpPr>
        <p:spPr>
          <a:xfrm>
            <a:off x="8366760" y="3581400"/>
            <a:ext cx="3337560" cy="787400"/>
          </a:xfrm>
          <a:prstGeom prst="rect">
            <a:avLst/>
          </a:prstGeom>
          <a:solidFill>
            <a:srgbClr val="13283F"/>
          </a:solidFill>
        </p:spPr>
        <p:txBody>
          <a:bodyPr/>
          <a:lstStyle/>
          <a:p>
            <a:endParaRPr/>
          </a:p>
        </p:txBody>
      </p:sp>
      <p:sp>
        <p:nvSpPr>
          <p:cNvPr id="9" name="Shape 7">
            <a:extLst>
              <a:ext uri="{FF2B5EF4-FFF2-40B4-BE49-F238E27FC236}">
                <a16:creationId xmlns:a16="http://schemas.microsoft.com/office/drawing/2014/main" id="{C1539104-0C03-4757-8BC8-5B28C428F7A3}"/>
              </a:ext>
            </a:extLst>
          </p:cNvPr>
          <p:cNvSpPr>
            <a:spLocks noGrp="1"/>
          </p:cNvSpPr>
          <p:nvPr/>
        </p:nvSpPr>
        <p:spPr>
          <a:xfrm>
            <a:off x="8366760" y="3581400"/>
            <a:ext cx="82296" cy="787400"/>
          </a:xfrm>
          <a:prstGeom prst="rect">
            <a:avLst/>
          </a:prstGeom>
          <a:solidFill>
            <a:srgbClr val="1FC7B6"/>
          </a:solidFill>
        </p:spPr>
        <p:txBody>
          <a:bodyPr/>
          <a:lstStyle/>
          <a:p>
            <a:endParaRPr/>
          </a:p>
        </p:txBody>
      </p:sp>
      <p:sp>
        <p:nvSpPr>
          <p:cNvPr id="10" name="Text 8">
            <a:extLst>
              <a:ext uri="{FF2B5EF4-FFF2-40B4-BE49-F238E27FC236}">
                <a16:creationId xmlns:a16="http://schemas.microsoft.com/office/drawing/2014/main" id="{56BE7068-07DA-4F65-B9B8-D2DBF4A84479}"/>
              </a:ext>
            </a:extLst>
          </p:cNvPr>
          <p:cNvSpPr>
            <a:spLocks noGrp="1"/>
          </p:cNvSpPr>
          <p:nvPr/>
        </p:nvSpPr>
        <p:spPr>
          <a:xfrm>
            <a:off x="8577072" y="3581400"/>
            <a:ext cx="3017520" cy="787400"/>
          </a:xfrm>
          <a:prstGeom prst="rect">
            <a:avLst/>
          </a:prstGeom>
          <a:noFill/>
        </p:spPr>
        <p:txBody>
          <a:bodyPr wrap="square" lIns="0" tIns="0" rIns="0" bIns="0" anchor="ctr"/>
          <a:lstStyle/>
          <a:p>
            <a:pPr marL="0" indent="0">
              <a:buNone/>
            </a:pPr>
            <a:r>
              <a:rPr lang="en-IN" sz="1150" b="1">
                <a:solidFill>
                  <a:srgbClr val="5EEAD4"/>
                </a:solidFill>
                <a:latin typeface="Calibri"/>
                <a:ea typeface="Calibri"/>
                <a:cs typeface="Calibri"/>
              </a:rPr>
              <a:t>BUSINESS SERVING</a:t>
            </a:r>
            <a:endParaRPr sz="1150" b="1">
              <a:solidFill>
                <a:srgbClr val="5EEAD4"/>
              </a:solidFill>
              <a:latin typeface="Calibri"/>
              <a:ea typeface="Calibri"/>
              <a:cs typeface="Calibri"/>
            </a:endParaRPr>
          </a:p>
        </p:txBody>
      </p:sp>
      <p:sp>
        <p:nvSpPr>
          <p:cNvPr id="17" name="Text 15">
            <a:extLst>
              <a:ext uri="{FF2B5EF4-FFF2-40B4-BE49-F238E27FC236}">
                <a16:creationId xmlns:a16="http://schemas.microsoft.com/office/drawing/2014/main" id="{E79CCC1B-21ED-4317-BAFD-D6978DFB2310}"/>
              </a:ext>
            </a:extLst>
          </p:cNvPr>
          <p:cNvSpPr>
            <a:spLocks noGrp="1"/>
          </p:cNvSpPr>
          <p:nvPr/>
        </p:nvSpPr>
        <p:spPr>
          <a:xfrm>
            <a:off x="548640" y="1005840"/>
            <a:ext cx="7589520" cy="256032"/>
          </a:xfrm>
          <a:prstGeom prst="rect">
            <a:avLst/>
          </a:prstGeom>
          <a:noFill/>
        </p:spPr>
        <p:txBody>
          <a:bodyPr wrap="square" lIns="0" tIns="0" rIns="0" bIns="0" anchor="ctr"/>
          <a:lstStyle/>
          <a:p>
            <a:pPr marL="0" indent="0">
              <a:buNone/>
            </a:pPr>
            <a:r>
              <a:rPr sz="950" b="1">
                <a:solidFill>
                  <a:srgbClr val="14B8A6"/>
                </a:solidFill>
                <a:latin typeface="Calibri"/>
                <a:ea typeface="Calibri"/>
                <a:cs typeface="Calibri"/>
              </a:rPr>
              <a:t>BLUE SHIELD OF CALIFORNIA  ·  PROVIDER CONTRACTING  ·  DATABRICKS</a:t>
            </a:r>
          </a:p>
        </p:txBody>
      </p:sp>
      <p:sp>
        <p:nvSpPr>
          <p:cNvPr id="18" name="Text 16">
            <a:extLst>
              <a:ext uri="{FF2B5EF4-FFF2-40B4-BE49-F238E27FC236}">
                <a16:creationId xmlns:a16="http://schemas.microsoft.com/office/drawing/2014/main" id="{0E530883-0EF6-4A5F-BB82-64FF84ED4DE7}"/>
              </a:ext>
            </a:extLst>
          </p:cNvPr>
          <p:cNvSpPr>
            <a:spLocks noGrp="1"/>
          </p:cNvSpPr>
          <p:nvPr/>
        </p:nvSpPr>
        <p:spPr>
          <a:xfrm>
            <a:off x="548640" y="1417320"/>
            <a:ext cx="7498080" cy="2011680"/>
          </a:xfrm>
          <a:prstGeom prst="rect">
            <a:avLst/>
          </a:prstGeom>
          <a:noFill/>
        </p:spPr>
        <p:txBody>
          <a:bodyPr wrap="square" lIns="0" tIns="0" rIns="0" bIns="0" anchor="t"/>
          <a:lstStyle/>
          <a:p>
            <a:pPr marL="0" indent="0">
              <a:lnSpc>
                <a:spcPts val="5400"/>
              </a:lnSpc>
              <a:buNone/>
            </a:pPr>
            <a:r>
              <a:rPr sz="4800" b="1">
                <a:solidFill>
                  <a:srgbClr val="FFFFFF"/>
                </a:solidFill>
                <a:latin typeface="Georgia"/>
                <a:ea typeface="Georgia"/>
                <a:cs typeface="Georgia"/>
              </a:rPr>
              <a:t>Contract</a:t>
            </a:r>
          </a:p>
          <a:p>
            <a:pPr marL="0" indent="0">
              <a:lnSpc>
                <a:spcPts val="5400"/>
              </a:lnSpc>
              <a:buNone/>
            </a:pPr>
            <a:r>
              <a:rPr sz="4800" b="1">
                <a:solidFill>
                  <a:srgbClr val="FFFFFF"/>
                </a:solidFill>
                <a:latin typeface="Georgia"/>
                <a:ea typeface="Georgia"/>
                <a:cs typeface="Georgia"/>
              </a:rPr>
              <a:t>Intelligence Platform</a:t>
            </a:r>
          </a:p>
        </p:txBody>
      </p:sp>
      <p:sp>
        <p:nvSpPr>
          <p:cNvPr id="19" name="Shape 17">
            <a:extLst>
              <a:ext uri="{FF2B5EF4-FFF2-40B4-BE49-F238E27FC236}">
                <a16:creationId xmlns:a16="http://schemas.microsoft.com/office/drawing/2014/main" id="{8FA6F0D4-AE04-4359-BFCA-408DD693219F}"/>
              </a:ext>
            </a:extLst>
          </p:cNvPr>
          <p:cNvSpPr>
            <a:spLocks noGrp="1"/>
          </p:cNvSpPr>
          <p:nvPr/>
        </p:nvSpPr>
        <p:spPr>
          <a:xfrm>
            <a:off x="548640" y="3493008"/>
            <a:ext cx="822960" cy="54864"/>
          </a:xfrm>
          <a:prstGeom prst="rect">
            <a:avLst/>
          </a:prstGeom>
          <a:solidFill>
            <a:srgbClr val="F26A4B"/>
          </a:solidFill>
        </p:spPr>
        <p:txBody>
          <a:bodyPr/>
          <a:lstStyle/>
          <a:p>
            <a:endParaRPr/>
          </a:p>
        </p:txBody>
      </p:sp>
      <p:sp>
        <p:nvSpPr>
          <p:cNvPr id="20" name="Text 18">
            <a:extLst>
              <a:ext uri="{FF2B5EF4-FFF2-40B4-BE49-F238E27FC236}">
                <a16:creationId xmlns:a16="http://schemas.microsoft.com/office/drawing/2014/main" id="{2CDFDEEB-A52A-44AA-BB77-61072C370236}"/>
              </a:ext>
            </a:extLst>
          </p:cNvPr>
          <p:cNvSpPr>
            <a:spLocks noGrp="1"/>
          </p:cNvSpPr>
          <p:nvPr/>
        </p:nvSpPr>
        <p:spPr>
          <a:xfrm>
            <a:off x="548640" y="3675888"/>
            <a:ext cx="7498080" cy="685800"/>
          </a:xfrm>
          <a:prstGeom prst="rect">
            <a:avLst/>
          </a:prstGeom>
          <a:noFill/>
        </p:spPr>
        <p:txBody>
          <a:bodyPr wrap="square" lIns="0" tIns="0" rIns="0" bIns="0" anchor="ctr"/>
          <a:lstStyle/>
          <a:p>
            <a:pPr marL="0" indent="0">
              <a:lnSpc>
                <a:spcPts val="2100"/>
              </a:lnSpc>
              <a:buNone/>
            </a:pPr>
            <a:r>
              <a:rPr sz="1550" i="1">
                <a:solidFill>
                  <a:srgbClr val="5EEAD4"/>
                </a:solidFill>
                <a:latin typeface="Calibri"/>
                <a:ea typeface="Calibri"/>
                <a:cs typeface="Calibri"/>
              </a:rPr>
              <a:t>Turning provider contracts into trusted business intelligence</a:t>
            </a:r>
          </a:p>
        </p:txBody>
      </p:sp>
      <p:sp>
        <p:nvSpPr>
          <p:cNvPr id="21" name="Text 19">
            <a:extLst>
              <a:ext uri="{FF2B5EF4-FFF2-40B4-BE49-F238E27FC236}">
                <a16:creationId xmlns:a16="http://schemas.microsoft.com/office/drawing/2014/main" id="{F18BDDAD-E644-4B5B-90CF-4D3A2A2ABFB5}"/>
              </a:ext>
            </a:extLst>
          </p:cNvPr>
          <p:cNvSpPr>
            <a:spLocks noGrp="1"/>
          </p:cNvSpPr>
          <p:nvPr/>
        </p:nvSpPr>
        <p:spPr>
          <a:xfrm>
            <a:off x="548640" y="5212080"/>
            <a:ext cx="2606040" cy="566928"/>
          </a:xfrm>
          <a:prstGeom prst="rect">
            <a:avLst/>
          </a:prstGeom>
          <a:noFill/>
        </p:spPr>
        <p:txBody>
          <a:bodyPr wrap="square" lIns="0" tIns="0" rIns="0" bIns="0" anchor="ctr"/>
          <a:lstStyle/>
          <a:p>
            <a:pPr marL="0" indent="0">
              <a:buNone/>
            </a:pPr>
            <a:r>
              <a:rPr sz="2800" b="1">
                <a:solidFill>
                  <a:srgbClr val="F26A4B"/>
                </a:solidFill>
                <a:latin typeface="Georgia"/>
                <a:ea typeface="Georgia"/>
                <a:cs typeface="Georgia"/>
              </a:rPr>
              <a:t>10K+</a:t>
            </a:r>
          </a:p>
        </p:txBody>
      </p:sp>
      <p:sp>
        <p:nvSpPr>
          <p:cNvPr id="22" name="Text 20">
            <a:extLst>
              <a:ext uri="{FF2B5EF4-FFF2-40B4-BE49-F238E27FC236}">
                <a16:creationId xmlns:a16="http://schemas.microsoft.com/office/drawing/2014/main" id="{C0B867BC-63E9-4916-9859-2A47436E605C}"/>
              </a:ext>
            </a:extLst>
          </p:cNvPr>
          <p:cNvSpPr>
            <a:spLocks noGrp="1"/>
          </p:cNvSpPr>
          <p:nvPr/>
        </p:nvSpPr>
        <p:spPr>
          <a:xfrm>
            <a:off x="548640" y="5806440"/>
            <a:ext cx="2606040" cy="347472"/>
          </a:xfrm>
          <a:prstGeom prst="rect">
            <a:avLst/>
          </a:prstGeom>
          <a:noFill/>
        </p:spPr>
        <p:txBody>
          <a:bodyPr wrap="square" lIns="0" tIns="0" rIns="0" bIns="0" anchor="ctr"/>
          <a:lstStyle/>
          <a:p>
            <a:pPr marL="0" indent="0">
              <a:lnSpc>
                <a:spcPts val="1000"/>
              </a:lnSpc>
              <a:buNone/>
            </a:pPr>
            <a:r>
              <a:rPr sz="850" b="1">
                <a:solidFill>
                  <a:srgbClr val="93A4BD"/>
                </a:solidFill>
                <a:latin typeface="Calibri"/>
                <a:ea typeface="Calibri"/>
                <a:cs typeface="Calibri"/>
              </a:rPr>
              <a:t>CONTRACT DOCUMENTS</a:t>
            </a:r>
          </a:p>
        </p:txBody>
      </p:sp>
      <p:sp>
        <p:nvSpPr>
          <p:cNvPr id="23" name="Text 21">
            <a:extLst>
              <a:ext uri="{FF2B5EF4-FFF2-40B4-BE49-F238E27FC236}">
                <a16:creationId xmlns:a16="http://schemas.microsoft.com/office/drawing/2014/main" id="{F9E3BCEB-518A-45EE-AE72-023AB805F151}"/>
              </a:ext>
            </a:extLst>
          </p:cNvPr>
          <p:cNvSpPr>
            <a:spLocks noGrp="1"/>
          </p:cNvSpPr>
          <p:nvPr/>
        </p:nvSpPr>
        <p:spPr>
          <a:xfrm>
            <a:off x="3383280" y="5212080"/>
            <a:ext cx="2606040" cy="566928"/>
          </a:xfrm>
          <a:prstGeom prst="rect">
            <a:avLst/>
          </a:prstGeom>
          <a:noFill/>
        </p:spPr>
        <p:txBody>
          <a:bodyPr wrap="square" lIns="0" tIns="0" rIns="0" bIns="0" anchor="ctr"/>
          <a:lstStyle/>
          <a:p>
            <a:pPr marL="0" indent="0">
              <a:buNone/>
            </a:pPr>
            <a:r>
              <a:rPr sz="2800" b="1">
                <a:solidFill>
                  <a:srgbClr val="5EEAD4"/>
                </a:solidFill>
                <a:latin typeface="Georgia"/>
                <a:ea typeface="Georgia"/>
                <a:cs typeface="Georgia"/>
              </a:rPr>
              <a:t>300+</a:t>
            </a:r>
          </a:p>
        </p:txBody>
      </p:sp>
      <p:sp>
        <p:nvSpPr>
          <p:cNvPr id="24" name="Text 22">
            <a:extLst>
              <a:ext uri="{FF2B5EF4-FFF2-40B4-BE49-F238E27FC236}">
                <a16:creationId xmlns:a16="http://schemas.microsoft.com/office/drawing/2014/main" id="{7E069ED8-C66B-4982-BD6B-9DE8CF9633A0}"/>
              </a:ext>
            </a:extLst>
          </p:cNvPr>
          <p:cNvSpPr>
            <a:spLocks noGrp="1"/>
          </p:cNvSpPr>
          <p:nvPr/>
        </p:nvSpPr>
        <p:spPr>
          <a:xfrm>
            <a:off x="3383280" y="5806440"/>
            <a:ext cx="2606040" cy="347472"/>
          </a:xfrm>
          <a:prstGeom prst="rect">
            <a:avLst/>
          </a:prstGeom>
          <a:noFill/>
        </p:spPr>
        <p:txBody>
          <a:bodyPr wrap="square" lIns="0" tIns="0" rIns="0" bIns="0" anchor="ctr"/>
          <a:lstStyle/>
          <a:p>
            <a:pPr marL="0" indent="0">
              <a:lnSpc>
                <a:spcPts val="1000"/>
              </a:lnSpc>
              <a:buNone/>
            </a:pPr>
            <a:r>
              <a:rPr sz="850" b="1">
                <a:solidFill>
                  <a:srgbClr val="93A4BD"/>
                </a:solidFill>
                <a:latin typeface="Calibri"/>
                <a:ea typeface="Calibri"/>
                <a:cs typeface="Calibri"/>
              </a:rPr>
              <a:t>PROVIDER ORGANIZATIONS</a:t>
            </a:r>
          </a:p>
        </p:txBody>
      </p:sp>
      <p:sp>
        <p:nvSpPr>
          <p:cNvPr id="25" name="Text 23">
            <a:extLst>
              <a:ext uri="{FF2B5EF4-FFF2-40B4-BE49-F238E27FC236}">
                <a16:creationId xmlns:a16="http://schemas.microsoft.com/office/drawing/2014/main" id="{F6A8D5D6-ECCD-4C8E-9AFE-910A635A303D}"/>
              </a:ext>
            </a:extLst>
          </p:cNvPr>
          <p:cNvSpPr>
            <a:spLocks noGrp="1"/>
          </p:cNvSpPr>
          <p:nvPr/>
        </p:nvSpPr>
        <p:spPr>
          <a:xfrm>
            <a:off x="6217920" y="5212080"/>
            <a:ext cx="2606040" cy="566928"/>
          </a:xfrm>
          <a:prstGeom prst="rect">
            <a:avLst/>
          </a:prstGeom>
          <a:noFill/>
        </p:spPr>
        <p:txBody>
          <a:bodyPr wrap="square" lIns="0" tIns="0" rIns="0" bIns="0" anchor="ctr"/>
          <a:lstStyle/>
          <a:p>
            <a:pPr marL="0" indent="0">
              <a:buNone/>
            </a:pPr>
            <a:r>
              <a:rPr sz="2800" b="1">
                <a:solidFill>
                  <a:srgbClr val="5EEAD4"/>
                </a:solidFill>
                <a:latin typeface="Georgia"/>
                <a:ea typeface="Georgia"/>
                <a:cs typeface="Georgia"/>
              </a:rPr>
              <a:t>31</a:t>
            </a:r>
          </a:p>
        </p:txBody>
      </p:sp>
      <p:sp>
        <p:nvSpPr>
          <p:cNvPr id="26" name="Text 24">
            <a:extLst>
              <a:ext uri="{FF2B5EF4-FFF2-40B4-BE49-F238E27FC236}">
                <a16:creationId xmlns:a16="http://schemas.microsoft.com/office/drawing/2014/main" id="{72087537-E91E-44B6-ADAA-6172C5F8BC2E}"/>
              </a:ext>
            </a:extLst>
          </p:cNvPr>
          <p:cNvSpPr>
            <a:spLocks noGrp="1"/>
          </p:cNvSpPr>
          <p:nvPr/>
        </p:nvSpPr>
        <p:spPr>
          <a:xfrm>
            <a:off x="6217920" y="5806440"/>
            <a:ext cx="2606040" cy="347472"/>
          </a:xfrm>
          <a:prstGeom prst="rect">
            <a:avLst/>
          </a:prstGeom>
          <a:noFill/>
        </p:spPr>
        <p:txBody>
          <a:bodyPr wrap="square" lIns="0" tIns="0" rIns="0" bIns="0" anchor="ctr"/>
          <a:lstStyle/>
          <a:p>
            <a:pPr marL="0" indent="0">
              <a:lnSpc>
                <a:spcPts val="1000"/>
              </a:lnSpc>
              <a:buNone/>
            </a:pPr>
            <a:r>
              <a:rPr sz="850" b="1">
                <a:solidFill>
                  <a:srgbClr val="93A4BD"/>
                </a:solidFill>
                <a:latin typeface="Calibri"/>
                <a:ea typeface="Calibri"/>
                <a:cs typeface="Calibri"/>
              </a:rPr>
              <a:t>PRODUCTION TABLES</a:t>
            </a:r>
          </a:p>
        </p:txBody>
      </p:sp>
      <p:sp>
        <p:nvSpPr>
          <p:cNvPr id="27" name="Text 25">
            <a:extLst>
              <a:ext uri="{FF2B5EF4-FFF2-40B4-BE49-F238E27FC236}">
                <a16:creationId xmlns:a16="http://schemas.microsoft.com/office/drawing/2014/main" id="{490536FE-1F8F-45AC-9D44-F02DF36980B6}"/>
              </a:ext>
            </a:extLst>
          </p:cNvPr>
          <p:cNvSpPr>
            <a:spLocks noGrp="1"/>
          </p:cNvSpPr>
          <p:nvPr/>
        </p:nvSpPr>
        <p:spPr>
          <a:xfrm>
            <a:off x="9052560" y="5212080"/>
            <a:ext cx="2606040" cy="566928"/>
          </a:xfrm>
          <a:prstGeom prst="rect">
            <a:avLst/>
          </a:prstGeom>
          <a:noFill/>
        </p:spPr>
        <p:txBody>
          <a:bodyPr wrap="square" lIns="0" tIns="0" rIns="0" bIns="0" anchor="ctr">
            <a:noAutofit/>
          </a:bodyPr>
          <a:lstStyle/>
          <a:p>
            <a:pPr marL="0" indent="0">
              <a:buNone/>
            </a:pPr>
            <a:r>
              <a:rPr lang="en-IN" sz="2200" b="1" dirty="0">
                <a:solidFill>
                  <a:srgbClr val="5EEAD4"/>
                </a:solidFill>
                <a:latin typeface="Georgia"/>
                <a:ea typeface="Georgia"/>
                <a:cs typeface="Georgia"/>
              </a:rPr>
              <a:t>CURRENT TERMS</a:t>
            </a:r>
            <a:endParaRPr sz="2200" b="1" dirty="0">
              <a:solidFill>
                <a:srgbClr val="5EEAD4"/>
              </a:solidFill>
              <a:latin typeface="Georgia"/>
              <a:ea typeface="Georgia"/>
              <a:cs typeface="Georgia"/>
            </a:endParaRPr>
          </a:p>
        </p:txBody>
      </p:sp>
      <p:sp>
        <p:nvSpPr>
          <p:cNvPr id="28" name="Text 26">
            <a:extLst>
              <a:ext uri="{FF2B5EF4-FFF2-40B4-BE49-F238E27FC236}">
                <a16:creationId xmlns:a16="http://schemas.microsoft.com/office/drawing/2014/main" id="{8DE86767-82E3-4FBC-B460-265C22952C4A}"/>
              </a:ext>
            </a:extLst>
          </p:cNvPr>
          <p:cNvSpPr>
            <a:spLocks noGrp="1"/>
          </p:cNvSpPr>
          <p:nvPr/>
        </p:nvSpPr>
        <p:spPr>
          <a:xfrm>
            <a:off x="9052560" y="5806440"/>
            <a:ext cx="2606040" cy="347472"/>
          </a:xfrm>
          <a:prstGeom prst="rect">
            <a:avLst/>
          </a:prstGeom>
          <a:noFill/>
        </p:spPr>
        <p:txBody>
          <a:bodyPr wrap="square" lIns="0" tIns="0" rIns="0" bIns="0" anchor="ctr"/>
          <a:lstStyle/>
          <a:p>
            <a:pPr marL="0" indent="0">
              <a:lnSpc>
                <a:spcPts val="1000"/>
              </a:lnSpc>
              <a:buNone/>
            </a:pPr>
            <a:r>
              <a:rPr lang="en-IN" sz="850" b="1">
                <a:solidFill>
                  <a:srgbClr val="93A4BD"/>
                </a:solidFill>
                <a:latin typeface="Calibri"/>
                <a:ea typeface="Calibri"/>
                <a:cs typeface="Calibri"/>
              </a:rPr>
              <a:t>AMENDMENT-AWARE LOGIC</a:t>
            </a:r>
            <a:endParaRPr sz="850" b="1">
              <a:solidFill>
                <a:srgbClr val="93A4BD"/>
              </a:solidFill>
              <a:latin typeface="Calibri"/>
              <a:ea typeface="Calibri"/>
              <a:cs typeface="Calibri"/>
            </a:endParaRPr>
          </a:p>
        </p:txBody>
      </p:sp>
      <p:sp>
        <p:nvSpPr>
          <p:cNvPr id="29" name="Text 27">
            <a:extLst>
              <a:ext uri="{FF2B5EF4-FFF2-40B4-BE49-F238E27FC236}">
                <a16:creationId xmlns:a16="http://schemas.microsoft.com/office/drawing/2014/main" id="{57C62187-2754-4896-9386-0FB2735D0393}"/>
              </a:ext>
            </a:extLst>
          </p:cNvPr>
          <p:cNvSpPr>
            <a:spLocks noGrp="1"/>
          </p:cNvSpPr>
          <p:nvPr/>
        </p:nvSpPr>
        <p:spPr>
          <a:xfrm>
            <a:off x="548640" y="6419088"/>
            <a:ext cx="10058400" cy="256032"/>
          </a:xfrm>
          <a:prstGeom prst="rect">
            <a:avLst/>
          </a:prstGeom>
          <a:noFill/>
        </p:spPr>
        <p:txBody>
          <a:bodyPr wrap="square" lIns="0" tIns="0" rIns="0" bIns="0" anchor="ctr"/>
          <a:lstStyle/>
          <a:p>
            <a:pPr marL="0" indent="0">
              <a:buNone/>
            </a:pPr>
            <a:r>
              <a:rPr lang="en-US" sz="950">
                <a:solidFill>
                  <a:srgbClr val="93A4BD"/>
                </a:solidFill>
                <a:latin typeface="Calibri"/>
                <a:ea typeface="Calibri"/>
                <a:cs typeface="Calibri"/>
              </a:rPr>
              <a:t>Executive discussion  ·  Blue Shield of California  ·  Confidential — Internal</a:t>
            </a:r>
            <a:endParaRPr sz="950">
              <a:solidFill>
                <a:srgbClr val="93A4BD"/>
              </a:solidFill>
              <a:latin typeface="Calibri"/>
              <a:ea typeface="Calibri"/>
              <a:cs typeface="Calibri"/>
            </a:endParaRPr>
          </a:p>
        </p:txBody>
      </p:sp>
    </p:spTree>
    <p:extLst>
      <p:ext uri="{BB962C8B-B14F-4D97-AF65-F5344CB8AC3E}">
        <p14:creationId xmlns:p14="http://schemas.microsoft.com/office/powerpoint/2010/main" val="210038236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7CC3A9C-D38B-5815-C15D-775E0E68C16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71120"/>
            <a:ext cx="12192000" cy="7002862"/>
          </a:xfrm>
          <a:prstGeom prst="rect">
            <a:avLst/>
          </a:prstGeom>
        </p:spPr>
      </p:pic>
    </p:spTree>
    <p:extLst>
      <p:ext uri="{BB962C8B-B14F-4D97-AF65-F5344CB8AC3E}">
        <p14:creationId xmlns:p14="http://schemas.microsoft.com/office/powerpoint/2010/main" val="34089473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CC8FB582-8E95-4E6F-8C36-5BC93B22FD04}"/>
              </a:ext>
            </a:extLst>
          </p:cNvPr>
          <p:cNvSpPr>
            <a:spLocks noGrp="1"/>
          </p:cNvSpPr>
          <p:nvPr/>
        </p:nvSpPr>
        <p:spPr>
          <a:xfrm>
            <a:off x="548640" y="457200"/>
            <a:ext cx="11094415" cy="256032"/>
          </a:xfrm>
          <a:prstGeom prst="rect">
            <a:avLst/>
          </a:prstGeom>
          <a:noFill/>
        </p:spPr>
        <p:txBody>
          <a:bodyPr wrap="square" lIns="0" tIns="0" rIns="0" bIns="0" anchor="ctr"/>
          <a:lstStyle/>
          <a:p>
            <a:pPr marL="0" indent="0">
              <a:buNone/>
            </a:pPr>
            <a:r>
              <a:rPr lang="en-IN" sz="1100" b="1">
                <a:solidFill>
                  <a:srgbClr val="0F766E"/>
                </a:solidFill>
                <a:latin typeface="Calibri"/>
                <a:ea typeface="Calibri"/>
                <a:cs typeface="Calibri"/>
              </a:rPr>
              <a:t>SECTION 01 · EXECUTIVE THESIS</a:t>
            </a:r>
            <a:endParaRPr sz="1100" b="1">
              <a:solidFill>
                <a:srgbClr val="0F766E"/>
              </a:solidFill>
              <a:latin typeface="Calibri"/>
              <a:ea typeface="Calibri"/>
              <a:cs typeface="Calibri"/>
            </a:endParaRPr>
          </a:p>
        </p:txBody>
      </p:sp>
      <p:sp>
        <p:nvSpPr>
          <p:cNvPr id="3" name="Text 1">
            <a:extLst>
              <a:ext uri="{FF2B5EF4-FFF2-40B4-BE49-F238E27FC236}">
                <a16:creationId xmlns:a16="http://schemas.microsoft.com/office/drawing/2014/main" id="{10B8754B-7ECD-495A-86D5-414C25209591}"/>
              </a:ext>
            </a:extLst>
          </p:cNvPr>
          <p:cNvSpPr>
            <a:spLocks noGrp="1"/>
          </p:cNvSpPr>
          <p:nvPr/>
        </p:nvSpPr>
        <p:spPr>
          <a:xfrm>
            <a:off x="548640" y="804672"/>
            <a:ext cx="11094466" cy="1005840"/>
          </a:xfrm>
          <a:prstGeom prst="rect">
            <a:avLst/>
          </a:prstGeom>
          <a:noFill/>
        </p:spPr>
        <p:txBody>
          <a:bodyPr wrap="square" lIns="0" tIns="0" rIns="0" bIns="0" anchor="t">
            <a:normAutofit/>
          </a:bodyPr>
          <a:lstStyle/>
          <a:p>
            <a:pPr marL="0" indent="0">
              <a:lnSpc>
                <a:spcPts val="3080"/>
              </a:lnSpc>
              <a:buNone/>
            </a:pPr>
            <a:r>
              <a:rPr lang="en-US" sz="2400" b="1">
                <a:solidFill>
                  <a:srgbClr val="0B1B2E"/>
                </a:solidFill>
                <a:latin typeface="Georgia"/>
                <a:ea typeface="Georgia"/>
                <a:cs typeface="Georgia"/>
              </a:rPr>
              <a:t>Contract intelligence is a strategic operating asset—not simply document search</a:t>
            </a:r>
            <a:endParaRPr sz="2400" b="1" dirty="0">
              <a:solidFill>
                <a:srgbClr val="0B1B2E"/>
              </a:solidFill>
              <a:latin typeface="Georgia"/>
              <a:ea typeface="Georgia"/>
              <a:cs typeface="Georgia"/>
            </a:endParaRPr>
          </a:p>
        </p:txBody>
      </p:sp>
      <p:sp>
        <p:nvSpPr>
          <p:cNvPr id="4" name="Shape 2">
            <a:extLst>
              <a:ext uri="{FF2B5EF4-FFF2-40B4-BE49-F238E27FC236}">
                <a16:creationId xmlns:a16="http://schemas.microsoft.com/office/drawing/2014/main" id="{D039E9E1-BC0E-4804-B9D7-5E40A97AE4E5}"/>
              </a:ext>
            </a:extLst>
          </p:cNvPr>
          <p:cNvSpPr>
            <a:spLocks noGrp="1"/>
          </p:cNvSpPr>
          <p:nvPr/>
        </p:nvSpPr>
        <p:spPr>
          <a:xfrm>
            <a:off x="548640" y="1920240"/>
            <a:ext cx="6583680" cy="1115568"/>
          </a:xfrm>
          <a:prstGeom prst="rect">
            <a:avLst/>
          </a:prstGeom>
          <a:solidFill>
            <a:srgbClr val="F8FAFC"/>
          </a:solidFill>
          <a:effectLst>
            <a:outerShdw blurRad="101600" dist="25400" dir="8100000" algn="bl" rotWithShape="0">
              <a:srgbClr val="1E293B">
                <a:alpha val="11000"/>
              </a:srgbClr>
            </a:outerShdw>
          </a:effectLst>
        </p:spPr>
        <p:txBody>
          <a:bodyPr/>
          <a:lstStyle/>
          <a:p>
            <a:endParaRPr/>
          </a:p>
        </p:txBody>
      </p:sp>
      <p:sp>
        <p:nvSpPr>
          <p:cNvPr id="5" name="Shape 3">
            <a:extLst>
              <a:ext uri="{FF2B5EF4-FFF2-40B4-BE49-F238E27FC236}">
                <a16:creationId xmlns:a16="http://schemas.microsoft.com/office/drawing/2014/main" id="{50C9673D-B52B-4F24-85FF-9704D06FE4AC}"/>
              </a:ext>
            </a:extLst>
          </p:cNvPr>
          <p:cNvSpPr>
            <a:spLocks noGrp="1"/>
          </p:cNvSpPr>
          <p:nvPr/>
        </p:nvSpPr>
        <p:spPr>
          <a:xfrm>
            <a:off x="548640" y="1920240"/>
            <a:ext cx="82296" cy="1115568"/>
          </a:xfrm>
          <a:prstGeom prst="rect">
            <a:avLst/>
          </a:prstGeom>
          <a:solidFill>
            <a:srgbClr val="F26A4B"/>
          </a:solidFill>
        </p:spPr>
        <p:txBody>
          <a:bodyPr/>
          <a:lstStyle/>
          <a:p>
            <a:endParaRPr/>
          </a:p>
        </p:txBody>
      </p:sp>
      <p:sp>
        <p:nvSpPr>
          <p:cNvPr id="6" name="Text 4">
            <a:extLst>
              <a:ext uri="{FF2B5EF4-FFF2-40B4-BE49-F238E27FC236}">
                <a16:creationId xmlns:a16="http://schemas.microsoft.com/office/drawing/2014/main" id="{DACD36C3-01A1-4126-AB36-F0D0610A4081}"/>
              </a:ext>
            </a:extLst>
          </p:cNvPr>
          <p:cNvSpPr>
            <a:spLocks noGrp="1"/>
          </p:cNvSpPr>
          <p:nvPr/>
        </p:nvSpPr>
        <p:spPr>
          <a:xfrm>
            <a:off x="804672" y="2066544"/>
            <a:ext cx="6126480" cy="347472"/>
          </a:xfrm>
          <a:prstGeom prst="rect">
            <a:avLst/>
          </a:prstGeom>
          <a:noFill/>
        </p:spPr>
        <p:txBody>
          <a:bodyPr wrap="square" lIns="0" tIns="0" rIns="0" bIns="0" anchor="ctr"/>
          <a:lstStyle/>
          <a:p>
            <a:pPr marL="0" indent="0">
              <a:buNone/>
            </a:pPr>
            <a:r>
              <a:rPr sz="1400" b="1">
                <a:solidFill>
                  <a:srgbClr val="0B1B2E"/>
                </a:solidFill>
                <a:latin typeface="Calibri"/>
                <a:ea typeface="Calibri"/>
                <a:cs typeface="Calibri"/>
              </a:rPr>
              <a:t>Unlock governed intelligence</a:t>
            </a:r>
          </a:p>
        </p:txBody>
      </p:sp>
      <p:sp>
        <p:nvSpPr>
          <p:cNvPr id="7" name="Text 5">
            <a:extLst>
              <a:ext uri="{FF2B5EF4-FFF2-40B4-BE49-F238E27FC236}">
                <a16:creationId xmlns:a16="http://schemas.microsoft.com/office/drawing/2014/main" id="{0C1C5A81-E33E-4587-B1B3-E580AA40B1F3}"/>
              </a:ext>
            </a:extLst>
          </p:cNvPr>
          <p:cNvSpPr>
            <a:spLocks noGrp="1"/>
          </p:cNvSpPr>
          <p:nvPr/>
        </p:nvSpPr>
        <p:spPr>
          <a:xfrm>
            <a:off x="804672" y="2432304"/>
            <a:ext cx="6126480" cy="530352"/>
          </a:xfrm>
          <a:prstGeom prst="rect">
            <a:avLst/>
          </a:prstGeom>
          <a:noFill/>
        </p:spPr>
        <p:txBody>
          <a:bodyPr wrap="square" lIns="0" tIns="0" rIns="0" bIns="0" anchor="t"/>
          <a:lstStyle/>
          <a:p>
            <a:pPr marL="0" indent="0">
              <a:lnSpc>
                <a:spcPts val="1550"/>
              </a:lnSpc>
              <a:buNone/>
            </a:pPr>
            <a:r>
              <a:rPr sz="1150">
                <a:solidFill>
                  <a:srgbClr val="33415A"/>
                </a:solidFill>
                <a:latin typeface="Calibri"/>
                <a:ea typeface="Calibri"/>
                <a:cs typeface="Calibri"/>
              </a:rPr>
              <a:t>Transform complex agreements into reusable, structured data with traceable provenance.</a:t>
            </a:r>
          </a:p>
        </p:txBody>
      </p:sp>
      <p:sp>
        <p:nvSpPr>
          <p:cNvPr id="8" name="Shape 6">
            <a:extLst>
              <a:ext uri="{FF2B5EF4-FFF2-40B4-BE49-F238E27FC236}">
                <a16:creationId xmlns:a16="http://schemas.microsoft.com/office/drawing/2014/main" id="{4E22C1A1-A341-4E96-AFBD-FB3CCF91669B}"/>
              </a:ext>
            </a:extLst>
          </p:cNvPr>
          <p:cNvSpPr>
            <a:spLocks noGrp="1"/>
          </p:cNvSpPr>
          <p:nvPr/>
        </p:nvSpPr>
        <p:spPr>
          <a:xfrm>
            <a:off x="548640" y="3182112"/>
            <a:ext cx="6583680" cy="1115568"/>
          </a:xfrm>
          <a:prstGeom prst="rect">
            <a:avLst/>
          </a:prstGeom>
          <a:solidFill>
            <a:srgbClr val="F8FAFC"/>
          </a:solidFill>
          <a:effectLst>
            <a:outerShdw blurRad="101600" dist="25400" dir="8100000" algn="bl" rotWithShape="0">
              <a:srgbClr val="1E293B">
                <a:alpha val="11000"/>
              </a:srgbClr>
            </a:outerShdw>
          </a:effectLst>
        </p:spPr>
        <p:txBody>
          <a:bodyPr/>
          <a:lstStyle/>
          <a:p>
            <a:endParaRPr/>
          </a:p>
        </p:txBody>
      </p:sp>
      <p:sp>
        <p:nvSpPr>
          <p:cNvPr id="9" name="Shape 7">
            <a:extLst>
              <a:ext uri="{FF2B5EF4-FFF2-40B4-BE49-F238E27FC236}">
                <a16:creationId xmlns:a16="http://schemas.microsoft.com/office/drawing/2014/main" id="{301F7E9F-92DA-4C68-9C1B-1ACF5CA0DF67}"/>
              </a:ext>
            </a:extLst>
          </p:cNvPr>
          <p:cNvSpPr>
            <a:spLocks noGrp="1"/>
          </p:cNvSpPr>
          <p:nvPr/>
        </p:nvSpPr>
        <p:spPr>
          <a:xfrm>
            <a:off x="548640" y="3182112"/>
            <a:ext cx="82296" cy="1115568"/>
          </a:xfrm>
          <a:prstGeom prst="rect">
            <a:avLst/>
          </a:prstGeom>
          <a:solidFill>
            <a:srgbClr val="F26A4B"/>
          </a:solidFill>
        </p:spPr>
        <p:txBody>
          <a:bodyPr/>
          <a:lstStyle/>
          <a:p>
            <a:endParaRPr/>
          </a:p>
        </p:txBody>
      </p:sp>
      <p:sp>
        <p:nvSpPr>
          <p:cNvPr id="10" name="Text 8">
            <a:extLst>
              <a:ext uri="{FF2B5EF4-FFF2-40B4-BE49-F238E27FC236}">
                <a16:creationId xmlns:a16="http://schemas.microsoft.com/office/drawing/2014/main" id="{12E055B3-C6F4-44DF-AFDB-F5ABC94C3E70}"/>
              </a:ext>
            </a:extLst>
          </p:cNvPr>
          <p:cNvSpPr>
            <a:spLocks noGrp="1"/>
          </p:cNvSpPr>
          <p:nvPr/>
        </p:nvSpPr>
        <p:spPr>
          <a:xfrm>
            <a:off x="804672" y="3328416"/>
            <a:ext cx="6126480" cy="347472"/>
          </a:xfrm>
          <a:prstGeom prst="rect">
            <a:avLst/>
          </a:prstGeom>
          <a:noFill/>
        </p:spPr>
        <p:txBody>
          <a:bodyPr wrap="square" lIns="0" tIns="0" rIns="0" bIns="0" anchor="ctr"/>
          <a:lstStyle/>
          <a:p>
            <a:pPr marL="0" indent="0">
              <a:buNone/>
            </a:pPr>
            <a:r>
              <a:rPr sz="1400" b="1">
                <a:solidFill>
                  <a:srgbClr val="0B1B2E"/>
                </a:solidFill>
                <a:latin typeface="Calibri"/>
                <a:ea typeface="Calibri"/>
                <a:cs typeface="Calibri"/>
              </a:rPr>
              <a:t>Make decisions defensible</a:t>
            </a:r>
          </a:p>
        </p:txBody>
      </p:sp>
      <p:sp>
        <p:nvSpPr>
          <p:cNvPr id="11" name="Text 9">
            <a:extLst>
              <a:ext uri="{FF2B5EF4-FFF2-40B4-BE49-F238E27FC236}">
                <a16:creationId xmlns:a16="http://schemas.microsoft.com/office/drawing/2014/main" id="{AEC77D83-77DD-48BD-8DFA-5926EFC15244}"/>
              </a:ext>
            </a:extLst>
          </p:cNvPr>
          <p:cNvSpPr>
            <a:spLocks noGrp="1"/>
          </p:cNvSpPr>
          <p:nvPr/>
        </p:nvSpPr>
        <p:spPr>
          <a:xfrm>
            <a:off x="804672" y="3694176"/>
            <a:ext cx="6126480" cy="530352"/>
          </a:xfrm>
          <a:prstGeom prst="rect">
            <a:avLst/>
          </a:prstGeom>
          <a:noFill/>
        </p:spPr>
        <p:txBody>
          <a:bodyPr wrap="square" lIns="0" tIns="0" rIns="0" bIns="0" anchor="t"/>
          <a:lstStyle/>
          <a:p>
            <a:pPr marL="0" indent="0">
              <a:lnSpc>
                <a:spcPts val="1550"/>
              </a:lnSpc>
              <a:buNone/>
            </a:pPr>
            <a:r>
              <a:rPr sz="1150">
                <a:solidFill>
                  <a:srgbClr val="33415A"/>
                </a:solidFill>
                <a:latin typeface="Calibri"/>
                <a:ea typeface="Calibri"/>
                <a:cs typeface="Calibri"/>
              </a:rPr>
              <a:t>Give teams evidence-linked answers, not isolated document interpretations.</a:t>
            </a:r>
          </a:p>
        </p:txBody>
      </p:sp>
      <p:sp>
        <p:nvSpPr>
          <p:cNvPr id="12" name="Shape 10">
            <a:extLst>
              <a:ext uri="{FF2B5EF4-FFF2-40B4-BE49-F238E27FC236}">
                <a16:creationId xmlns:a16="http://schemas.microsoft.com/office/drawing/2014/main" id="{3C11F3B7-A12E-442B-86D5-3710FEB4871D}"/>
              </a:ext>
            </a:extLst>
          </p:cNvPr>
          <p:cNvSpPr>
            <a:spLocks noGrp="1"/>
          </p:cNvSpPr>
          <p:nvPr/>
        </p:nvSpPr>
        <p:spPr>
          <a:xfrm>
            <a:off x="548640" y="4443984"/>
            <a:ext cx="6583680" cy="1115568"/>
          </a:xfrm>
          <a:prstGeom prst="rect">
            <a:avLst/>
          </a:prstGeom>
          <a:solidFill>
            <a:srgbClr val="F8FAFC"/>
          </a:solidFill>
          <a:effectLst>
            <a:outerShdw blurRad="101600" dist="25400" dir="8100000" algn="bl" rotWithShape="0">
              <a:srgbClr val="1E293B">
                <a:alpha val="11000"/>
              </a:srgbClr>
            </a:outerShdw>
          </a:effectLst>
        </p:spPr>
        <p:txBody>
          <a:bodyPr/>
          <a:lstStyle/>
          <a:p>
            <a:endParaRPr/>
          </a:p>
        </p:txBody>
      </p:sp>
      <p:sp>
        <p:nvSpPr>
          <p:cNvPr id="13" name="Shape 11">
            <a:extLst>
              <a:ext uri="{FF2B5EF4-FFF2-40B4-BE49-F238E27FC236}">
                <a16:creationId xmlns:a16="http://schemas.microsoft.com/office/drawing/2014/main" id="{3B6C86F9-7EBE-4CD7-B0CD-2ADFC4AA7525}"/>
              </a:ext>
            </a:extLst>
          </p:cNvPr>
          <p:cNvSpPr>
            <a:spLocks noGrp="1"/>
          </p:cNvSpPr>
          <p:nvPr/>
        </p:nvSpPr>
        <p:spPr>
          <a:xfrm>
            <a:off x="548640" y="4443984"/>
            <a:ext cx="82296" cy="1115568"/>
          </a:xfrm>
          <a:prstGeom prst="rect">
            <a:avLst/>
          </a:prstGeom>
          <a:solidFill>
            <a:srgbClr val="F26A4B"/>
          </a:solidFill>
        </p:spPr>
        <p:txBody>
          <a:bodyPr/>
          <a:lstStyle/>
          <a:p>
            <a:endParaRPr/>
          </a:p>
        </p:txBody>
      </p:sp>
      <p:sp>
        <p:nvSpPr>
          <p:cNvPr id="14" name="Text 12">
            <a:extLst>
              <a:ext uri="{FF2B5EF4-FFF2-40B4-BE49-F238E27FC236}">
                <a16:creationId xmlns:a16="http://schemas.microsoft.com/office/drawing/2014/main" id="{BACB4BB3-7F4E-4AA4-B936-A52DDEEEA4B3}"/>
              </a:ext>
            </a:extLst>
          </p:cNvPr>
          <p:cNvSpPr>
            <a:spLocks noGrp="1"/>
          </p:cNvSpPr>
          <p:nvPr/>
        </p:nvSpPr>
        <p:spPr>
          <a:xfrm>
            <a:off x="804672" y="4590288"/>
            <a:ext cx="6126480" cy="347472"/>
          </a:xfrm>
          <a:prstGeom prst="rect">
            <a:avLst/>
          </a:prstGeom>
          <a:noFill/>
        </p:spPr>
        <p:txBody>
          <a:bodyPr wrap="square" lIns="0" tIns="0" rIns="0" bIns="0" anchor="ctr"/>
          <a:lstStyle/>
          <a:p>
            <a:pPr marL="0" indent="0">
              <a:buNone/>
            </a:pPr>
            <a:r>
              <a:rPr sz="1400" b="1">
                <a:solidFill>
                  <a:srgbClr val="0B1B2E"/>
                </a:solidFill>
                <a:latin typeface="Calibri"/>
                <a:ea typeface="Calibri"/>
                <a:cs typeface="Calibri"/>
              </a:rPr>
              <a:t>Scale the capability</a:t>
            </a:r>
          </a:p>
        </p:txBody>
      </p:sp>
      <p:sp>
        <p:nvSpPr>
          <p:cNvPr id="15" name="Text 13">
            <a:extLst>
              <a:ext uri="{FF2B5EF4-FFF2-40B4-BE49-F238E27FC236}">
                <a16:creationId xmlns:a16="http://schemas.microsoft.com/office/drawing/2014/main" id="{436DF663-1783-4B2A-8EE4-E1E592339300}"/>
              </a:ext>
            </a:extLst>
          </p:cNvPr>
          <p:cNvSpPr>
            <a:spLocks noGrp="1"/>
          </p:cNvSpPr>
          <p:nvPr/>
        </p:nvSpPr>
        <p:spPr>
          <a:xfrm>
            <a:off x="804672" y="4956048"/>
            <a:ext cx="6126480" cy="530352"/>
          </a:xfrm>
          <a:prstGeom prst="rect">
            <a:avLst/>
          </a:prstGeom>
          <a:noFill/>
        </p:spPr>
        <p:txBody>
          <a:bodyPr wrap="square" lIns="0" tIns="0" rIns="0" bIns="0" anchor="t"/>
          <a:lstStyle/>
          <a:p>
            <a:pPr marL="0" indent="0">
              <a:lnSpc>
                <a:spcPts val="1550"/>
              </a:lnSpc>
              <a:buNone/>
            </a:pPr>
            <a:r>
              <a:rPr sz="1150">
                <a:solidFill>
                  <a:srgbClr val="33415A"/>
                </a:solidFill>
                <a:latin typeface="Calibri"/>
                <a:ea typeface="Calibri"/>
                <a:cs typeface="Calibri"/>
              </a:rPr>
              <a:t>Reuse the same governed pipeline for new contracts, entities and future Blue plans.</a:t>
            </a:r>
          </a:p>
        </p:txBody>
      </p:sp>
      <p:sp>
        <p:nvSpPr>
          <p:cNvPr id="16" name="Text 14">
            <a:extLst>
              <a:ext uri="{FF2B5EF4-FFF2-40B4-BE49-F238E27FC236}">
                <a16:creationId xmlns:a16="http://schemas.microsoft.com/office/drawing/2014/main" id="{087CC818-7D80-41CB-B9C9-F45D09C3F28A}"/>
              </a:ext>
            </a:extLst>
          </p:cNvPr>
          <p:cNvSpPr>
            <a:spLocks noGrp="1"/>
          </p:cNvSpPr>
          <p:nvPr/>
        </p:nvSpPr>
        <p:spPr>
          <a:xfrm>
            <a:off x="548640" y="5715000"/>
            <a:ext cx="6583680" cy="502920"/>
          </a:xfrm>
          <a:prstGeom prst="rect">
            <a:avLst/>
          </a:prstGeom>
          <a:noFill/>
        </p:spPr>
        <p:txBody>
          <a:bodyPr wrap="square" lIns="0" tIns="0" rIns="0" bIns="0" anchor="ctr"/>
          <a:lstStyle/>
          <a:p>
            <a:pPr marL="0" indent="0">
              <a:lnSpc>
                <a:spcPts val="1800"/>
              </a:lnSpc>
              <a:buNone/>
            </a:pPr>
            <a:r>
              <a:rPr lang="en-US" sz="1400" i="1">
                <a:solidFill>
                  <a:srgbClr val="0F766E"/>
                </a:solidFill>
                <a:latin typeface="Calibri"/>
                <a:ea typeface="Calibri"/>
                <a:cs typeface="Calibri"/>
              </a:rPr>
              <a:t>The opportunity is to convert a difficult-to-use contract estate into a governed enterprise decision capability.</a:t>
            </a:r>
            <a:endParaRPr sz="1400" i="1">
              <a:solidFill>
                <a:srgbClr val="0F766E"/>
              </a:solidFill>
              <a:latin typeface="Calibri"/>
              <a:ea typeface="Calibri"/>
              <a:cs typeface="Calibri"/>
            </a:endParaRPr>
          </a:p>
        </p:txBody>
      </p:sp>
      <p:sp>
        <p:nvSpPr>
          <p:cNvPr id="17" name="Shape 15">
            <a:extLst>
              <a:ext uri="{FF2B5EF4-FFF2-40B4-BE49-F238E27FC236}">
                <a16:creationId xmlns:a16="http://schemas.microsoft.com/office/drawing/2014/main" id="{DFB39101-6836-4CE3-9B75-69434C8A7E10}"/>
              </a:ext>
            </a:extLst>
          </p:cNvPr>
          <p:cNvSpPr>
            <a:spLocks noGrp="1"/>
          </p:cNvSpPr>
          <p:nvPr/>
        </p:nvSpPr>
        <p:spPr>
          <a:xfrm>
            <a:off x="7543800" y="1920240"/>
            <a:ext cx="4099255" cy="3703320"/>
          </a:xfrm>
          <a:prstGeom prst="rect">
            <a:avLst/>
          </a:prstGeom>
          <a:solidFill>
            <a:srgbClr val="0B1B2E"/>
          </a:solidFill>
          <a:effectLst>
            <a:outerShdw blurRad="177800" dist="50800" dir="8100000" algn="bl" rotWithShape="0">
              <a:srgbClr val="000000">
                <a:alpha val="22000"/>
              </a:srgbClr>
            </a:outerShdw>
          </a:effectLst>
        </p:spPr>
        <p:txBody>
          <a:bodyPr/>
          <a:lstStyle/>
          <a:p>
            <a:endParaRPr/>
          </a:p>
        </p:txBody>
      </p:sp>
      <p:sp>
        <p:nvSpPr>
          <p:cNvPr id="18" name="Shape 16">
            <a:extLst>
              <a:ext uri="{FF2B5EF4-FFF2-40B4-BE49-F238E27FC236}">
                <a16:creationId xmlns:a16="http://schemas.microsoft.com/office/drawing/2014/main" id="{4368697C-D36B-44E8-8213-4A0760350F7B}"/>
              </a:ext>
            </a:extLst>
          </p:cNvPr>
          <p:cNvSpPr>
            <a:spLocks noGrp="1"/>
          </p:cNvSpPr>
          <p:nvPr/>
        </p:nvSpPr>
        <p:spPr>
          <a:xfrm>
            <a:off x="7543800" y="1920240"/>
            <a:ext cx="4099255" cy="73152"/>
          </a:xfrm>
          <a:prstGeom prst="rect">
            <a:avLst/>
          </a:prstGeom>
          <a:solidFill>
            <a:srgbClr val="F26A4B"/>
          </a:solidFill>
        </p:spPr>
        <p:txBody>
          <a:bodyPr/>
          <a:lstStyle/>
          <a:p>
            <a:endParaRPr/>
          </a:p>
        </p:txBody>
      </p:sp>
      <p:sp>
        <p:nvSpPr>
          <p:cNvPr id="19" name="Text 17">
            <a:extLst>
              <a:ext uri="{FF2B5EF4-FFF2-40B4-BE49-F238E27FC236}">
                <a16:creationId xmlns:a16="http://schemas.microsoft.com/office/drawing/2014/main" id="{8C302DBD-345A-42E3-B943-BC21D9D54565}"/>
              </a:ext>
            </a:extLst>
          </p:cNvPr>
          <p:cNvSpPr>
            <a:spLocks noGrp="1"/>
          </p:cNvSpPr>
          <p:nvPr/>
        </p:nvSpPr>
        <p:spPr>
          <a:xfrm>
            <a:off x="7799832" y="2171700"/>
            <a:ext cx="3733495" cy="457200"/>
          </a:xfrm>
          <a:prstGeom prst="rect">
            <a:avLst/>
          </a:prstGeom>
          <a:noFill/>
        </p:spPr>
        <p:txBody>
          <a:bodyPr wrap="square" lIns="0" tIns="0" rIns="0" bIns="0" anchor="ctr"/>
          <a:lstStyle/>
          <a:p>
            <a:pPr marL="0" indent="0">
              <a:lnSpc>
                <a:spcPts val="1500"/>
              </a:lnSpc>
              <a:buNone/>
            </a:pPr>
            <a:r>
              <a:rPr lang="en-IN" sz="1200" b="1">
                <a:solidFill>
                  <a:srgbClr val="F26A4B"/>
                </a:solidFill>
                <a:latin typeface="Calibri"/>
                <a:ea typeface="Calibri"/>
                <a:cs typeface="Calibri"/>
              </a:rPr>
              <a:t>WHY INVEST NOW</a:t>
            </a:r>
            <a:endParaRPr lang="en-IN" sz="1200" b="1" dirty="0">
              <a:solidFill>
                <a:srgbClr val="F26A4B"/>
              </a:solidFill>
              <a:latin typeface="Calibri"/>
              <a:ea typeface="Calibri"/>
              <a:cs typeface="Calibri"/>
            </a:endParaRPr>
          </a:p>
        </p:txBody>
      </p:sp>
      <p:sp>
        <p:nvSpPr>
          <p:cNvPr id="20" name="Shape 18">
            <a:extLst>
              <a:ext uri="{FF2B5EF4-FFF2-40B4-BE49-F238E27FC236}">
                <a16:creationId xmlns:a16="http://schemas.microsoft.com/office/drawing/2014/main" id="{049B8983-1D6E-43CE-BF01-AFFFD72C8701}"/>
              </a:ext>
            </a:extLst>
          </p:cNvPr>
          <p:cNvSpPr>
            <a:spLocks noGrp="1"/>
          </p:cNvSpPr>
          <p:nvPr/>
        </p:nvSpPr>
        <p:spPr>
          <a:xfrm>
            <a:off x="7799832" y="2980944"/>
            <a:ext cx="128016" cy="128016"/>
          </a:xfrm>
          <a:prstGeom prst="ellipse">
            <a:avLst/>
          </a:prstGeom>
          <a:solidFill>
            <a:srgbClr val="14B8A6"/>
          </a:solidFill>
        </p:spPr>
        <p:txBody>
          <a:bodyPr/>
          <a:lstStyle/>
          <a:p>
            <a:endParaRPr/>
          </a:p>
        </p:txBody>
      </p:sp>
      <p:sp>
        <p:nvSpPr>
          <p:cNvPr id="21" name="Text 19">
            <a:extLst>
              <a:ext uri="{FF2B5EF4-FFF2-40B4-BE49-F238E27FC236}">
                <a16:creationId xmlns:a16="http://schemas.microsoft.com/office/drawing/2014/main" id="{1428C4B0-B37D-4397-8336-1A1E36A9A416}"/>
              </a:ext>
            </a:extLst>
          </p:cNvPr>
          <p:cNvSpPr>
            <a:spLocks noGrp="1"/>
          </p:cNvSpPr>
          <p:nvPr/>
        </p:nvSpPr>
        <p:spPr>
          <a:xfrm>
            <a:off x="8037576" y="2889504"/>
            <a:ext cx="3459175" cy="502920"/>
          </a:xfrm>
          <a:prstGeom prst="rect">
            <a:avLst/>
          </a:prstGeom>
          <a:noFill/>
        </p:spPr>
        <p:txBody>
          <a:bodyPr wrap="square" lIns="0" tIns="0" rIns="0" bIns="0" anchor="t"/>
          <a:lstStyle/>
          <a:p>
            <a:pPr marL="0" indent="0">
              <a:lnSpc>
                <a:spcPts val="1400"/>
              </a:lnSpc>
              <a:buNone/>
            </a:pPr>
            <a:r>
              <a:rPr lang="en-US" sz="1100">
                <a:solidFill>
                  <a:srgbClr val="FFFFFF"/>
                </a:solidFill>
                <a:latin typeface="Calibri"/>
                <a:ea typeface="Calibri"/>
                <a:cs typeface="Calibri"/>
              </a:rPr>
              <a:t>A documented foundation already exists</a:t>
            </a:r>
            <a:endParaRPr sz="1100">
              <a:solidFill>
                <a:srgbClr val="FFFFFF"/>
              </a:solidFill>
              <a:latin typeface="Calibri"/>
              <a:ea typeface="Calibri"/>
              <a:cs typeface="Calibri"/>
            </a:endParaRPr>
          </a:p>
        </p:txBody>
      </p:sp>
      <p:sp>
        <p:nvSpPr>
          <p:cNvPr id="22" name="Shape 20">
            <a:extLst>
              <a:ext uri="{FF2B5EF4-FFF2-40B4-BE49-F238E27FC236}">
                <a16:creationId xmlns:a16="http://schemas.microsoft.com/office/drawing/2014/main" id="{4F263A6C-56D2-4CF8-9446-BF8977B4012D}"/>
              </a:ext>
            </a:extLst>
          </p:cNvPr>
          <p:cNvSpPr>
            <a:spLocks noGrp="1"/>
          </p:cNvSpPr>
          <p:nvPr/>
        </p:nvSpPr>
        <p:spPr>
          <a:xfrm>
            <a:off x="7799832" y="3575304"/>
            <a:ext cx="128016" cy="128016"/>
          </a:xfrm>
          <a:prstGeom prst="ellipse">
            <a:avLst/>
          </a:prstGeom>
          <a:solidFill>
            <a:srgbClr val="14B8A6"/>
          </a:solidFill>
        </p:spPr>
        <p:txBody>
          <a:bodyPr/>
          <a:lstStyle/>
          <a:p>
            <a:endParaRPr/>
          </a:p>
        </p:txBody>
      </p:sp>
      <p:sp>
        <p:nvSpPr>
          <p:cNvPr id="23" name="Text 21">
            <a:extLst>
              <a:ext uri="{FF2B5EF4-FFF2-40B4-BE49-F238E27FC236}">
                <a16:creationId xmlns:a16="http://schemas.microsoft.com/office/drawing/2014/main" id="{1023C0EA-5860-49CC-BA34-0B034F34D6A9}"/>
              </a:ext>
            </a:extLst>
          </p:cNvPr>
          <p:cNvSpPr>
            <a:spLocks noGrp="1"/>
          </p:cNvSpPr>
          <p:nvPr/>
        </p:nvSpPr>
        <p:spPr>
          <a:xfrm>
            <a:off x="8037576" y="3483864"/>
            <a:ext cx="3459175" cy="502920"/>
          </a:xfrm>
          <a:prstGeom prst="rect">
            <a:avLst/>
          </a:prstGeom>
          <a:noFill/>
        </p:spPr>
        <p:txBody>
          <a:bodyPr wrap="square" lIns="0" tIns="0" rIns="0" bIns="0" anchor="t"/>
          <a:lstStyle/>
          <a:p>
            <a:pPr marL="0" indent="0">
              <a:lnSpc>
                <a:spcPts val="1400"/>
              </a:lnSpc>
              <a:buNone/>
            </a:pPr>
            <a:r>
              <a:rPr lang="en-US" sz="1100">
                <a:solidFill>
                  <a:srgbClr val="FFFFFF"/>
                </a:solidFill>
                <a:latin typeface="Calibri"/>
                <a:ea typeface="Calibri"/>
                <a:cs typeface="Calibri"/>
              </a:rPr>
              <a:t>Priority business use cases are identifiable</a:t>
            </a:r>
            <a:endParaRPr sz="1100">
              <a:solidFill>
                <a:srgbClr val="FFFFFF"/>
              </a:solidFill>
              <a:latin typeface="Calibri"/>
              <a:ea typeface="Calibri"/>
              <a:cs typeface="Calibri"/>
            </a:endParaRPr>
          </a:p>
        </p:txBody>
      </p:sp>
      <p:sp>
        <p:nvSpPr>
          <p:cNvPr id="24" name="Shape 22">
            <a:extLst>
              <a:ext uri="{FF2B5EF4-FFF2-40B4-BE49-F238E27FC236}">
                <a16:creationId xmlns:a16="http://schemas.microsoft.com/office/drawing/2014/main" id="{C22D490A-7F89-4739-9052-08095066B300}"/>
              </a:ext>
            </a:extLst>
          </p:cNvPr>
          <p:cNvSpPr>
            <a:spLocks noGrp="1"/>
          </p:cNvSpPr>
          <p:nvPr/>
        </p:nvSpPr>
        <p:spPr>
          <a:xfrm>
            <a:off x="7799832" y="4169664"/>
            <a:ext cx="128016" cy="128016"/>
          </a:xfrm>
          <a:prstGeom prst="ellipse">
            <a:avLst/>
          </a:prstGeom>
          <a:solidFill>
            <a:srgbClr val="14B8A6"/>
          </a:solidFill>
        </p:spPr>
        <p:txBody>
          <a:bodyPr/>
          <a:lstStyle/>
          <a:p>
            <a:endParaRPr/>
          </a:p>
        </p:txBody>
      </p:sp>
      <p:sp>
        <p:nvSpPr>
          <p:cNvPr id="25" name="Text 23">
            <a:extLst>
              <a:ext uri="{FF2B5EF4-FFF2-40B4-BE49-F238E27FC236}">
                <a16:creationId xmlns:a16="http://schemas.microsoft.com/office/drawing/2014/main" id="{EECACFF3-3293-424D-9C59-BDA95DC5AD25}"/>
              </a:ext>
            </a:extLst>
          </p:cNvPr>
          <p:cNvSpPr>
            <a:spLocks noGrp="1"/>
          </p:cNvSpPr>
          <p:nvPr/>
        </p:nvSpPr>
        <p:spPr>
          <a:xfrm>
            <a:off x="8037576" y="4078224"/>
            <a:ext cx="3459175" cy="502920"/>
          </a:xfrm>
          <a:prstGeom prst="rect">
            <a:avLst/>
          </a:prstGeom>
          <a:noFill/>
        </p:spPr>
        <p:txBody>
          <a:bodyPr wrap="square" lIns="0" tIns="0" rIns="0" bIns="0" anchor="t"/>
          <a:lstStyle/>
          <a:p>
            <a:pPr marL="0" indent="0">
              <a:lnSpc>
                <a:spcPts val="1400"/>
              </a:lnSpc>
              <a:buNone/>
            </a:pPr>
            <a:r>
              <a:rPr lang="en-US" sz="1100">
                <a:solidFill>
                  <a:srgbClr val="FFFFFF"/>
                </a:solidFill>
                <a:latin typeface="Calibri"/>
                <a:ea typeface="Calibri"/>
                <a:cs typeface="Calibri"/>
              </a:rPr>
              <a:t>Remaining effort is completion and hardening—not a restart</a:t>
            </a:r>
            <a:endParaRPr sz="1100">
              <a:solidFill>
                <a:srgbClr val="FFFFFF"/>
              </a:solidFill>
              <a:latin typeface="Calibri"/>
              <a:ea typeface="Calibri"/>
              <a:cs typeface="Calibri"/>
            </a:endParaRPr>
          </a:p>
        </p:txBody>
      </p:sp>
      <p:sp>
        <p:nvSpPr>
          <p:cNvPr id="26" name="Shape 24">
            <a:extLst>
              <a:ext uri="{FF2B5EF4-FFF2-40B4-BE49-F238E27FC236}">
                <a16:creationId xmlns:a16="http://schemas.microsoft.com/office/drawing/2014/main" id="{B99BCA0A-CE7E-44CA-BF32-8467552F63F4}"/>
              </a:ext>
            </a:extLst>
          </p:cNvPr>
          <p:cNvSpPr>
            <a:spLocks noGrp="1"/>
          </p:cNvSpPr>
          <p:nvPr/>
        </p:nvSpPr>
        <p:spPr>
          <a:xfrm>
            <a:off x="7799832" y="4764024"/>
            <a:ext cx="128016" cy="128016"/>
          </a:xfrm>
          <a:prstGeom prst="ellipse">
            <a:avLst/>
          </a:prstGeom>
          <a:solidFill>
            <a:srgbClr val="14B8A6"/>
          </a:solidFill>
        </p:spPr>
        <p:txBody>
          <a:bodyPr/>
          <a:lstStyle/>
          <a:p>
            <a:endParaRPr/>
          </a:p>
        </p:txBody>
      </p:sp>
      <p:sp>
        <p:nvSpPr>
          <p:cNvPr id="27" name="Text 25">
            <a:extLst>
              <a:ext uri="{FF2B5EF4-FFF2-40B4-BE49-F238E27FC236}">
                <a16:creationId xmlns:a16="http://schemas.microsoft.com/office/drawing/2014/main" id="{660C4378-6B2E-487A-9FBA-B8E62187B582}"/>
              </a:ext>
            </a:extLst>
          </p:cNvPr>
          <p:cNvSpPr>
            <a:spLocks noGrp="1"/>
          </p:cNvSpPr>
          <p:nvPr/>
        </p:nvSpPr>
        <p:spPr>
          <a:xfrm>
            <a:off x="8037576" y="4672584"/>
            <a:ext cx="3459175" cy="502920"/>
          </a:xfrm>
          <a:prstGeom prst="rect">
            <a:avLst/>
          </a:prstGeom>
          <a:noFill/>
        </p:spPr>
        <p:txBody>
          <a:bodyPr wrap="square" lIns="0" tIns="0" rIns="0" bIns="0" anchor="t"/>
          <a:lstStyle/>
          <a:p>
            <a:pPr marL="0" indent="0">
              <a:lnSpc>
                <a:spcPts val="1400"/>
              </a:lnSpc>
              <a:buNone/>
            </a:pPr>
            <a:r>
              <a:rPr lang="en-US" sz="1100">
                <a:solidFill>
                  <a:srgbClr val="FFFFFF"/>
                </a:solidFill>
                <a:latin typeface="Calibri"/>
                <a:ea typeface="Calibri"/>
                <a:cs typeface="Calibri"/>
              </a:rPr>
              <a:t>Trust and value gates can control each scale decision</a:t>
            </a:r>
            <a:endParaRPr sz="1100">
              <a:solidFill>
                <a:srgbClr val="FFFFFF"/>
              </a:solidFill>
              <a:latin typeface="Calibri"/>
              <a:ea typeface="Calibri"/>
              <a:cs typeface="Calibri"/>
            </a:endParaRPr>
          </a:p>
        </p:txBody>
      </p:sp>
      <p:sp>
        <p:nvSpPr>
          <p:cNvPr id="28" name="Text 26">
            <a:extLst>
              <a:ext uri="{FF2B5EF4-FFF2-40B4-BE49-F238E27FC236}">
                <a16:creationId xmlns:a16="http://schemas.microsoft.com/office/drawing/2014/main" id="{D3012014-12EB-4E29-B595-23D52588BFC7}"/>
              </a:ext>
            </a:extLst>
          </p:cNvPr>
          <p:cNvSpPr>
            <a:spLocks noGrp="1"/>
          </p:cNvSpPr>
          <p:nvPr/>
        </p:nvSpPr>
        <p:spPr>
          <a:xfrm>
            <a:off x="548640" y="6473952"/>
            <a:ext cx="8229600" cy="256032"/>
          </a:xfrm>
          <a:prstGeom prst="rect">
            <a:avLst/>
          </a:prstGeom>
          <a:noFill/>
        </p:spPr>
        <p:txBody>
          <a:bodyPr wrap="square" lIns="0" tIns="0" rIns="0" bIns="0" anchor="ctr"/>
          <a:lstStyle/>
          <a:p>
            <a:pPr marL="0" indent="0">
              <a:buNone/>
            </a:pPr>
            <a:r>
              <a:rPr sz="800" b="1">
                <a:solidFill>
                  <a:srgbClr val="64748B"/>
                </a:solidFill>
                <a:latin typeface="Calibri"/>
                <a:ea typeface="Calibri"/>
                <a:cs typeface="Calibri"/>
              </a:rPr>
              <a:t>Contract Intelligence Platform  ·  Confidential — Internal</a:t>
            </a:r>
          </a:p>
        </p:txBody>
      </p:sp>
      <p:sp>
        <p:nvSpPr>
          <p:cNvPr id="29" name="Text 27">
            <a:extLst>
              <a:ext uri="{FF2B5EF4-FFF2-40B4-BE49-F238E27FC236}">
                <a16:creationId xmlns:a16="http://schemas.microsoft.com/office/drawing/2014/main" id="{5DD5F396-10F5-4BE5-8B1F-28557BC96CE2}"/>
              </a:ext>
            </a:extLst>
          </p:cNvPr>
          <p:cNvSpPr>
            <a:spLocks noGrp="1"/>
          </p:cNvSpPr>
          <p:nvPr/>
        </p:nvSpPr>
        <p:spPr>
          <a:xfrm>
            <a:off x="10728655" y="6473952"/>
            <a:ext cx="914400" cy="256032"/>
          </a:xfrm>
          <a:prstGeom prst="rect">
            <a:avLst/>
          </a:prstGeom>
          <a:noFill/>
        </p:spPr>
        <p:txBody>
          <a:bodyPr wrap="square" lIns="0" tIns="0" rIns="0" bIns="0" anchor="ctr"/>
          <a:lstStyle/>
          <a:p>
            <a:pPr marL="0" indent="0" algn="r">
              <a:buNone/>
            </a:pPr>
            <a:r>
              <a:rPr sz="900">
                <a:solidFill>
                  <a:srgbClr val="64748B"/>
                </a:solidFill>
                <a:latin typeface="Calibri"/>
                <a:ea typeface="Calibri"/>
                <a:cs typeface="Calibri"/>
              </a:rPr>
              <a:t>02</a:t>
            </a:r>
          </a:p>
        </p:txBody>
      </p:sp>
    </p:spTree>
    <p:extLst>
      <p:ext uri="{BB962C8B-B14F-4D97-AF65-F5344CB8AC3E}">
        <p14:creationId xmlns:p14="http://schemas.microsoft.com/office/powerpoint/2010/main" val="133846607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CC8FB582-8E95-4E6F-8C36-5BC93B22FD04}"/>
              </a:ext>
            </a:extLst>
          </p:cNvPr>
          <p:cNvSpPr>
            <a:spLocks noGrp="1"/>
          </p:cNvSpPr>
          <p:nvPr/>
        </p:nvSpPr>
        <p:spPr>
          <a:xfrm>
            <a:off x="548640" y="457200"/>
            <a:ext cx="11094415" cy="256032"/>
          </a:xfrm>
          <a:prstGeom prst="rect">
            <a:avLst/>
          </a:prstGeom>
          <a:noFill/>
        </p:spPr>
        <p:txBody>
          <a:bodyPr wrap="square" lIns="0" tIns="0" rIns="0" bIns="0" anchor="ctr"/>
          <a:lstStyle/>
          <a:p>
            <a:pPr marL="0" indent="0">
              <a:buNone/>
            </a:pPr>
            <a:r>
              <a:rPr sz="1100" b="1">
                <a:solidFill>
                  <a:srgbClr val="0F766E"/>
                </a:solidFill>
                <a:latin typeface="Calibri"/>
                <a:ea typeface="Calibri"/>
                <a:cs typeface="Calibri"/>
              </a:rPr>
              <a:t>SECTION 02 · THE BUSINESS PROBLEM</a:t>
            </a:r>
          </a:p>
        </p:txBody>
      </p:sp>
      <p:sp>
        <p:nvSpPr>
          <p:cNvPr id="3" name="Text 1">
            <a:extLst>
              <a:ext uri="{FF2B5EF4-FFF2-40B4-BE49-F238E27FC236}">
                <a16:creationId xmlns:a16="http://schemas.microsoft.com/office/drawing/2014/main" id="{10B8754B-7ECD-495A-86D5-414C25209591}"/>
              </a:ext>
            </a:extLst>
          </p:cNvPr>
          <p:cNvSpPr>
            <a:spLocks noGrp="1"/>
          </p:cNvSpPr>
          <p:nvPr/>
        </p:nvSpPr>
        <p:spPr>
          <a:xfrm>
            <a:off x="548640" y="804672"/>
            <a:ext cx="11094466" cy="1005840"/>
          </a:xfrm>
          <a:prstGeom prst="rect">
            <a:avLst/>
          </a:prstGeom>
          <a:noFill/>
        </p:spPr>
        <p:txBody>
          <a:bodyPr wrap="square" lIns="0" tIns="0" rIns="0" bIns="0" anchor="t">
            <a:normAutofit/>
          </a:bodyPr>
          <a:lstStyle/>
          <a:p>
            <a:pPr marL="0" indent="0">
              <a:lnSpc>
                <a:spcPts val="3080"/>
              </a:lnSpc>
              <a:buNone/>
            </a:pPr>
            <a:r>
              <a:rPr lang="en-US" sz="2800" b="1">
                <a:solidFill>
                  <a:srgbClr val="0B1B2E"/>
                </a:solidFill>
                <a:latin typeface="Georgia"/>
                <a:ea typeface="Georgia"/>
                <a:cs typeface="Georgia"/>
              </a:rPr>
              <a:t>Critical contract intelligence is fragmented, slow to verify and difficult to reuse</a:t>
            </a:r>
            <a:endParaRPr sz="2800" b="1">
              <a:solidFill>
                <a:srgbClr val="0B1B2E"/>
              </a:solidFill>
              <a:latin typeface="Georgia"/>
              <a:ea typeface="Georgia"/>
              <a:cs typeface="Georgia"/>
            </a:endParaRPr>
          </a:p>
        </p:txBody>
      </p:sp>
      <p:sp>
        <p:nvSpPr>
          <p:cNvPr id="4" name="Shape 2">
            <a:extLst>
              <a:ext uri="{FF2B5EF4-FFF2-40B4-BE49-F238E27FC236}">
                <a16:creationId xmlns:a16="http://schemas.microsoft.com/office/drawing/2014/main" id="{D039E9E1-BC0E-4804-B9D7-5E40A97AE4E5}"/>
              </a:ext>
            </a:extLst>
          </p:cNvPr>
          <p:cNvSpPr>
            <a:spLocks noGrp="1"/>
          </p:cNvSpPr>
          <p:nvPr/>
        </p:nvSpPr>
        <p:spPr>
          <a:xfrm>
            <a:off x="548640" y="1920240"/>
            <a:ext cx="6583680" cy="1115568"/>
          </a:xfrm>
          <a:prstGeom prst="rect">
            <a:avLst/>
          </a:prstGeom>
          <a:solidFill>
            <a:srgbClr val="F8FAFC"/>
          </a:solidFill>
          <a:effectLst>
            <a:outerShdw blurRad="101600" dist="25400" dir="8100000" algn="bl" rotWithShape="0">
              <a:srgbClr val="1E293B">
                <a:alpha val="11000"/>
              </a:srgbClr>
            </a:outerShdw>
          </a:effectLst>
        </p:spPr>
        <p:txBody>
          <a:bodyPr/>
          <a:lstStyle/>
          <a:p>
            <a:endParaRPr/>
          </a:p>
        </p:txBody>
      </p:sp>
      <p:sp>
        <p:nvSpPr>
          <p:cNvPr id="5" name="Shape 3">
            <a:extLst>
              <a:ext uri="{FF2B5EF4-FFF2-40B4-BE49-F238E27FC236}">
                <a16:creationId xmlns:a16="http://schemas.microsoft.com/office/drawing/2014/main" id="{50C9673D-B52B-4F24-85FF-9704D06FE4AC}"/>
              </a:ext>
            </a:extLst>
          </p:cNvPr>
          <p:cNvSpPr>
            <a:spLocks noGrp="1"/>
          </p:cNvSpPr>
          <p:nvPr/>
        </p:nvSpPr>
        <p:spPr>
          <a:xfrm>
            <a:off x="548640" y="1920240"/>
            <a:ext cx="82296" cy="1115568"/>
          </a:xfrm>
          <a:prstGeom prst="rect">
            <a:avLst/>
          </a:prstGeom>
          <a:solidFill>
            <a:srgbClr val="F26A4B"/>
          </a:solidFill>
        </p:spPr>
        <p:txBody>
          <a:bodyPr/>
          <a:lstStyle/>
          <a:p>
            <a:endParaRPr/>
          </a:p>
        </p:txBody>
      </p:sp>
      <p:sp>
        <p:nvSpPr>
          <p:cNvPr id="6" name="Text 4">
            <a:extLst>
              <a:ext uri="{FF2B5EF4-FFF2-40B4-BE49-F238E27FC236}">
                <a16:creationId xmlns:a16="http://schemas.microsoft.com/office/drawing/2014/main" id="{DACD36C3-01A1-4126-AB36-F0D0610A4081}"/>
              </a:ext>
            </a:extLst>
          </p:cNvPr>
          <p:cNvSpPr>
            <a:spLocks noGrp="1"/>
          </p:cNvSpPr>
          <p:nvPr/>
        </p:nvSpPr>
        <p:spPr>
          <a:xfrm>
            <a:off x="804672" y="2066544"/>
            <a:ext cx="6126480" cy="347472"/>
          </a:xfrm>
          <a:prstGeom prst="rect">
            <a:avLst/>
          </a:prstGeom>
          <a:noFill/>
        </p:spPr>
        <p:txBody>
          <a:bodyPr wrap="square" lIns="0" tIns="0" rIns="0" bIns="0" anchor="ctr"/>
          <a:lstStyle/>
          <a:p>
            <a:pPr marL="0" indent="0">
              <a:buNone/>
            </a:pPr>
            <a:r>
              <a:rPr sz="1400" b="1">
                <a:solidFill>
                  <a:srgbClr val="0B1B2E"/>
                </a:solidFill>
                <a:latin typeface="Calibri"/>
                <a:ea typeface="Calibri"/>
                <a:cs typeface="Calibri"/>
              </a:rPr>
              <a:t>Manual research</a:t>
            </a:r>
          </a:p>
        </p:txBody>
      </p:sp>
      <p:sp>
        <p:nvSpPr>
          <p:cNvPr id="7" name="Text 5">
            <a:extLst>
              <a:ext uri="{FF2B5EF4-FFF2-40B4-BE49-F238E27FC236}">
                <a16:creationId xmlns:a16="http://schemas.microsoft.com/office/drawing/2014/main" id="{0C1C5A81-E33E-4587-B1B3-E580AA40B1F3}"/>
              </a:ext>
            </a:extLst>
          </p:cNvPr>
          <p:cNvSpPr>
            <a:spLocks noGrp="1"/>
          </p:cNvSpPr>
          <p:nvPr/>
        </p:nvSpPr>
        <p:spPr>
          <a:xfrm>
            <a:off x="804672" y="2432304"/>
            <a:ext cx="6126480" cy="530352"/>
          </a:xfrm>
          <a:prstGeom prst="rect">
            <a:avLst/>
          </a:prstGeom>
          <a:noFill/>
        </p:spPr>
        <p:txBody>
          <a:bodyPr wrap="square" lIns="0" tIns="0" rIns="0" bIns="0" anchor="t"/>
          <a:lstStyle/>
          <a:p>
            <a:pPr marL="0" indent="0">
              <a:lnSpc>
                <a:spcPts val="1550"/>
              </a:lnSpc>
              <a:buNone/>
            </a:pPr>
            <a:r>
              <a:rPr sz="1150">
                <a:solidFill>
                  <a:srgbClr val="33415A"/>
                </a:solidFill>
                <a:latin typeface="Calibri"/>
                <a:ea typeface="Calibri"/>
                <a:cs typeface="Calibri"/>
              </a:rPr>
              <a:t>Teams must locate files, compare terms and interpret documents before they can act.</a:t>
            </a:r>
          </a:p>
        </p:txBody>
      </p:sp>
      <p:sp>
        <p:nvSpPr>
          <p:cNvPr id="8" name="Shape 6">
            <a:extLst>
              <a:ext uri="{FF2B5EF4-FFF2-40B4-BE49-F238E27FC236}">
                <a16:creationId xmlns:a16="http://schemas.microsoft.com/office/drawing/2014/main" id="{4E22C1A1-A341-4E96-AFBD-FB3CCF91669B}"/>
              </a:ext>
            </a:extLst>
          </p:cNvPr>
          <p:cNvSpPr>
            <a:spLocks noGrp="1"/>
          </p:cNvSpPr>
          <p:nvPr/>
        </p:nvSpPr>
        <p:spPr>
          <a:xfrm>
            <a:off x="548640" y="3182112"/>
            <a:ext cx="6583680" cy="1115568"/>
          </a:xfrm>
          <a:prstGeom prst="rect">
            <a:avLst/>
          </a:prstGeom>
          <a:solidFill>
            <a:srgbClr val="F8FAFC"/>
          </a:solidFill>
          <a:effectLst>
            <a:outerShdw blurRad="101600" dist="25400" dir="8100000" algn="bl" rotWithShape="0">
              <a:srgbClr val="1E293B">
                <a:alpha val="11000"/>
              </a:srgbClr>
            </a:outerShdw>
          </a:effectLst>
        </p:spPr>
        <p:txBody>
          <a:bodyPr/>
          <a:lstStyle/>
          <a:p>
            <a:endParaRPr/>
          </a:p>
        </p:txBody>
      </p:sp>
      <p:sp>
        <p:nvSpPr>
          <p:cNvPr id="9" name="Shape 7">
            <a:extLst>
              <a:ext uri="{FF2B5EF4-FFF2-40B4-BE49-F238E27FC236}">
                <a16:creationId xmlns:a16="http://schemas.microsoft.com/office/drawing/2014/main" id="{301F7E9F-92DA-4C68-9C1B-1ACF5CA0DF67}"/>
              </a:ext>
            </a:extLst>
          </p:cNvPr>
          <p:cNvSpPr>
            <a:spLocks noGrp="1"/>
          </p:cNvSpPr>
          <p:nvPr/>
        </p:nvSpPr>
        <p:spPr>
          <a:xfrm>
            <a:off x="548640" y="3182112"/>
            <a:ext cx="82296" cy="1115568"/>
          </a:xfrm>
          <a:prstGeom prst="rect">
            <a:avLst/>
          </a:prstGeom>
          <a:solidFill>
            <a:srgbClr val="F26A4B"/>
          </a:solidFill>
        </p:spPr>
        <p:txBody>
          <a:bodyPr/>
          <a:lstStyle/>
          <a:p>
            <a:endParaRPr/>
          </a:p>
        </p:txBody>
      </p:sp>
      <p:sp>
        <p:nvSpPr>
          <p:cNvPr id="10" name="Text 8">
            <a:extLst>
              <a:ext uri="{FF2B5EF4-FFF2-40B4-BE49-F238E27FC236}">
                <a16:creationId xmlns:a16="http://schemas.microsoft.com/office/drawing/2014/main" id="{12E055B3-C6F4-44DF-AFDB-F5ABC94C3E70}"/>
              </a:ext>
            </a:extLst>
          </p:cNvPr>
          <p:cNvSpPr>
            <a:spLocks noGrp="1"/>
          </p:cNvSpPr>
          <p:nvPr/>
        </p:nvSpPr>
        <p:spPr>
          <a:xfrm>
            <a:off x="804672" y="3328416"/>
            <a:ext cx="6126480" cy="347472"/>
          </a:xfrm>
          <a:prstGeom prst="rect">
            <a:avLst/>
          </a:prstGeom>
          <a:noFill/>
        </p:spPr>
        <p:txBody>
          <a:bodyPr wrap="square" lIns="0" tIns="0" rIns="0" bIns="0" anchor="ctr"/>
          <a:lstStyle/>
          <a:p>
            <a:pPr marL="0" indent="0">
              <a:buNone/>
            </a:pPr>
            <a:r>
              <a:rPr sz="1400" b="1">
                <a:solidFill>
                  <a:srgbClr val="0B1B2E"/>
                </a:solidFill>
                <a:latin typeface="Calibri"/>
                <a:ea typeface="Calibri"/>
                <a:cs typeface="Calibri"/>
              </a:rPr>
              <a:t>Amendment complexity</a:t>
            </a:r>
          </a:p>
        </p:txBody>
      </p:sp>
      <p:sp>
        <p:nvSpPr>
          <p:cNvPr id="11" name="Text 9">
            <a:extLst>
              <a:ext uri="{FF2B5EF4-FFF2-40B4-BE49-F238E27FC236}">
                <a16:creationId xmlns:a16="http://schemas.microsoft.com/office/drawing/2014/main" id="{AEC77D83-77DD-48BD-8DFA-5926EFC15244}"/>
              </a:ext>
            </a:extLst>
          </p:cNvPr>
          <p:cNvSpPr>
            <a:spLocks noGrp="1"/>
          </p:cNvSpPr>
          <p:nvPr/>
        </p:nvSpPr>
        <p:spPr>
          <a:xfrm>
            <a:off x="804672" y="3694176"/>
            <a:ext cx="6126480" cy="530352"/>
          </a:xfrm>
          <a:prstGeom prst="rect">
            <a:avLst/>
          </a:prstGeom>
          <a:noFill/>
        </p:spPr>
        <p:txBody>
          <a:bodyPr wrap="square" lIns="0" tIns="0" rIns="0" bIns="0" anchor="t"/>
          <a:lstStyle/>
          <a:p>
            <a:pPr marL="0" indent="0">
              <a:lnSpc>
                <a:spcPts val="1550"/>
              </a:lnSpc>
              <a:buNone/>
            </a:pPr>
            <a:r>
              <a:rPr sz="1150">
                <a:solidFill>
                  <a:srgbClr val="33415A"/>
                </a:solidFill>
                <a:latin typeface="Calibri"/>
                <a:ea typeface="Calibri"/>
                <a:cs typeface="Calibri"/>
              </a:rPr>
              <a:t>A current answer depends on understanding what has changed, what was superseded and what remains in force.</a:t>
            </a:r>
          </a:p>
        </p:txBody>
      </p:sp>
      <p:sp>
        <p:nvSpPr>
          <p:cNvPr id="12" name="Shape 10">
            <a:extLst>
              <a:ext uri="{FF2B5EF4-FFF2-40B4-BE49-F238E27FC236}">
                <a16:creationId xmlns:a16="http://schemas.microsoft.com/office/drawing/2014/main" id="{3C11F3B7-A12E-442B-86D5-3710FEB4871D}"/>
              </a:ext>
            </a:extLst>
          </p:cNvPr>
          <p:cNvSpPr>
            <a:spLocks noGrp="1"/>
          </p:cNvSpPr>
          <p:nvPr/>
        </p:nvSpPr>
        <p:spPr>
          <a:xfrm>
            <a:off x="548640" y="4443984"/>
            <a:ext cx="6583680" cy="1115568"/>
          </a:xfrm>
          <a:prstGeom prst="rect">
            <a:avLst/>
          </a:prstGeom>
          <a:solidFill>
            <a:srgbClr val="F8FAFC"/>
          </a:solidFill>
          <a:effectLst>
            <a:outerShdw blurRad="101600" dist="25400" dir="8100000" algn="bl" rotWithShape="0">
              <a:srgbClr val="1E293B">
                <a:alpha val="11000"/>
              </a:srgbClr>
            </a:outerShdw>
          </a:effectLst>
        </p:spPr>
        <p:txBody>
          <a:bodyPr/>
          <a:lstStyle/>
          <a:p>
            <a:endParaRPr/>
          </a:p>
        </p:txBody>
      </p:sp>
      <p:sp>
        <p:nvSpPr>
          <p:cNvPr id="13" name="Shape 11">
            <a:extLst>
              <a:ext uri="{FF2B5EF4-FFF2-40B4-BE49-F238E27FC236}">
                <a16:creationId xmlns:a16="http://schemas.microsoft.com/office/drawing/2014/main" id="{3B6C86F9-7EBE-4CD7-B0CD-2ADFC4AA7525}"/>
              </a:ext>
            </a:extLst>
          </p:cNvPr>
          <p:cNvSpPr>
            <a:spLocks noGrp="1"/>
          </p:cNvSpPr>
          <p:nvPr/>
        </p:nvSpPr>
        <p:spPr>
          <a:xfrm>
            <a:off x="548640" y="4443984"/>
            <a:ext cx="82296" cy="1115568"/>
          </a:xfrm>
          <a:prstGeom prst="rect">
            <a:avLst/>
          </a:prstGeom>
          <a:solidFill>
            <a:srgbClr val="F26A4B"/>
          </a:solidFill>
        </p:spPr>
        <p:txBody>
          <a:bodyPr/>
          <a:lstStyle/>
          <a:p>
            <a:endParaRPr/>
          </a:p>
        </p:txBody>
      </p:sp>
      <p:sp>
        <p:nvSpPr>
          <p:cNvPr id="14" name="Text 12">
            <a:extLst>
              <a:ext uri="{FF2B5EF4-FFF2-40B4-BE49-F238E27FC236}">
                <a16:creationId xmlns:a16="http://schemas.microsoft.com/office/drawing/2014/main" id="{BACB4BB3-7F4E-4AA4-B936-A52DDEEEA4B3}"/>
              </a:ext>
            </a:extLst>
          </p:cNvPr>
          <p:cNvSpPr>
            <a:spLocks noGrp="1"/>
          </p:cNvSpPr>
          <p:nvPr/>
        </p:nvSpPr>
        <p:spPr>
          <a:xfrm>
            <a:off x="804672" y="4590288"/>
            <a:ext cx="6126480" cy="347472"/>
          </a:xfrm>
          <a:prstGeom prst="rect">
            <a:avLst/>
          </a:prstGeom>
          <a:noFill/>
        </p:spPr>
        <p:txBody>
          <a:bodyPr wrap="square" lIns="0" tIns="0" rIns="0" bIns="0" anchor="ctr"/>
          <a:lstStyle/>
          <a:p>
            <a:pPr marL="0" indent="0">
              <a:buNone/>
            </a:pPr>
            <a:r>
              <a:rPr sz="1400" b="1">
                <a:solidFill>
                  <a:srgbClr val="0B1B2E"/>
                </a:solidFill>
                <a:latin typeface="Calibri"/>
                <a:ea typeface="Calibri"/>
                <a:cs typeface="Calibri"/>
              </a:rPr>
              <a:t>No portfolio view</a:t>
            </a:r>
          </a:p>
        </p:txBody>
      </p:sp>
      <p:sp>
        <p:nvSpPr>
          <p:cNvPr id="15" name="Text 13">
            <a:extLst>
              <a:ext uri="{FF2B5EF4-FFF2-40B4-BE49-F238E27FC236}">
                <a16:creationId xmlns:a16="http://schemas.microsoft.com/office/drawing/2014/main" id="{436DF663-1783-4B2A-8EE4-E1E592339300}"/>
              </a:ext>
            </a:extLst>
          </p:cNvPr>
          <p:cNvSpPr>
            <a:spLocks noGrp="1"/>
          </p:cNvSpPr>
          <p:nvPr/>
        </p:nvSpPr>
        <p:spPr>
          <a:xfrm>
            <a:off x="804672" y="4956048"/>
            <a:ext cx="6126480" cy="530352"/>
          </a:xfrm>
          <a:prstGeom prst="rect">
            <a:avLst/>
          </a:prstGeom>
          <a:noFill/>
        </p:spPr>
        <p:txBody>
          <a:bodyPr wrap="square" lIns="0" tIns="0" rIns="0" bIns="0" anchor="t"/>
          <a:lstStyle/>
          <a:p>
            <a:pPr marL="0" indent="0">
              <a:lnSpc>
                <a:spcPts val="1550"/>
              </a:lnSpc>
              <a:buNone/>
            </a:pPr>
            <a:r>
              <a:rPr sz="1150">
                <a:solidFill>
                  <a:srgbClr val="33415A"/>
                </a:solidFill>
                <a:latin typeface="Calibri"/>
                <a:ea typeface="Calibri"/>
                <a:cs typeface="Calibri"/>
              </a:rPr>
              <a:t>Cross-provider insight is constrained when terms, rates and obligations remain locked in separate documents.</a:t>
            </a:r>
          </a:p>
        </p:txBody>
      </p:sp>
      <p:sp>
        <p:nvSpPr>
          <p:cNvPr id="16" name="Text 14">
            <a:extLst>
              <a:ext uri="{FF2B5EF4-FFF2-40B4-BE49-F238E27FC236}">
                <a16:creationId xmlns:a16="http://schemas.microsoft.com/office/drawing/2014/main" id="{087CC818-7D80-41CB-B9C9-F45D09C3F28A}"/>
              </a:ext>
            </a:extLst>
          </p:cNvPr>
          <p:cNvSpPr>
            <a:spLocks noGrp="1"/>
          </p:cNvSpPr>
          <p:nvPr/>
        </p:nvSpPr>
        <p:spPr>
          <a:xfrm>
            <a:off x="548640" y="5715000"/>
            <a:ext cx="6583680" cy="502920"/>
          </a:xfrm>
          <a:prstGeom prst="rect">
            <a:avLst/>
          </a:prstGeom>
          <a:noFill/>
        </p:spPr>
        <p:txBody>
          <a:bodyPr wrap="square" lIns="0" tIns="0" rIns="0" bIns="0" anchor="ctr"/>
          <a:lstStyle/>
          <a:p>
            <a:pPr marL="0" indent="0">
              <a:lnSpc>
                <a:spcPts val="1800"/>
              </a:lnSpc>
              <a:buNone/>
            </a:pPr>
            <a:r>
              <a:rPr lang="en-US" sz="1400" i="1">
                <a:solidFill>
                  <a:srgbClr val="0F766E"/>
                </a:solidFill>
                <a:latin typeface="Calibri"/>
                <a:ea typeface="Calibri"/>
                <a:cs typeface="Calibri"/>
              </a:rPr>
              <a:t>The result: experts spend time finding and validating information instead of acting on it.</a:t>
            </a:r>
            <a:endParaRPr sz="1400" i="1">
              <a:solidFill>
                <a:srgbClr val="0F766E"/>
              </a:solidFill>
              <a:latin typeface="Calibri"/>
              <a:ea typeface="Calibri"/>
              <a:cs typeface="Calibri"/>
            </a:endParaRPr>
          </a:p>
        </p:txBody>
      </p:sp>
      <p:sp>
        <p:nvSpPr>
          <p:cNvPr id="17" name="Shape 15">
            <a:extLst>
              <a:ext uri="{FF2B5EF4-FFF2-40B4-BE49-F238E27FC236}">
                <a16:creationId xmlns:a16="http://schemas.microsoft.com/office/drawing/2014/main" id="{DFB39101-6836-4CE3-9B75-69434C8A7E10}"/>
              </a:ext>
            </a:extLst>
          </p:cNvPr>
          <p:cNvSpPr>
            <a:spLocks noGrp="1"/>
          </p:cNvSpPr>
          <p:nvPr/>
        </p:nvSpPr>
        <p:spPr>
          <a:xfrm>
            <a:off x="7543800" y="1920240"/>
            <a:ext cx="4099255" cy="3703320"/>
          </a:xfrm>
          <a:prstGeom prst="rect">
            <a:avLst/>
          </a:prstGeom>
          <a:solidFill>
            <a:srgbClr val="0B1B2E"/>
          </a:solidFill>
          <a:effectLst>
            <a:outerShdw blurRad="177800" dist="50800" dir="8100000" algn="bl" rotWithShape="0">
              <a:srgbClr val="000000">
                <a:alpha val="22000"/>
              </a:srgbClr>
            </a:outerShdw>
          </a:effectLst>
        </p:spPr>
        <p:txBody>
          <a:bodyPr/>
          <a:lstStyle/>
          <a:p>
            <a:endParaRPr/>
          </a:p>
        </p:txBody>
      </p:sp>
      <p:sp>
        <p:nvSpPr>
          <p:cNvPr id="18" name="Shape 16">
            <a:extLst>
              <a:ext uri="{FF2B5EF4-FFF2-40B4-BE49-F238E27FC236}">
                <a16:creationId xmlns:a16="http://schemas.microsoft.com/office/drawing/2014/main" id="{4368697C-D36B-44E8-8213-4A0760350F7B}"/>
              </a:ext>
            </a:extLst>
          </p:cNvPr>
          <p:cNvSpPr>
            <a:spLocks noGrp="1"/>
          </p:cNvSpPr>
          <p:nvPr/>
        </p:nvSpPr>
        <p:spPr>
          <a:xfrm>
            <a:off x="7543800" y="1920240"/>
            <a:ext cx="4099255" cy="73152"/>
          </a:xfrm>
          <a:prstGeom prst="rect">
            <a:avLst/>
          </a:prstGeom>
          <a:solidFill>
            <a:srgbClr val="F26A4B"/>
          </a:solidFill>
        </p:spPr>
        <p:txBody>
          <a:bodyPr/>
          <a:lstStyle/>
          <a:p>
            <a:endParaRPr/>
          </a:p>
        </p:txBody>
      </p:sp>
      <p:sp>
        <p:nvSpPr>
          <p:cNvPr id="19" name="Text 17">
            <a:extLst>
              <a:ext uri="{FF2B5EF4-FFF2-40B4-BE49-F238E27FC236}">
                <a16:creationId xmlns:a16="http://schemas.microsoft.com/office/drawing/2014/main" id="{8C302DBD-345A-42E3-B943-BC21D9D54565}"/>
              </a:ext>
            </a:extLst>
          </p:cNvPr>
          <p:cNvSpPr>
            <a:spLocks noGrp="1"/>
          </p:cNvSpPr>
          <p:nvPr/>
        </p:nvSpPr>
        <p:spPr>
          <a:xfrm>
            <a:off x="7799832" y="2084832"/>
            <a:ext cx="3733495" cy="658368"/>
          </a:xfrm>
          <a:prstGeom prst="rect">
            <a:avLst/>
          </a:prstGeom>
          <a:noFill/>
        </p:spPr>
        <p:txBody>
          <a:bodyPr wrap="square" lIns="0" tIns="0" rIns="0" bIns="0" anchor="ctr"/>
          <a:lstStyle/>
          <a:p>
            <a:pPr marL="0" indent="0">
              <a:lnSpc>
                <a:spcPts val="1500"/>
              </a:lnSpc>
              <a:buNone/>
            </a:pPr>
            <a:r>
              <a:rPr sz="1200" b="1">
                <a:solidFill>
                  <a:srgbClr val="F26A4B"/>
                </a:solidFill>
                <a:latin typeface="Calibri"/>
                <a:ea typeface="Calibri"/>
                <a:cs typeface="Calibri"/>
              </a:rPr>
              <a:t>THE COST OF THE</a:t>
            </a:r>
          </a:p>
          <a:p>
            <a:pPr marL="0" indent="0">
              <a:lnSpc>
                <a:spcPts val="1500"/>
              </a:lnSpc>
              <a:buNone/>
            </a:pPr>
            <a:r>
              <a:rPr sz="1200" b="1">
                <a:solidFill>
                  <a:srgbClr val="F26A4B"/>
                </a:solidFill>
                <a:latin typeface="Calibri"/>
                <a:ea typeface="Calibri"/>
                <a:cs typeface="Calibri"/>
              </a:rPr>
              <a:t>STATUS QUO</a:t>
            </a:r>
          </a:p>
        </p:txBody>
      </p:sp>
      <p:sp>
        <p:nvSpPr>
          <p:cNvPr id="20" name="Shape 18">
            <a:extLst>
              <a:ext uri="{FF2B5EF4-FFF2-40B4-BE49-F238E27FC236}">
                <a16:creationId xmlns:a16="http://schemas.microsoft.com/office/drawing/2014/main" id="{049B8983-1D6E-43CE-BF01-AFFFD72C8701}"/>
              </a:ext>
            </a:extLst>
          </p:cNvPr>
          <p:cNvSpPr>
            <a:spLocks noGrp="1"/>
          </p:cNvSpPr>
          <p:nvPr/>
        </p:nvSpPr>
        <p:spPr>
          <a:xfrm>
            <a:off x="7799832" y="2980944"/>
            <a:ext cx="128016" cy="128016"/>
          </a:xfrm>
          <a:prstGeom prst="ellipse">
            <a:avLst/>
          </a:prstGeom>
          <a:solidFill>
            <a:srgbClr val="14B8A6"/>
          </a:solidFill>
        </p:spPr>
        <p:txBody>
          <a:bodyPr/>
          <a:lstStyle/>
          <a:p>
            <a:endParaRPr/>
          </a:p>
        </p:txBody>
      </p:sp>
      <p:sp>
        <p:nvSpPr>
          <p:cNvPr id="21" name="Text 19">
            <a:extLst>
              <a:ext uri="{FF2B5EF4-FFF2-40B4-BE49-F238E27FC236}">
                <a16:creationId xmlns:a16="http://schemas.microsoft.com/office/drawing/2014/main" id="{1428C4B0-B37D-4397-8336-1A1E36A9A416}"/>
              </a:ext>
            </a:extLst>
          </p:cNvPr>
          <p:cNvSpPr>
            <a:spLocks noGrp="1"/>
          </p:cNvSpPr>
          <p:nvPr/>
        </p:nvSpPr>
        <p:spPr>
          <a:xfrm>
            <a:off x="8037576" y="2889504"/>
            <a:ext cx="3459175" cy="502920"/>
          </a:xfrm>
          <a:prstGeom prst="rect">
            <a:avLst/>
          </a:prstGeom>
          <a:noFill/>
        </p:spPr>
        <p:txBody>
          <a:bodyPr wrap="square" lIns="0" tIns="0" rIns="0" bIns="0" anchor="t"/>
          <a:lstStyle/>
          <a:p>
            <a:pPr marL="0" indent="0">
              <a:lnSpc>
                <a:spcPts val="1400"/>
              </a:lnSpc>
              <a:buNone/>
            </a:pPr>
            <a:r>
              <a:rPr sz="1100">
                <a:solidFill>
                  <a:srgbClr val="FFFFFF"/>
                </a:solidFill>
                <a:latin typeface="Calibri"/>
                <a:ea typeface="Calibri"/>
                <a:cs typeface="Calibri"/>
              </a:rPr>
              <a:t>Slow answer cycles</a:t>
            </a:r>
          </a:p>
        </p:txBody>
      </p:sp>
      <p:sp>
        <p:nvSpPr>
          <p:cNvPr id="22" name="Shape 20">
            <a:extLst>
              <a:ext uri="{FF2B5EF4-FFF2-40B4-BE49-F238E27FC236}">
                <a16:creationId xmlns:a16="http://schemas.microsoft.com/office/drawing/2014/main" id="{4F263A6C-56D2-4CF8-9446-BF8977B4012D}"/>
              </a:ext>
            </a:extLst>
          </p:cNvPr>
          <p:cNvSpPr>
            <a:spLocks noGrp="1"/>
          </p:cNvSpPr>
          <p:nvPr/>
        </p:nvSpPr>
        <p:spPr>
          <a:xfrm>
            <a:off x="7799832" y="3575304"/>
            <a:ext cx="128016" cy="128016"/>
          </a:xfrm>
          <a:prstGeom prst="ellipse">
            <a:avLst/>
          </a:prstGeom>
          <a:solidFill>
            <a:srgbClr val="14B8A6"/>
          </a:solidFill>
        </p:spPr>
        <p:txBody>
          <a:bodyPr/>
          <a:lstStyle/>
          <a:p>
            <a:endParaRPr/>
          </a:p>
        </p:txBody>
      </p:sp>
      <p:sp>
        <p:nvSpPr>
          <p:cNvPr id="23" name="Text 21">
            <a:extLst>
              <a:ext uri="{FF2B5EF4-FFF2-40B4-BE49-F238E27FC236}">
                <a16:creationId xmlns:a16="http://schemas.microsoft.com/office/drawing/2014/main" id="{1023C0EA-5860-49CC-BA34-0B034F34D6A9}"/>
              </a:ext>
            </a:extLst>
          </p:cNvPr>
          <p:cNvSpPr>
            <a:spLocks noGrp="1"/>
          </p:cNvSpPr>
          <p:nvPr/>
        </p:nvSpPr>
        <p:spPr>
          <a:xfrm>
            <a:off x="8037576" y="3483864"/>
            <a:ext cx="3459175" cy="502920"/>
          </a:xfrm>
          <a:prstGeom prst="rect">
            <a:avLst/>
          </a:prstGeom>
          <a:noFill/>
        </p:spPr>
        <p:txBody>
          <a:bodyPr wrap="square" lIns="0" tIns="0" rIns="0" bIns="0" anchor="t"/>
          <a:lstStyle/>
          <a:p>
            <a:pPr marL="0" indent="0">
              <a:lnSpc>
                <a:spcPts val="1400"/>
              </a:lnSpc>
              <a:buNone/>
            </a:pPr>
            <a:r>
              <a:rPr sz="1100">
                <a:solidFill>
                  <a:srgbClr val="FFFFFF"/>
                </a:solidFill>
                <a:latin typeface="Calibri"/>
                <a:ea typeface="Calibri"/>
                <a:cs typeface="Calibri"/>
              </a:rPr>
              <a:t>Inconsistent interpretation risk</a:t>
            </a:r>
          </a:p>
        </p:txBody>
      </p:sp>
      <p:sp>
        <p:nvSpPr>
          <p:cNvPr id="24" name="Shape 22">
            <a:extLst>
              <a:ext uri="{FF2B5EF4-FFF2-40B4-BE49-F238E27FC236}">
                <a16:creationId xmlns:a16="http://schemas.microsoft.com/office/drawing/2014/main" id="{C22D490A-7F89-4739-9052-08095066B300}"/>
              </a:ext>
            </a:extLst>
          </p:cNvPr>
          <p:cNvSpPr>
            <a:spLocks noGrp="1"/>
          </p:cNvSpPr>
          <p:nvPr/>
        </p:nvSpPr>
        <p:spPr>
          <a:xfrm>
            <a:off x="7799832" y="4169664"/>
            <a:ext cx="128016" cy="128016"/>
          </a:xfrm>
          <a:prstGeom prst="ellipse">
            <a:avLst/>
          </a:prstGeom>
          <a:solidFill>
            <a:srgbClr val="14B8A6"/>
          </a:solidFill>
        </p:spPr>
        <p:txBody>
          <a:bodyPr/>
          <a:lstStyle/>
          <a:p>
            <a:endParaRPr/>
          </a:p>
        </p:txBody>
      </p:sp>
      <p:sp>
        <p:nvSpPr>
          <p:cNvPr id="25" name="Text 23">
            <a:extLst>
              <a:ext uri="{FF2B5EF4-FFF2-40B4-BE49-F238E27FC236}">
                <a16:creationId xmlns:a16="http://schemas.microsoft.com/office/drawing/2014/main" id="{EECACFF3-3293-424D-9C59-BDA95DC5AD25}"/>
              </a:ext>
            </a:extLst>
          </p:cNvPr>
          <p:cNvSpPr>
            <a:spLocks noGrp="1"/>
          </p:cNvSpPr>
          <p:nvPr/>
        </p:nvSpPr>
        <p:spPr>
          <a:xfrm>
            <a:off x="8037576" y="4078224"/>
            <a:ext cx="3459175" cy="502920"/>
          </a:xfrm>
          <a:prstGeom prst="rect">
            <a:avLst/>
          </a:prstGeom>
          <a:noFill/>
        </p:spPr>
        <p:txBody>
          <a:bodyPr wrap="square" lIns="0" tIns="0" rIns="0" bIns="0" anchor="t"/>
          <a:lstStyle/>
          <a:p>
            <a:pPr marL="0" indent="0">
              <a:lnSpc>
                <a:spcPts val="1400"/>
              </a:lnSpc>
              <a:buNone/>
            </a:pPr>
            <a:r>
              <a:rPr sz="1100">
                <a:solidFill>
                  <a:srgbClr val="FFFFFF"/>
                </a:solidFill>
                <a:latin typeface="Calibri"/>
                <a:ea typeface="Calibri"/>
                <a:cs typeface="Calibri"/>
              </a:rPr>
              <a:t>Limited portfolio comparability</a:t>
            </a:r>
          </a:p>
        </p:txBody>
      </p:sp>
      <p:sp>
        <p:nvSpPr>
          <p:cNvPr id="26" name="Shape 24">
            <a:extLst>
              <a:ext uri="{FF2B5EF4-FFF2-40B4-BE49-F238E27FC236}">
                <a16:creationId xmlns:a16="http://schemas.microsoft.com/office/drawing/2014/main" id="{B99BCA0A-CE7E-44CA-BF32-8467552F63F4}"/>
              </a:ext>
            </a:extLst>
          </p:cNvPr>
          <p:cNvSpPr>
            <a:spLocks noGrp="1"/>
          </p:cNvSpPr>
          <p:nvPr/>
        </p:nvSpPr>
        <p:spPr>
          <a:xfrm>
            <a:off x="7799832" y="4764024"/>
            <a:ext cx="128016" cy="128016"/>
          </a:xfrm>
          <a:prstGeom prst="ellipse">
            <a:avLst/>
          </a:prstGeom>
          <a:solidFill>
            <a:srgbClr val="14B8A6"/>
          </a:solidFill>
        </p:spPr>
        <p:txBody>
          <a:bodyPr/>
          <a:lstStyle/>
          <a:p>
            <a:endParaRPr/>
          </a:p>
        </p:txBody>
      </p:sp>
      <p:sp>
        <p:nvSpPr>
          <p:cNvPr id="27" name="Text 25">
            <a:extLst>
              <a:ext uri="{FF2B5EF4-FFF2-40B4-BE49-F238E27FC236}">
                <a16:creationId xmlns:a16="http://schemas.microsoft.com/office/drawing/2014/main" id="{660C4378-6B2E-487A-9FBA-B8E62187B582}"/>
              </a:ext>
            </a:extLst>
          </p:cNvPr>
          <p:cNvSpPr>
            <a:spLocks noGrp="1"/>
          </p:cNvSpPr>
          <p:nvPr/>
        </p:nvSpPr>
        <p:spPr>
          <a:xfrm>
            <a:off x="8037576" y="4672584"/>
            <a:ext cx="3459175" cy="502920"/>
          </a:xfrm>
          <a:prstGeom prst="rect">
            <a:avLst/>
          </a:prstGeom>
          <a:noFill/>
        </p:spPr>
        <p:txBody>
          <a:bodyPr wrap="square" lIns="0" tIns="0" rIns="0" bIns="0" anchor="t"/>
          <a:lstStyle/>
          <a:p>
            <a:pPr marL="0" indent="0">
              <a:lnSpc>
                <a:spcPts val="1400"/>
              </a:lnSpc>
              <a:buNone/>
            </a:pPr>
            <a:r>
              <a:rPr lang="en-US" sz="1100">
                <a:solidFill>
                  <a:srgbClr val="FFFFFF"/>
                </a:solidFill>
                <a:latin typeface="Calibri"/>
                <a:ea typeface="Calibri"/>
                <a:cs typeface="Calibri"/>
              </a:rPr>
              <a:t>Critical knowledge concentrated in a few experts</a:t>
            </a:r>
            <a:endParaRPr sz="1100">
              <a:solidFill>
                <a:srgbClr val="FFFFFF"/>
              </a:solidFill>
              <a:latin typeface="Calibri"/>
              <a:ea typeface="Calibri"/>
              <a:cs typeface="Calibri"/>
            </a:endParaRPr>
          </a:p>
        </p:txBody>
      </p:sp>
      <p:sp>
        <p:nvSpPr>
          <p:cNvPr id="28" name="Text 26">
            <a:extLst>
              <a:ext uri="{FF2B5EF4-FFF2-40B4-BE49-F238E27FC236}">
                <a16:creationId xmlns:a16="http://schemas.microsoft.com/office/drawing/2014/main" id="{D3012014-12EB-4E29-B595-23D52588BFC7}"/>
              </a:ext>
            </a:extLst>
          </p:cNvPr>
          <p:cNvSpPr>
            <a:spLocks noGrp="1"/>
          </p:cNvSpPr>
          <p:nvPr/>
        </p:nvSpPr>
        <p:spPr>
          <a:xfrm>
            <a:off x="548640" y="6473952"/>
            <a:ext cx="8229600" cy="256032"/>
          </a:xfrm>
          <a:prstGeom prst="rect">
            <a:avLst/>
          </a:prstGeom>
          <a:noFill/>
        </p:spPr>
        <p:txBody>
          <a:bodyPr wrap="square" lIns="0" tIns="0" rIns="0" bIns="0" anchor="ctr"/>
          <a:lstStyle/>
          <a:p>
            <a:pPr marL="0" indent="0">
              <a:buNone/>
            </a:pPr>
            <a:r>
              <a:rPr sz="800" b="1">
                <a:solidFill>
                  <a:srgbClr val="64748B"/>
                </a:solidFill>
                <a:latin typeface="Calibri"/>
                <a:ea typeface="Calibri"/>
                <a:cs typeface="Calibri"/>
              </a:rPr>
              <a:t>Contract Intelligence Platform  ·  Confidential — Internal</a:t>
            </a:r>
          </a:p>
        </p:txBody>
      </p:sp>
      <p:sp>
        <p:nvSpPr>
          <p:cNvPr id="29" name="Text 27">
            <a:extLst>
              <a:ext uri="{FF2B5EF4-FFF2-40B4-BE49-F238E27FC236}">
                <a16:creationId xmlns:a16="http://schemas.microsoft.com/office/drawing/2014/main" id="{5DD5F396-10F5-4BE5-8B1F-28557BC96CE2}"/>
              </a:ext>
            </a:extLst>
          </p:cNvPr>
          <p:cNvSpPr>
            <a:spLocks noGrp="1"/>
          </p:cNvSpPr>
          <p:nvPr/>
        </p:nvSpPr>
        <p:spPr>
          <a:xfrm>
            <a:off x="10728655" y="6473952"/>
            <a:ext cx="914400" cy="256032"/>
          </a:xfrm>
          <a:prstGeom prst="rect">
            <a:avLst/>
          </a:prstGeom>
          <a:noFill/>
        </p:spPr>
        <p:txBody>
          <a:bodyPr wrap="square" lIns="0" tIns="0" rIns="0" bIns="0" anchor="ctr"/>
          <a:lstStyle/>
          <a:p>
            <a:pPr marL="0" indent="0" algn="r">
              <a:buNone/>
            </a:pPr>
            <a:r>
              <a:rPr sz="900">
                <a:solidFill>
                  <a:srgbClr val="64748B"/>
                </a:solidFill>
                <a:latin typeface="Calibri"/>
                <a:ea typeface="Calibri"/>
                <a:cs typeface="Calibri"/>
              </a:rPr>
              <a:t>03</a:t>
            </a:r>
          </a:p>
        </p:txBody>
      </p:sp>
    </p:spTree>
    <p:extLst>
      <p:ext uri="{BB962C8B-B14F-4D97-AF65-F5344CB8AC3E}">
        <p14:creationId xmlns:p14="http://schemas.microsoft.com/office/powerpoint/2010/main" val="58924179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580B691C-9DF6-44D2-B22A-E0F243D41489}"/>
              </a:ext>
            </a:extLst>
          </p:cNvPr>
          <p:cNvSpPr>
            <a:spLocks noGrp="1"/>
          </p:cNvSpPr>
          <p:nvPr/>
        </p:nvSpPr>
        <p:spPr>
          <a:xfrm>
            <a:off x="548640" y="457200"/>
            <a:ext cx="11094415" cy="256032"/>
          </a:xfrm>
          <a:prstGeom prst="rect">
            <a:avLst/>
          </a:prstGeom>
          <a:noFill/>
        </p:spPr>
        <p:txBody>
          <a:bodyPr wrap="square" lIns="0" tIns="0" rIns="0" bIns="0" anchor="ctr"/>
          <a:lstStyle/>
          <a:p>
            <a:pPr marL="0" indent="0">
              <a:buNone/>
            </a:pPr>
            <a:r>
              <a:rPr sz="1100" b="1">
                <a:solidFill>
                  <a:srgbClr val="0F766E"/>
                </a:solidFill>
                <a:latin typeface="Calibri"/>
                <a:ea typeface="Calibri"/>
                <a:cs typeface="Calibri"/>
              </a:rPr>
              <a:t>SECTION 03 · WHY CHANGE</a:t>
            </a:r>
          </a:p>
        </p:txBody>
      </p:sp>
      <p:sp>
        <p:nvSpPr>
          <p:cNvPr id="3" name="Text 1">
            <a:extLst>
              <a:ext uri="{FF2B5EF4-FFF2-40B4-BE49-F238E27FC236}">
                <a16:creationId xmlns:a16="http://schemas.microsoft.com/office/drawing/2014/main" id="{2232CE9F-7DFB-4C4B-BCD6-79E301FE241C}"/>
              </a:ext>
            </a:extLst>
          </p:cNvPr>
          <p:cNvSpPr>
            <a:spLocks noGrp="1"/>
          </p:cNvSpPr>
          <p:nvPr/>
        </p:nvSpPr>
        <p:spPr>
          <a:xfrm>
            <a:off x="548640" y="804672"/>
            <a:ext cx="11094466" cy="1005840"/>
          </a:xfrm>
          <a:prstGeom prst="rect">
            <a:avLst/>
          </a:prstGeom>
          <a:noFill/>
        </p:spPr>
        <p:txBody>
          <a:bodyPr wrap="square" lIns="0" tIns="0" rIns="0" bIns="0" anchor="t">
            <a:normAutofit/>
          </a:bodyPr>
          <a:lstStyle/>
          <a:p>
            <a:pPr marL="0" indent="0">
              <a:lnSpc>
                <a:spcPts val="2970"/>
              </a:lnSpc>
              <a:buNone/>
            </a:pPr>
            <a:r>
              <a:rPr sz="2700" b="1">
                <a:solidFill>
                  <a:srgbClr val="0B1B2E"/>
                </a:solidFill>
                <a:latin typeface="Georgia"/>
                <a:ea typeface="Georgia"/>
                <a:cs typeface="Georgia"/>
              </a:rPr>
              <a:t>The platform closes the gap between raw documents and governed decisions</a:t>
            </a:r>
          </a:p>
        </p:txBody>
      </p:sp>
      <p:sp>
        <p:nvSpPr>
          <p:cNvPr id="4" name="Shape 2">
            <a:extLst>
              <a:ext uri="{FF2B5EF4-FFF2-40B4-BE49-F238E27FC236}">
                <a16:creationId xmlns:a16="http://schemas.microsoft.com/office/drawing/2014/main" id="{1210609B-BB29-4453-99AC-F7298B50F813}"/>
              </a:ext>
            </a:extLst>
          </p:cNvPr>
          <p:cNvSpPr>
            <a:spLocks noGrp="1"/>
          </p:cNvSpPr>
          <p:nvPr/>
        </p:nvSpPr>
        <p:spPr>
          <a:xfrm>
            <a:off x="548640" y="1920240"/>
            <a:ext cx="1560576" cy="3108960"/>
          </a:xfrm>
          <a:prstGeom prst="rect">
            <a:avLst/>
          </a:prstGeom>
          <a:solidFill>
            <a:srgbClr val="F2F6F9"/>
          </a:solidFill>
          <a:effectLst>
            <a:outerShdw blurRad="101600" dist="25400" dir="8100000" algn="bl" rotWithShape="0">
              <a:srgbClr val="1E293B">
                <a:alpha val="11000"/>
              </a:srgbClr>
            </a:outerShdw>
          </a:effectLst>
        </p:spPr>
        <p:txBody>
          <a:bodyPr/>
          <a:lstStyle/>
          <a:p>
            <a:endParaRPr/>
          </a:p>
        </p:txBody>
      </p:sp>
      <p:sp>
        <p:nvSpPr>
          <p:cNvPr id="5" name="Shape 3">
            <a:extLst>
              <a:ext uri="{FF2B5EF4-FFF2-40B4-BE49-F238E27FC236}">
                <a16:creationId xmlns:a16="http://schemas.microsoft.com/office/drawing/2014/main" id="{E25880AD-6C57-44E4-912A-C0FE00581AC3}"/>
              </a:ext>
            </a:extLst>
          </p:cNvPr>
          <p:cNvSpPr>
            <a:spLocks noGrp="1"/>
          </p:cNvSpPr>
          <p:nvPr/>
        </p:nvSpPr>
        <p:spPr>
          <a:xfrm>
            <a:off x="548640" y="1920240"/>
            <a:ext cx="82296" cy="3108960"/>
          </a:xfrm>
          <a:prstGeom prst="rect">
            <a:avLst/>
          </a:prstGeom>
          <a:solidFill>
            <a:srgbClr val="64748B"/>
          </a:solidFill>
        </p:spPr>
        <p:txBody>
          <a:bodyPr/>
          <a:lstStyle/>
          <a:p>
            <a:endParaRPr/>
          </a:p>
        </p:txBody>
      </p:sp>
      <p:sp>
        <p:nvSpPr>
          <p:cNvPr id="6" name="Text 4">
            <a:extLst>
              <a:ext uri="{FF2B5EF4-FFF2-40B4-BE49-F238E27FC236}">
                <a16:creationId xmlns:a16="http://schemas.microsoft.com/office/drawing/2014/main" id="{758BF4A7-BB67-41B0-9477-F36A956360C1}"/>
              </a:ext>
            </a:extLst>
          </p:cNvPr>
          <p:cNvSpPr>
            <a:spLocks noGrp="1"/>
          </p:cNvSpPr>
          <p:nvPr/>
        </p:nvSpPr>
        <p:spPr>
          <a:xfrm>
            <a:off x="768096" y="2084832"/>
            <a:ext cx="1213104" cy="594360"/>
          </a:xfrm>
          <a:prstGeom prst="rect">
            <a:avLst/>
          </a:prstGeom>
          <a:noFill/>
        </p:spPr>
        <p:txBody>
          <a:bodyPr wrap="square" lIns="0" tIns="0" rIns="0" bIns="0" anchor="ctr"/>
          <a:lstStyle/>
          <a:p>
            <a:pPr marL="0" indent="0">
              <a:lnSpc>
                <a:spcPts val="1600"/>
              </a:lnSpc>
              <a:buNone/>
            </a:pPr>
            <a:r>
              <a:rPr sz="1350" b="1">
                <a:solidFill>
                  <a:srgbClr val="0B1B2E"/>
                </a:solidFill>
                <a:latin typeface="Calibri"/>
                <a:ea typeface="Calibri"/>
                <a:cs typeface="Calibri"/>
              </a:rPr>
              <a:t>Manual research</a:t>
            </a:r>
          </a:p>
        </p:txBody>
      </p:sp>
      <p:sp>
        <p:nvSpPr>
          <p:cNvPr id="7" name="Shape 5">
            <a:extLst>
              <a:ext uri="{FF2B5EF4-FFF2-40B4-BE49-F238E27FC236}">
                <a16:creationId xmlns:a16="http://schemas.microsoft.com/office/drawing/2014/main" id="{4720FC10-5B96-47AC-A052-3DC346C61F74}"/>
              </a:ext>
            </a:extLst>
          </p:cNvPr>
          <p:cNvSpPr>
            <a:spLocks noGrp="1"/>
          </p:cNvSpPr>
          <p:nvPr/>
        </p:nvSpPr>
        <p:spPr>
          <a:xfrm>
            <a:off x="768096" y="2724912"/>
            <a:ext cx="1149096" cy="0"/>
          </a:xfrm>
          <a:prstGeom prst="line">
            <a:avLst/>
          </a:prstGeom>
          <a:noFill/>
          <a:ln w="12700">
            <a:solidFill>
              <a:srgbClr val="E3E9F0"/>
            </a:solidFill>
            <a:prstDash val="solid"/>
          </a:ln>
        </p:spPr>
        <p:txBody>
          <a:bodyPr/>
          <a:lstStyle/>
          <a:p>
            <a:endParaRPr/>
          </a:p>
        </p:txBody>
      </p:sp>
      <p:sp>
        <p:nvSpPr>
          <p:cNvPr id="8" name="Text 6">
            <a:extLst>
              <a:ext uri="{FF2B5EF4-FFF2-40B4-BE49-F238E27FC236}">
                <a16:creationId xmlns:a16="http://schemas.microsoft.com/office/drawing/2014/main" id="{28F725E7-4990-46E7-9F24-EBC7CEF9D16D}"/>
              </a:ext>
            </a:extLst>
          </p:cNvPr>
          <p:cNvSpPr>
            <a:spLocks noGrp="1"/>
          </p:cNvSpPr>
          <p:nvPr/>
        </p:nvSpPr>
        <p:spPr>
          <a:xfrm>
            <a:off x="768096" y="2852928"/>
            <a:ext cx="1213104" cy="1587500"/>
          </a:xfrm>
          <a:prstGeom prst="rect">
            <a:avLst/>
          </a:prstGeom>
          <a:noFill/>
        </p:spPr>
        <p:txBody>
          <a:bodyPr wrap="square" lIns="0" tIns="0" rIns="0" bIns="0" anchor="t"/>
          <a:lstStyle/>
          <a:p>
            <a:pPr marL="0" indent="0">
              <a:lnSpc>
                <a:spcPts val="1500"/>
              </a:lnSpc>
              <a:buNone/>
            </a:pPr>
            <a:r>
              <a:rPr lang="en-US" sz="1150">
                <a:solidFill>
                  <a:srgbClr val="0B2340"/>
                </a:solidFill>
                <a:latin typeface="Calibri"/>
                <a:ea typeface="Calibri"/>
                <a:cs typeface="Calibri"/>
              </a:rPr>
              <a:t>Slow to repeat
Difficult to compare
Hard to govern at scale</a:t>
            </a:r>
            <a:endParaRPr sz="1150">
              <a:solidFill>
                <a:srgbClr val="0B2340"/>
              </a:solidFill>
              <a:latin typeface="Calibri"/>
              <a:ea typeface="Calibri"/>
              <a:cs typeface="Calibri"/>
            </a:endParaRPr>
          </a:p>
        </p:txBody>
      </p:sp>
      <p:sp>
        <p:nvSpPr>
          <p:cNvPr id="9" name="Text 7">
            <a:extLst>
              <a:ext uri="{FF2B5EF4-FFF2-40B4-BE49-F238E27FC236}">
                <a16:creationId xmlns:a16="http://schemas.microsoft.com/office/drawing/2014/main" id="{D77F5DB9-B500-4D43-A357-E73B20272955}"/>
              </a:ext>
            </a:extLst>
          </p:cNvPr>
          <p:cNvSpPr>
            <a:spLocks noGrp="1"/>
          </p:cNvSpPr>
          <p:nvPr/>
        </p:nvSpPr>
        <p:spPr>
          <a:xfrm>
            <a:off x="768096" y="4572000"/>
            <a:ext cx="1213104" cy="274320"/>
          </a:xfrm>
          <a:prstGeom prst="rect">
            <a:avLst/>
          </a:prstGeom>
          <a:noFill/>
        </p:spPr>
        <p:txBody>
          <a:bodyPr wrap="square" lIns="0" tIns="0" rIns="0" bIns="0" anchor="ctr"/>
          <a:lstStyle/>
          <a:p>
            <a:pPr marL="0" indent="0">
              <a:buNone/>
            </a:pPr>
            <a:r>
              <a:rPr lang="en-IN" sz="950" b="1">
                <a:solidFill>
                  <a:srgbClr val="F56749"/>
                </a:solidFill>
                <a:latin typeface="Calibri"/>
                <a:ea typeface="Calibri"/>
                <a:cs typeface="Calibri"/>
              </a:rPr>
              <a:t>NOT SCALABLE</a:t>
            </a:r>
            <a:endParaRPr sz="950" b="1">
              <a:solidFill>
                <a:srgbClr val="F56749"/>
              </a:solidFill>
              <a:latin typeface="Calibri"/>
              <a:ea typeface="Calibri"/>
              <a:cs typeface="Calibri"/>
            </a:endParaRPr>
          </a:p>
        </p:txBody>
      </p:sp>
      <p:sp>
        <p:nvSpPr>
          <p:cNvPr id="10" name="Shape 8">
            <a:extLst>
              <a:ext uri="{FF2B5EF4-FFF2-40B4-BE49-F238E27FC236}">
                <a16:creationId xmlns:a16="http://schemas.microsoft.com/office/drawing/2014/main" id="{0715A043-6D16-423E-B492-C91E522E831C}"/>
              </a:ext>
            </a:extLst>
          </p:cNvPr>
          <p:cNvSpPr>
            <a:spLocks noGrp="1"/>
          </p:cNvSpPr>
          <p:nvPr/>
        </p:nvSpPr>
        <p:spPr>
          <a:xfrm>
            <a:off x="2255520" y="1920240"/>
            <a:ext cx="1560576" cy="3108960"/>
          </a:xfrm>
          <a:prstGeom prst="rect">
            <a:avLst/>
          </a:prstGeom>
          <a:solidFill>
            <a:srgbClr val="F2F6F9"/>
          </a:solidFill>
          <a:effectLst>
            <a:outerShdw blurRad="101600" dist="25400" dir="8100000" algn="bl" rotWithShape="0">
              <a:srgbClr val="1E293B">
                <a:alpha val="11000"/>
              </a:srgbClr>
            </a:outerShdw>
          </a:effectLst>
        </p:spPr>
        <p:txBody>
          <a:bodyPr/>
          <a:lstStyle/>
          <a:p>
            <a:endParaRPr/>
          </a:p>
        </p:txBody>
      </p:sp>
      <p:sp>
        <p:nvSpPr>
          <p:cNvPr id="11" name="Shape 9">
            <a:extLst>
              <a:ext uri="{FF2B5EF4-FFF2-40B4-BE49-F238E27FC236}">
                <a16:creationId xmlns:a16="http://schemas.microsoft.com/office/drawing/2014/main" id="{EDF6BE21-3792-4795-831F-D7CCF108CF59}"/>
              </a:ext>
            </a:extLst>
          </p:cNvPr>
          <p:cNvSpPr>
            <a:spLocks noGrp="1"/>
          </p:cNvSpPr>
          <p:nvPr/>
        </p:nvSpPr>
        <p:spPr>
          <a:xfrm>
            <a:off x="2255520" y="1920240"/>
            <a:ext cx="82296" cy="3108960"/>
          </a:xfrm>
          <a:prstGeom prst="rect">
            <a:avLst/>
          </a:prstGeom>
          <a:solidFill>
            <a:srgbClr val="64748B"/>
          </a:solidFill>
        </p:spPr>
        <p:txBody>
          <a:bodyPr/>
          <a:lstStyle/>
          <a:p>
            <a:endParaRPr/>
          </a:p>
        </p:txBody>
      </p:sp>
      <p:sp>
        <p:nvSpPr>
          <p:cNvPr id="12" name="Text 10">
            <a:extLst>
              <a:ext uri="{FF2B5EF4-FFF2-40B4-BE49-F238E27FC236}">
                <a16:creationId xmlns:a16="http://schemas.microsoft.com/office/drawing/2014/main" id="{8B8FAEE8-F6C8-4AA2-8FAB-BEC7F2641B1D}"/>
              </a:ext>
            </a:extLst>
          </p:cNvPr>
          <p:cNvSpPr>
            <a:spLocks noGrp="1"/>
          </p:cNvSpPr>
          <p:nvPr/>
        </p:nvSpPr>
        <p:spPr>
          <a:xfrm>
            <a:off x="2474976" y="2084832"/>
            <a:ext cx="1213104" cy="594360"/>
          </a:xfrm>
          <a:prstGeom prst="rect">
            <a:avLst/>
          </a:prstGeom>
          <a:noFill/>
        </p:spPr>
        <p:txBody>
          <a:bodyPr wrap="square" lIns="0" tIns="0" rIns="0" bIns="0" anchor="ctr"/>
          <a:lstStyle/>
          <a:p>
            <a:pPr marL="0" indent="0">
              <a:lnSpc>
                <a:spcPts val="1600"/>
              </a:lnSpc>
              <a:buNone/>
            </a:pPr>
            <a:r>
              <a:rPr sz="1350" b="1">
                <a:solidFill>
                  <a:srgbClr val="0B1B2E"/>
                </a:solidFill>
                <a:latin typeface="Calibri"/>
                <a:ea typeface="Calibri"/>
                <a:cs typeface="Calibri"/>
              </a:rPr>
              <a:t>Keyword / generic AI</a:t>
            </a:r>
          </a:p>
        </p:txBody>
      </p:sp>
      <p:sp>
        <p:nvSpPr>
          <p:cNvPr id="13" name="Shape 11">
            <a:extLst>
              <a:ext uri="{FF2B5EF4-FFF2-40B4-BE49-F238E27FC236}">
                <a16:creationId xmlns:a16="http://schemas.microsoft.com/office/drawing/2014/main" id="{6C7C72C7-2601-4D4C-AA80-C1130EB81AC7}"/>
              </a:ext>
            </a:extLst>
          </p:cNvPr>
          <p:cNvSpPr>
            <a:spLocks noGrp="1"/>
          </p:cNvSpPr>
          <p:nvPr/>
        </p:nvSpPr>
        <p:spPr>
          <a:xfrm>
            <a:off x="2474976" y="2724912"/>
            <a:ext cx="1149096" cy="0"/>
          </a:xfrm>
          <a:prstGeom prst="line">
            <a:avLst/>
          </a:prstGeom>
          <a:noFill/>
          <a:ln w="12700">
            <a:solidFill>
              <a:srgbClr val="E3E9F0"/>
            </a:solidFill>
            <a:prstDash val="solid"/>
          </a:ln>
        </p:spPr>
        <p:txBody>
          <a:bodyPr/>
          <a:lstStyle/>
          <a:p>
            <a:endParaRPr/>
          </a:p>
        </p:txBody>
      </p:sp>
      <p:sp>
        <p:nvSpPr>
          <p:cNvPr id="14" name="Text 12">
            <a:extLst>
              <a:ext uri="{FF2B5EF4-FFF2-40B4-BE49-F238E27FC236}">
                <a16:creationId xmlns:a16="http://schemas.microsoft.com/office/drawing/2014/main" id="{A44B606D-961A-48D9-9771-691ADC889637}"/>
              </a:ext>
            </a:extLst>
          </p:cNvPr>
          <p:cNvSpPr>
            <a:spLocks noGrp="1"/>
          </p:cNvSpPr>
          <p:nvPr/>
        </p:nvSpPr>
        <p:spPr>
          <a:xfrm>
            <a:off x="2474976" y="2852928"/>
            <a:ext cx="1213104" cy="1587500"/>
          </a:xfrm>
          <a:prstGeom prst="rect">
            <a:avLst/>
          </a:prstGeom>
          <a:noFill/>
        </p:spPr>
        <p:txBody>
          <a:bodyPr wrap="square" lIns="0" tIns="0" rIns="0" bIns="0" anchor="t"/>
          <a:lstStyle/>
          <a:p>
            <a:pPr marL="0" indent="0">
              <a:lnSpc>
                <a:spcPts val="1500"/>
              </a:lnSpc>
              <a:buNone/>
            </a:pPr>
            <a:r>
              <a:rPr lang="en-US" sz="1150">
                <a:solidFill>
                  <a:srgbClr val="0B2340"/>
                </a:solidFill>
                <a:latin typeface="Calibri"/>
                <a:ea typeface="Calibri"/>
                <a:cs typeface="Calibri"/>
              </a:rPr>
              <a:t>Finds text, not current terms
Weak provenance
Limited enterprise control</a:t>
            </a:r>
            <a:endParaRPr sz="1150">
              <a:solidFill>
                <a:srgbClr val="0B2340"/>
              </a:solidFill>
              <a:latin typeface="Calibri"/>
              <a:ea typeface="Calibri"/>
              <a:cs typeface="Calibri"/>
            </a:endParaRPr>
          </a:p>
        </p:txBody>
      </p:sp>
      <p:sp>
        <p:nvSpPr>
          <p:cNvPr id="15" name="Text 13">
            <a:extLst>
              <a:ext uri="{FF2B5EF4-FFF2-40B4-BE49-F238E27FC236}">
                <a16:creationId xmlns:a16="http://schemas.microsoft.com/office/drawing/2014/main" id="{DAD7118B-B3EA-4529-BF6D-48CF67D538B4}"/>
              </a:ext>
            </a:extLst>
          </p:cNvPr>
          <p:cNvSpPr>
            <a:spLocks noGrp="1"/>
          </p:cNvSpPr>
          <p:nvPr/>
        </p:nvSpPr>
        <p:spPr>
          <a:xfrm>
            <a:off x="2474976" y="4572000"/>
            <a:ext cx="1213104" cy="274320"/>
          </a:xfrm>
          <a:prstGeom prst="rect">
            <a:avLst/>
          </a:prstGeom>
          <a:noFill/>
        </p:spPr>
        <p:txBody>
          <a:bodyPr wrap="square" lIns="0" tIns="0" rIns="0" bIns="0" anchor="ctr"/>
          <a:lstStyle/>
          <a:p>
            <a:pPr marL="0" indent="0">
              <a:buNone/>
            </a:pPr>
            <a:r>
              <a:rPr lang="en-IN" sz="950" b="1">
                <a:solidFill>
                  <a:srgbClr val="F56749"/>
                </a:solidFill>
                <a:latin typeface="Calibri"/>
                <a:ea typeface="Calibri"/>
                <a:cs typeface="Calibri"/>
              </a:rPr>
              <a:t>NOT TRUSTWORTHY</a:t>
            </a:r>
            <a:endParaRPr sz="950" b="1">
              <a:solidFill>
                <a:srgbClr val="F56749"/>
              </a:solidFill>
              <a:latin typeface="Calibri"/>
              <a:ea typeface="Calibri"/>
              <a:cs typeface="Calibri"/>
            </a:endParaRPr>
          </a:p>
        </p:txBody>
      </p:sp>
      <p:sp>
        <p:nvSpPr>
          <p:cNvPr id="16" name="Shape 14">
            <a:extLst>
              <a:ext uri="{FF2B5EF4-FFF2-40B4-BE49-F238E27FC236}">
                <a16:creationId xmlns:a16="http://schemas.microsoft.com/office/drawing/2014/main" id="{201EA8F8-B210-4713-BF12-A8652F0E09D2}"/>
              </a:ext>
            </a:extLst>
          </p:cNvPr>
          <p:cNvSpPr>
            <a:spLocks noGrp="1"/>
          </p:cNvSpPr>
          <p:nvPr/>
        </p:nvSpPr>
        <p:spPr>
          <a:xfrm>
            <a:off x="3962400" y="1920240"/>
            <a:ext cx="1560576" cy="3108960"/>
          </a:xfrm>
          <a:prstGeom prst="rect">
            <a:avLst/>
          </a:prstGeom>
          <a:solidFill>
            <a:srgbClr val="F2F6F9"/>
          </a:solidFill>
          <a:effectLst>
            <a:outerShdw blurRad="101600" dist="25400" dir="8100000" algn="bl" rotWithShape="0">
              <a:srgbClr val="1E293B">
                <a:alpha val="11000"/>
              </a:srgbClr>
            </a:outerShdw>
          </a:effectLst>
        </p:spPr>
        <p:txBody>
          <a:bodyPr/>
          <a:lstStyle/>
          <a:p>
            <a:endParaRPr/>
          </a:p>
        </p:txBody>
      </p:sp>
      <p:sp>
        <p:nvSpPr>
          <p:cNvPr id="17" name="Shape 15">
            <a:extLst>
              <a:ext uri="{FF2B5EF4-FFF2-40B4-BE49-F238E27FC236}">
                <a16:creationId xmlns:a16="http://schemas.microsoft.com/office/drawing/2014/main" id="{B8A821EC-2F44-4F69-B358-C9A1D67E14B3}"/>
              </a:ext>
            </a:extLst>
          </p:cNvPr>
          <p:cNvSpPr>
            <a:spLocks noGrp="1"/>
          </p:cNvSpPr>
          <p:nvPr/>
        </p:nvSpPr>
        <p:spPr>
          <a:xfrm>
            <a:off x="3962400" y="1920240"/>
            <a:ext cx="82296" cy="3108960"/>
          </a:xfrm>
          <a:prstGeom prst="rect">
            <a:avLst/>
          </a:prstGeom>
          <a:solidFill>
            <a:srgbClr val="64748B"/>
          </a:solidFill>
        </p:spPr>
        <p:txBody>
          <a:bodyPr/>
          <a:lstStyle/>
          <a:p>
            <a:endParaRPr/>
          </a:p>
        </p:txBody>
      </p:sp>
      <p:sp>
        <p:nvSpPr>
          <p:cNvPr id="18" name="Text 16">
            <a:extLst>
              <a:ext uri="{FF2B5EF4-FFF2-40B4-BE49-F238E27FC236}">
                <a16:creationId xmlns:a16="http://schemas.microsoft.com/office/drawing/2014/main" id="{93EF6B04-49B3-4640-96E7-6E6F7FB88A37}"/>
              </a:ext>
            </a:extLst>
          </p:cNvPr>
          <p:cNvSpPr>
            <a:spLocks noGrp="1"/>
          </p:cNvSpPr>
          <p:nvPr/>
        </p:nvSpPr>
        <p:spPr>
          <a:xfrm>
            <a:off x="4181856" y="2084832"/>
            <a:ext cx="1213104" cy="594360"/>
          </a:xfrm>
          <a:prstGeom prst="rect">
            <a:avLst/>
          </a:prstGeom>
          <a:noFill/>
        </p:spPr>
        <p:txBody>
          <a:bodyPr wrap="square" lIns="0" tIns="0" rIns="0" bIns="0" anchor="ctr"/>
          <a:lstStyle/>
          <a:p>
            <a:pPr marL="0" indent="0">
              <a:lnSpc>
                <a:spcPts val="1600"/>
              </a:lnSpc>
              <a:buNone/>
            </a:pPr>
            <a:r>
              <a:rPr sz="1350" b="1">
                <a:solidFill>
                  <a:srgbClr val="0B1B2E"/>
                </a:solidFill>
                <a:latin typeface="Calibri"/>
                <a:ea typeface="Calibri"/>
                <a:cs typeface="Calibri"/>
              </a:rPr>
              <a:t>Traditional CLM</a:t>
            </a:r>
          </a:p>
        </p:txBody>
      </p:sp>
      <p:sp>
        <p:nvSpPr>
          <p:cNvPr id="19" name="Shape 17">
            <a:extLst>
              <a:ext uri="{FF2B5EF4-FFF2-40B4-BE49-F238E27FC236}">
                <a16:creationId xmlns:a16="http://schemas.microsoft.com/office/drawing/2014/main" id="{F060EB6C-0023-4D08-A17D-B150E28F22D7}"/>
              </a:ext>
            </a:extLst>
          </p:cNvPr>
          <p:cNvSpPr>
            <a:spLocks noGrp="1"/>
          </p:cNvSpPr>
          <p:nvPr/>
        </p:nvSpPr>
        <p:spPr>
          <a:xfrm>
            <a:off x="4181856" y="2724912"/>
            <a:ext cx="1149096" cy="0"/>
          </a:xfrm>
          <a:prstGeom prst="line">
            <a:avLst/>
          </a:prstGeom>
          <a:noFill/>
          <a:ln w="12700">
            <a:solidFill>
              <a:srgbClr val="E3E9F0"/>
            </a:solidFill>
            <a:prstDash val="solid"/>
          </a:ln>
        </p:spPr>
        <p:txBody>
          <a:bodyPr/>
          <a:lstStyle/>
          <a:p>
            <a:endParaRPr/>
          </a:p>
        </p:txBody>
      </p:sp>
      <p:sp>
        <p:nvSpPr>
          <p:cNvPr id="20" name="Text 18">
            <a:extLst>
              <a:ext uri="{FF2B5EF4-FFF2-40B4-BE49-F238E27FC236}">
                <a16:creationId xmlns:a16="http://schemas.microsoft.com/office/drawing/2014/main" id="{5765F8A0-42D2-4293-929B-B8B7571567E3}"/>
              </a:ext>
            </a:extLst>
          </p:cNvPr>
          <p:cNvSpPr>
            <a:spLocks noGrp="1"/>
          </p:cNvSpPr>
          <p:nvPr/>
        </p:nvSpPr>
        <p:spPr>
          <a:xfrm>
            <a:off x="4181856" y="2852928"/>
            <a:ext cx="1213104" cy="1587500"/>
          </a:xfrm>
          <a:prstGeom prst="rect">
            <a:avLst/>
          </a:prstGeom>
          <a:noFill/>
        </p:spPr>
        <p:txBody>
          <a:bodyPr wrap="square" lIns="0" tIns="0" rIns="0" bIns="0" anchor="t"/>
          <a:lstStyle/>
          <a:p>
            <a:pPr marL="0" indent="0">
              <a:lnSpc>
                <a:spcPts val="1500"/>
              </a:lnSpc>
              <a:buNone/>
            </a:pPr>
            <a:r>
              <a:rPr lang="en-US" sz="1150">
                <a:solidFill>
                  <a:srgbClr val="0B2340"/>
                </a:solidFill>
                <a:latin typeface="Calibri"/>
                <a:ea typeface="Calibri"/>
                <a:cs typeface="Calibri"/>
              </a:rPr>
              <a:t>Optimized for authoring
Not historical extraction
Limited portfolio analytics</a:t>
            </a:r>
            <a:endParaRPr sz="1150">
              <a:solidFill>
                <a:srgbClr val="0B2340"/>
              </a:solidFill>
              <a:latin typeface="Calibri"/>
              <a:ea typeface="Calibri"/>
              <a:cs typeface="Calibri"/>
            </a:endParaRPr>
          </a:p>
        </p:txBody>
      </p:sp>
      <p:sp>
        <p:nvSpPr>
          <p:cNvPr id="21" name="Text 19">
            <a:extLst>
              <a:ext uri="{FF2B5EF4-FFF2-40B4-BE49-F238E27FC236}">
                <a16:creationId xmlns:a16="http://schemas.microsoft.com/office/drawing/2014/main" id="{E35B0EC4-679C-43DD-8995-36066F229E6C}"/>
              </a:ext>
            </a:extLst>
          </p:cNvPr>
          <p:cNvSpPr>
            <a:spLocks noGrp="1"/>
          </p:cNvSpPr>
          <p:nvPr/>
        </p:nvSpPr>
        <p:spPr>
          <a:xfrm>
            <a:off x="4181856" y="4572000"/>
            <a:ext cx="1213104" cy="274320"/>
          </a:xfrm>
          <a:prstGeom prst="rect">
            <a:avLst/>
          </a:prstGeom>
          <a:noFill/>
        </p:spPr>
        <p:txBody>
          <a:bodyPr wrap="square" lIns="0" tIns="0" rIns="0" bIns="0" anchor="ctr"/>
          <a:lstStyle/>
          <a:p>
            <a:pPr marL="0" indent="0">
              <a:buNone/>
            </a:pPr>
            <a:r>
              <a:rPr lang="en-IN" sz="950" b="1">
                <a:solidFill>
                  <a:srgbClr val="F56749"/>
                </a:solidFill>
                <a:latin typeface="Calibri"/>
                <a:ea typeface="Calibri"/>
                <a:cs typeface="Calibri"/>
              </a:rPr>
              <a:t>NOT FIT FOR PURPOSE</a:t>
            </a:r>
            <a:endParaRPr sz="950" b="1">
              <a:solidFill>
                <a:srgbClr val="F56749"/>
              </a:solidFill>
              <a:latin typeface="Calibri"/>
              <a:ea typeface="Calibri"/>
              <a:cs typeface="Calibri"/>
            </a:endParaRPr>
          </a:p>
        </p:txBody>
      </p:sp>
      <p:sp>
        <p:nvSpPr>
          <p:cNvPr id="22" name="Shape 20">
            <a:extLst>
              <a:ext uri="{FF2B5EF4-FFF2-40B4-BE49-F238E27FC236}">
                <a16:creationId xmlns:a16="http://schemas.microsoft.com/office/drawing/2014/main" id="{0156BFB6-D1D0-4E05-81E8-4381E7A4FA81}"/>
              </a:ext>
            </a:extLst>
          </p:cNvPr>
          <p:cNvSpPr>
            <a:spLocks noGrp="1"/>
          </p:cNvSpPr>
          <p:nvPr/>
        </p:nvSpPr>
        <p:spPr>
          <a:xfrm>
            <a:off x="6035040" y="1920240"/>
            <a:ext cx="5608015" cy="1078992"/>
          </a:xfrm>
          <a:prstGeom prst="rect">
            <a:avLst/>
          </a:prstGeom>
          <a:solidFill>
            <a:srgbClr val="F8FAFC"/>
          </a:solidFill>
          <a:ln w="12700">
            <a:solidFill>
              <a:srgbClr val="E3E9F0"/>
            </a:solidFill>
            <a:prstDash val="solid"/>
          </a:ln>
          <a:effectLst>
            <a:outerShdw blurRad="101600" dist="25400" dir="8100000" algn="bl" rotWithShape="0">
              <a:srgbClr val="1E293B">
                <a:alpha val="11000"/>
              </a:srgbClr>
            </a:outerShdw>
          </a:effectLst>
        </p:spPr>
        <p:txBody>
          <a:bodyPr/>
          <a:lstStyle/>
          <a:p>
            <a:endParaRPr/>
          </a:p>
        </p:txBody>
      </p:sp>
      <p:sp>
        <p:nvSpPr>
          <p:cNvPr id="23" name="Shape 21">
            <a:extLst>
              <a:ext uri="{FF2B5EF4-FFF2-40B4-BE49-F238E27FC236}">
                <a16:creationId xmlns:a16="http://schemas.microsoft.com/office/drawing/2014/main" id="{9863DDB4-55FF-4B65-A97C-72C236BD855B}"/>
              </a:ext>
            </a:extLst>
          </p:cNvPr>
          <p:cNvSpPr>
            <a:spLocks noGrp="1"/>
          </p:cNvSpPr>
          <p:nvPr/>
        </p:nvSpPr>
        <p:spPr>
          <a:xfrm>
            <a:off x="6035040" y="1920240"/>
            <a:ext cx="5608015" cy="73152"/>
          </a:xfrm>
          <a:prstGeom prst="rect">
            <a:avLst/>
          </a:prstGeom>
          <a:solidFill>
            <a:srgbClr val="64748B"/>
          </a:solidFill>
        </p:spPr>
        <p:txBody>
          <a:bodyPr/>
          <a:lstStyle/>
          <a:p>
            <a:endParaRPr/>
          </a:p>
        </p:txBody>
      </p:sp>
      <p:sp>
        <p:nvSpPr>
          <p:cNvPr id="24" name="Text 22">
            <a:extLst>
              <a:ext uri="{FF2B5EF4-FFF2-40B4-BE49-F238E27FC236}">
                <a16:creationId xmlns:a16="http://schemas.microsoft.com/office/drawing/2014/main" id="{3E5FC81C-BF62-4864-9B4B-6D8700B7188F}"/>
              </a:ext>
            </a:extLst>
          </p:cNvPr>
          <p:cNvSpPr>
            <a:spLocks noGrp="1"/>
          </p:cNvSpPr>
          <p:nvPr/>
        </p:nvSpPr>
        <p:spPr>
          <a:xfrm>
            <a:off x="6291072" y="2103120"/>
            <a:ext cx="5196535" cy="274320"/>
          </a:xfrm>
          <a:prstGeom prst="rect">
            <a:avLst/>
          </a:prstGeom>
          <a:noFill/>
        </p:spPr>
        <p:txBody>
          <a:bodyPr wrap="square" lIns="0" tIns="0" rIns="0" bIns="0" anchor="ctr"/>
          <a:lstStyle/>
          <a:p>
            <a:pPr marL="0" indent="0">
              <a:buNone/>
            </a:pPr>
            <a:r>
              <a:rPr sz="1000" b="1">
                <a:solidFill>
                  <a:srgbClr val="0F766E"/>
                </a:solidFill>
                <a:latin typeface="Calibri"/>
                <a:ea typeface="Calibri"/>
                <a:cs typeface="Calibri"/>
              </a:rPr>
              <a:t>DOCUMENT ESTATE</a:t>
            </a:r>
          </a:p>
        </p:txBody>
      </p:sp>
      <p:sp>
        <p:nvSpPr>
          <p:cNvPr id="25" name="Text 23">
            <a:extLst>
              <a:ext uri="{FF2B5EF4-FFF2-40B4-BE49-F238E27FC236}">
                <a16:creationId xmlns:a16="http://schemas.microsoft.com/office/drawing/2014/main" id="{8A883047-B029-4852-AD69-0B288594079D}"/>
              </a:ext>
            </a:extLst>
          </p:cNvPr>
          <p:cNvSpPr>
            <a:spLocks noGrp="1"/>
          </p:cNvSpPr>
          <p:nvPr/>
        </p:nvSpPr>
        <p:spPr>
          <a:xfrm>
            <a:off x="6291072" y="2395728"/>
            <a:ext cx="5196535" cy="548640"/>
          </a:xfrm>
          <a:prstGeom prst="rect">
            <a:avLst/>
          </a:prstGeom>
          <a:noFill/>
        </p:spPr>
        <p:txBody>
          <a:bodyPr wrap="square" lIns="0" tIns="0" rIns="0" bIns="0" anchor="t"/>
          <a:lstStyle/>
          <a:p>
            <a:pPr marL="0" indent="0">
              <a:lnSpc>
                <a:spcPts val="1450"/>
              </a:lnSpc>
              <a:buNone/>
            </a:pPr>
            <a:r>
              <a:rPr sz="1100">
                <a:solidFill>
                  <a:srgbClr val="33415A"/>
                </a:solidFill>
                <a:latin typeface="Calibri"/>
                <a:ea typeface="Calibri"/>
                <a:cs typeface="Calibri"/>
              </a:rPr>
              <a:t>Contracts, exhibits and amendments create a fragmented evidence base.</a:t>
            </a:r>
          </a:p>
        </p:txBody>
      </p:sp>
      <p:sp>
        <p:nvSpPr>
          <p:cNvPr id="26" name="Shape 24">
            <a:extLst>
              <a:ext uri="{FF2B5EF4-FFF2-40B4-BE49-F238E27FC236}">
                <a16:creationId xmlns:a16="http://schemas.microsoft.com/office/drawing/2014/main" id="{333D9D82-7D21-4924-B6B1-3267F342052C}"/>
              </a:ext>
            </a:extLst>
          </p:cNvPr>
          <p:cNvSpPr>
            <a:spLocks noGrp="1"/>
          </p:cNvSpPr>
          <p:nvPr/>
        </p:nvSpPr>
        <p:spPr>
          <a:xfrm>
            <a:off x="8839048" y="3017520"/>
            <a:ext cx="0" cy="201168"/>
          </a:xfrm>
          <a:prstGeom prst="line">
            <a:avLst/>
          </a:prstGeom>
          <a:noFill/>
          <a:ln w="22860">
            <a:solidFill>
              <a:srgbClr val="0F766E"/>
            </a:solidFill>
            <a:prstDash val="solid"/>
            <a:tailEnd type="triangle"/>
          </a:ln>
        </p:spPr>
        <p:txBody>
          <a:bodyPr/>
          <a:lstStyle/>
          <a:p>
            <a:endParaRPr/>
          </a:p>
        </p:txBody>
      </p:sp>
      <p:sp>
        <p:nvSpPr>
          <p:cNvPr id="27" name="Shape 25">
            <a:extLst>
              <a:ext uri="{FF2B5EF4-FFF2-40B4-BE49-F238E27FC236}">
                <a16:creationId xmlns:a16="http://schemas.microsoft.com/office/drawing/2014/main" id="{8D9F895A-2C73-4853-9ACA-44DB21E4C83A}"/>
              </a:ext>
            </a:extLst>
          </p:cNvPr>
          <p:cNvSpPr>
            <a:spLocks noGrp="1"/>
          </p:cNvSpPr>
          <p:nvPr/>
        </p:nvSpPr>
        <p:spPr>
          <a:xfrm>
            <a:off x="6035040" y="3227832"/>
            <a:ext cx="5608015" cy="1078992"/>
          </a:xfrm>
          <a:prstGeom prst="rect">
            <a:avLst/>
          </a:prstGeom>
          <a:solidFill>
            <a:srgbClr val="F8FAFC"/>
          </a:solidFill>
          <a:ln w="12700">
            <a:solidFill>
              <a:srgbClr val="E3E9F0"/>
            </a:solidFill>
            <a:prstDash val="solid"/>
          </a:ln>
          <a:effectLst>
            <a:outerShdw blurRad="101600" dist="25400" dir="8100000" algn="bl" rotWithShape="0">
              <a:srgbClr val="1E293B">
                <a:alpha val="11000"/>
              </a:srgbClr>
            </a:outerShdw>
          </a:effectLst>
        </p:spPr>
        <p:txBody>
          <a:bodyPr/>
          <a:lstStyle/>
          <a:p>
            <a:endParaRPr/>
          </a:p>
        </p:txBody>
      </p:sp>
      <p:sp>
        <p:nvSpPr>
          <p:cNvPr id="28" name="Shape 26">
            <a:extLst>
              <a:ext uri="{FF2B5EF4-FFF2-40B4-BE49-F238E27FC236}">
                <a16:creationId xmlns:a16="http://schemas.microsoft.com/office/drawing/2014/main" id="{D05824A9-3F89-4E79-9ACC-AD424F51CB7E}"/>
              </a:ext>
            </a:extLst>
          </p:cNvPr>
          <p:cNvSpPr>
            <a:spLocks noGrp="1"/>
          </p:cNvSpPr>
          <p:nvPr/>
        </p:nvSpPr>
        <p:spPr>
          <a:xfrm>
            <a:off x="6035040" y="3227832"/>
            <a:ext cx="5608015" cy="73152"/>
          </a:xfrm>
          <a:prstGeom prst="rect">
            <a:avLst/>
          </a:prstGeom>
          <a:solidFill>
            <a:srgbClr val="14B8A6"/>
          </a:solidFill>
        </p:spPr>
        <p:txBody>
          <a:bodyPr/>
          <a:lstStyle/>
          <a:p>
            <a:endParaRPr/>
          </a:p>
        </p:txBody>
      </p:sp>
      <p:sp>
        <p:nvSpPr>
          <p:cNvPr id="29" name="Text 27">
            <a:extLst>
              <a:ext uri="{FF2B5EF4-FFF2-40B4-BE49-F238E27FC236}">
                <a16:creationId xmlns:a16="http://schemas.microsoft.com/office/drawing/2014/main" id="{FF3A8D45-C35F-43BF-B931-D5B9D348E10D}"/>
              </a:ext>
            </a:extLst>
          </p:cNvPr>
          <p:cNvSpPr>
            <a:spLocks noGrp="1"/>
          </p:cNvSpPr>
          <p:nvPr/>
        </p:nvSpPr>
        <p:spPr>
          <a:xfrm>
            <a:off x="6291072" y="3410712"/>
            <a:ext cx="5196535" cy="274320"/>
          </a:xfrm>
          <a:prstGeom prst="rect">
            <a:avLst/>
          </a:prstGeom>
          <a:noFill/>
        </p:spPr>
        <p:txBody>
          <a:bodyPr wrap="square" lIns="0" tIns="0" rIns="0" bIns="0" anchor="ctr"/>
          <a:lstStyle/>
          <a:p>
            <a:pPr marL="0" indent="0">
              <a:buNone/>
            </a:pPr>
            <a:r>
              <a:rPr sz="1000" b="1">
                <a:solidFill>
                  <a:srgbClr val="0F766E"/>
                </a:solidFill>
                <a:latin typeface="Calibri"/>
                <a:ea typeface="Calibri"/>
                <a:cs typeface="Calibri"/>
              </a:rPr>
              <a:t>STRUCTURED &amp; GOVERNED</a:t>
            </a:r>
          </a:p>
        </p:txBody>
      </p:sp>
      <p:sp>
        <p:nvSpPr>
          <p:cNvPr id="30" name="Text 28">
            <a:extLst>
              <a:ext uri="{FF2B5EF4-FFF2-40B4-BE49-F238E27FC236}">
                <a16:creationId xmlns:a16="http://schemas.microsoft.com/office/drawing/2014/main" id="{F94FC7AB-5C88-4152-B164-6F1FF19A0333}"/>
              </a:ext>
            </a:extLst>
          </p:cNvPr>
          <p:cNvSpPr>
            <a:spLocks noGrp="1"/>
          </p:cNvSpPr>
          <p:nvPr/>
        </p:nvSpPr>
        <p:spPr>
          <a:xfrm>
            <a:off x="6291072" y="3703320"/>
            <a:ext cx="5196535" cy="548640"/>
          </a:xfrm>
          <a:prstGeom prst="rect">
            <a:avLst/>
          </a:prstGeom>
          <a:noFill/>
        </p:spPr>
        <p:txBody>
          <a:bodyPr wrap="square" lIns="0" tIns="0" rIns="0" bIns="0" anchor="t"/>
          <a:lstStyle/>
          <a:p>
            <a:pPr marL="0" indent="0">
              <a:lnSpc>
                <a:spcPts val="1450"/>
              </a:lnSpc>
              <a:buNone/>
            </a:pPr>
            <a:r>
              <a:rPr sz="1100">
                <a:solidFill>
                  <a:srgbClr val="33415A"/>
                </a:solidFill>
                <a:latin typeface="Calibri"/>
                <a:ea typeface="Calibri"/>
                <a:cs typeface="Calibri"/>
              </a:rPr>
              <a:t>Contract terms, rates, entities and lineage are organized in governed data products.</a:t>
            </a:r>
          </a:p>
        </p:txBody>
      </p:sp>
      <p:sp>
        <p:nvSpPr>
          <p:cNvPr id="31" name="Shape 29">
            <a:extLst>
              <a:ext uri="{FF2B5EF4-FFF2-40B4-BE49-F238E27FC236}">
                <a16:creationId xmlns:a16="http://schemas.microsoft.com/office/drawing/2014/main" id="{4A13A082-18FF-4C6C-9E94-E0E6C59DFC0B}"/>
              </a:ext>
            </a:extLst>
          </p:cNvPr>
          <p:cNvSpPr>
            <a:spLocks noGrp="1"/>
          </p:cNvSpPr>
          <p:nvPr/>
        </p:nvSpPr>
        <p:spPr>
          <a:xfrm>
            <a:off x="8839048" y="4325112"/>
            <a:ext cx="0" cy="201168"/>
          </a:xfrm>
          <a:prstGeom prst="line">
            <a:avLst/>
          </a:prstGeom>
          <a:noFill/>
          <a:ln w="22860">
            <a:solidFill>
              <a:srgbClr val="0F766E"/>
            </a:solidFill>
            <a:prstDash val="solid"/>
            <a:tailEnd type="triangle"/>
          </a:ln>
        </p:spPr>
        <p:txBody>
          <a:bodyPr/>
          <a:lstStyle/>
          <a:p>
            <a:endParaRPr/>
          </a:p>
        </p:txBody>
      </p:sp>
      <p:sp>
        <p:nvSpPr>
          <p:cNvPr id="32" name="Shape 30">
            <a:extLst>
              <a:ext uri="{FF2B5EF4-FFF2-40B4-BE49-F238E27FC236}">
                <a16:creationId xmlns:a16="http://schemas.microsoft.com/office/drawing/2014/main" id="{B7565B21-14A9-486F-837F-8376F249797E}"/>
              </a:ext>
            </a:extLst>
          </p:cNvPr>
          <p:cNvSpPr>
            <a:spLocks noGrp="1"/>
          </p:cNvSpPr>
          <p:nvPr/>
        </p:nvSpPr>
        <p:spPr>
          <a:xfrm>
            <a:off x="6035040" y="4535424"/>
            <a:ext cx="5608015" cy="1016000"/>
          </a:xfrm>
          <a:prstGeom prst="rect">
            <a:avLst/>
          </a:prstGeom>
          <a:solidFill>
            <a:srgbClr val="0B1B2E"/>
          </a:solidFill>
          <a:ln w="12700">
            <a:solidFill>
              <a:srgbClr val="0B1B2E"/>
            </a:solidFill>
            <a:prstDash val="solid"/>
          </a:ln>
          <a:effectLst>
            <a:outerShdw blurRad="177800" dist="50800" dir="8100000" algn="bl" rotWithShape="0">
              <a:srgbClr val="000000">
                <a:alpha val="22000"/>
              </a:srgbClr>
            </a:outerShdw>
          </a:effectLst>
        </p:spPr>
        <p:txBody>
          <a:bodyPr/>
          <a:lstStyle/>
          <a:p>
            <a:endParaRPr/>
          </a:p>
        </p:txBody>
      </p:sp>
      <p:sp>
        <p:nvSpPr>
          <p:cNvPr id="33" name="Shape 31">
            <a:extLst>
              <a:ext uri="{FF2B5EF4-FFF2-40B4-BE49-F238E27FC236}">
                <a16:creationId xmlns:a16="http://schemas.microsoft.com/office/drawing/2014/main" id="{D44015BA-7F84-4CBF-8168-3E43EE17326D}"/>
              </a:ext>
            </a:extLst>
          </p:cNvPr>
          <p:cNvSpPr>
            <a:spLocks noGrp="1"/>
          </p:cNvSpPr>
          <p:nvPr/>
        </p:nvSpPr>
        <p:spPr>
          <a:xfrm>
            <a:off x="6035040" y="4535424"/>
            <a:ext cx="5608015" cy="73152"/>
          </a:xfrm>
          <a:prstGeom prst="rect">
            <a:avLst/>
          </a:prstGeom>
          <a:solidFill>
            <a:srgbClr val="F26A4B"/>
          </a:solidFill>
        </p:spPr>
        <p:txBody>
          <a:bodyPr/>
          <a:lstStyle/>
          <a:p>
            <a:endParaRPr/>
          </a:p>
        </p:txBody>
      </p:sp>
      <p:sp>
        <p:nvSpPr>
          <p:cNvPr id="34" name="Text 32">
            <a:extLst>
              <a:ext uri="{FF2B5EF4-FFF2-40B4-BE49-F238E27FC236}">
                <a16:creationId xmlns:a16="http://schemas.microsoft.com/office/drawing/2014/main" id="{0849DD22-6BED-4E4C-A7E6-4FF924347C33}"/>
              </a:ext>
            </a:extLst>
          </p:cNvPr>
          <p:cNvSpPr>
            <a:spLocks noGrp="1"/>
          </p:cNvSpPr>
          <p:nvPr/>
        </p:nvSpPr>
        <p:spPr>
          <a:xfrm>
            <a:off x="6291072" y="4718304"/>
            <a:ext cx="5196535" cy="274320"/>
          </a:xfrm>
          <a:prstGeom prst="rect">
            <a:avLst/>
          </a:prstGeom>
          <a:noFill/>
        </p:spPr>
        <p:txBody>
          <a:bodyPr wrap="square" lIns="0" tIns="0" rIns="0" bIns="0" anchor="ctr"/>
          <a:lstStyle/>
          <a:p>
            <a:pPr marL="0" indent="0">
              <a:buNone/>
            </a:pPr>
            <a:r>
              <a:rPr sz="1000" b="1">
                <a:solidFill>
                  <a:srgbClr val="F26A4B"/>
                </a:solidFill>
                <a:latin typeface="Calibri"/>
                <a:ea typeface="Calibri"/>
                <a:cs typeface="Calibri"/>
              </a:rPr>
              <a:t>ASKABLE</a:t>
            </a:r>
          </a:p>
        </p:txBody>
      </p:sp>
      <p:sp>
        <p:nvSpPr>
          <p:cNvPr id="35" name="Text 33">
            <a:extLst>
              <a:ext uri="{FF2B5EF4-FFF2-40B4-BE49-F238E27FC236}">
                <a16:creationId xmlns:a16="http://schemas.microsoft.com/office/drawing/2014/main" id="{05030ABC-2107-4009-A8CC-93AE3D79F085}"/>
              </a:ext>
            </a:extLst>
          </p:cNvPr>
          <p:cNvSpPr>
            <a:spLocks noGrp="1"/>
          </p:cNvSpPr>
          <p:nvPr/>
        </p:nvSpPr>
        <p:spPr>
          <a:xfrm>
            <a:off x="6291072" y="5010912"/>
            <a:ext cx="5196535" cy="548640"/>
          </a:xfrm>
          <a:prstGeom prst="rect">
            <a:avLst/>
          </a:prstGeom>
          <a:noFill/>
        </p:spPr>
        <p:txBody>
          <a:bodyPr wrap="square" lIns="0" tIns="0" rIns="0" bIns="0" anchor="t"/>
          <a:lstStyle/>
          <a:p>
            <a:pPr marL="0" indent="0">
              <a:lnSpc>
                <a:spcPts val="1450"/>
              </a:lnSpc>
              <a:buNone/>
            </a:pPr>
            <a:r>
              <a:rPr sz="1100">
                <a:solidFill>
                  <a:srgbClr val="FFFFFF"/>
                </a:solidFill>
                <a:latin typeface="Calibri"/>
                <a:ea typeface="Calibri"/>
                <a:cs typeface="Calibri"/>
              </a:rPr>
              <a:t>Plain-language questions return evidence-linked answers with confidence signals.</a:t>
            </a:r>
          </a:p>
        </p:txBody>
      </p:sp>
      <p:sp>
        <p:nvSpPr>
          <p:cNvPr id="36" name="Shape 34">
            <a:extLst>
              <a:ext uri="{FF2B5EF4-FFF2-40B4-BE49-F238E27FC236}">
                <a16:creationId xmlns:a16="http://schemas.microsoft.com/office/drawing/2014/main" id="{9F33D805-29A0-44BD-ABE5-B445D64138E4}"/>
              </a:ext>
            </a:extLst>
          </p:cNvPr>
          <p:cNvSpPr>
            <a:spLocks noGrp="1"/>
          </p:cNvSpPr>
          <p:nvPr/>
        </p:nvSpPr>
        <p:spPr>
          <a:xfrm>
            <a:off x="548640" y="5651500"/>
            <a:ext cx="11094415" cy="698500"/>
          </a:xfrm>
          <a:prstGeom prst="rect">
            <a:avLst/>
          </a:prstGeom>
          <a:solidFill>
            <a:srgbClr val="E7F6F4"/>
          </a:solidFill>
        </p:spPr>
        <p:txBody>
          <a:bodyPr/>
          <a:lstStyle/>
          <a:p>
            <a:endParaRPr/>
          </a:p>
        </p:txBody>
      </p:sp>
      <p:sp>
        <p:nvSpPr>
          <p:cNvPr id="37" name="Shape 35">
            <a:extLst>
              <a:ext uri="{FF2B5EF4-FFF2-40B4-BE49-F238E27FC236}">
                <a16:creationId xmlns:a16="http://schemas.microsoft.com/office/drawing/2014/main" id="{61043747-22E3-4A02-B8F8-7B0D106E16C7}"/>
              </a:ext>
            </a:extLst>
          </p:cNvPr>
          <p:cNvSpPr>
            <a:spLocks noGrp="1"/>
          </p:cNvSpPr>
          <p:nvPr/>
        </p:nvSpPr>
        <p:spPr>
          <a:xfrm>
            <a:off x="548640" y="5651500"/>
            <a:ext cx="82296" cy="698500"/>
          </a:xfrm>
          <a:prstGeom prst="rect">
            <a:avLst/>
          </a:prstGeom>
          <a:solidFill>
            <a:srgbClr val="0F766E"/>
          </a:solidFill>
        </p:spPr>
        <p:txBody>
          <a:bodyPr/>
          <a:lstStyle/>
          <a:p>
            <a:endParaRPr/>
          </a:p>
        </p:txBody>
      </p:sp>
      <p:sp>
        <p:nvSpPr>
          <p:cNvPr id="38" name="Text 36">
            <a:extLst>
              <a:ext uri="{FF2B5EF4-FFF2-40B4-BE49-F238E27FC236}">
                <a16:creationId xmlns:a16="http://schemas.microsoft.com/office/drawing/2014/main" id="{E721A019-DEC2-4BE9-8776-A693285DDCDF}"/>
              </a:ext>
            </a:extLst>
          </p:cNvPr>
          <p:cNvSpPr>
            <a:spLocks noGrp="1"/>
          </p:cNvSpPr>
          <p:nvPr/>
        </p:nvSpPr>
        <p:spPr>
          <a:xfrm>
            <a:off x="822960" y="5651500"/>
            <a:ext cx="10637215" cy="698500"/>
          </a:xfrm>
          <a:prstGeom prst="rect">
            <a:avLst/>
          </a:prstGeom>
          <a:noFill/>
        </p:spPr>
        <p:txBody>
          <a:bodyPr wrap="square" lIns="0" tIns="0" rIns="0" bIns="0" anchor="ctr"/>
          <a:lstStyle/>
          <a:p>
            <a:pPr marL="0" indent="0">
              <a:buNone/>
            </a:pPr>
            <a:r>
              <a:rPr lang="en-US" sz="1350" b="1">
                <a:solidFill>
                  <a:srgbClr val="0F766E"/>
                </a:solidFill>
                <a:latin typeface="Calibri"/>
                <a:ea typeface="Calibri"/>
                <a:cs typeface="Calibri"/>
              </a:rPr>
              <a:t>AI accelerates extraction and retrieval. Governance, validation and accountable ownership make the capability usable.</a:t>
            </a:r>
            <a:endParaRPr sz="1350" b="1">
              <a:solidFill>
                <a:srgbClr val="0F766E"/>
              </a:solidFill>
              <a:latin typeface="Calibri"/>
              <a:ea typeface="Calibri"/>
              <a:cs typeface="Calibri"/>
            </a:endParaRPr>
          </a:p>
        </p:txBody>
      </p:sp>
      <p:sp>
        <p:nvSpPr>
          <p:cNvPr id="39" name="Text 37">
            <a:extLst>
              <a:ext uri="{FF2B5EF4-FFF2-40B4-BE49-F238E27FC236}">
                <a16:creationId xmlns:a16="http://schemas.microsoft.com/office/drawing/2014/main" id="{4287D4FA-DFFF-4064-AD4D-B5BB15558502}"/>
              </a:ext>
            </a:extLst>
          </p:cNvPr>
          <p:cNvSpPr>
            <a:spLocks noGrp="1"/>
          </p:cNvSpPr>
          <p:nvPr/>
        </p:nvSpPr>
        <p:spPr>
          <a:xfrm>
            <a:off x="548640" y="6473952"/>
            <a:ext cx="8229600" cy="256032"/>
          </a:xfrm>
          <a:prstGeom prst="rect">
            <a:avLst/>
          </a:prstGeom>
          <a:noFill/>
        </p:spPr>
        <p:txBody>
          <a:bodyPr wrap="square" lIns="0" tIns="0" rIns="0" bIns="0" anchor="ctr"/>
          <a:lstStyle/>
          <a:p>
            <a:pPr marL="0" indent="0">
              <a:buNone/>
            </a:pPr>
            <a:r>
              <a:rPr sz="800" b="1">
                <a:solidFill>
                  <a:srgbClr val="64748B"/>
                </a:solidFill>
                <a:latin typeface="Calibri"/>
                <a:ea typeface="Calibri"/>
                <a:cs typeface="Calibri"/>
              </a:rPr>
              <a:t>Contract Intelligence Platform  ·  Confidential — Internal</a:t>
            </a:r>
          </a:p>
        </p:txBody>
      </p:sp>
      <p:sp>
        <p:nvSpPr>
          <p:cNvPr id="40" name="Text 38">
            <a:extLst>
              <a:ext uri="{FF2B5EF4-FFF2-40B4-BE49-F238E27FC236}">
                <a16:creationId xmlns:a16="http://schemas.microsoft.com/office/drawing/2014/main" id="{85F51742-DFA4-422E-97C6-A3A7E86FD921}"/>
              </a:ext>
            </a:extLst>
          </p:cNvPr>
          <p:cNvSpPr>
            <a:spLocks noGrp="1"/>
          </p:cNvSpPr>
          <p:nvPr/>
        </p:nvSpPr>
        <p:spPr>
          <a:xfrm>
            <a:off x="10728655" y="6473952"/>
            <a:ext cx="914400" cy="256032"/>
          </a:xfrm>
          <a:prstGeom prst="rect">
            <a:avLst/>
          </a:prstGeom>
          <a:noFill/>
        </p:spPr>
        <p:txBody>
          <a:bodyPr wrap="square" lIns="0" tIns="0" rIns="0" bIns="0" anchor="ctr"/>
          <a:lstStyle/>
          <a:p>
            <a:pPr marL="0" indent="0" algn="r">
              <a:buNone/>
            </a:pPr>
            <a:r>
              <a:rPr sz="900">
                <a:solidFill>
                  <a:srgbClr val="64748B"/>
                </a:solidFill>
                <a:latin typeface="Calibri"/>
                <a:ea typeface="Calibri"/>
                <a:cs typeface="Calibri"/>
              </a:rPr>
              <a:t>04</a:t>
            </a:r>
          </a:p>
        </p:txBody>
      </p:sp>
    </p:spTree>
    <p:extLst>
      <p:ext uri="{BB962C8B-B14F-4D97-AF65-F5344CB8AC3E}">
        <p14:creationId xmlns:p14="http://schemas.microsoft.com/office/powerpoint/2010/main" val="9888274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2641CBA6-AE09-494D-BAEB-C83B65934301}"/>
              </a:ext>
            </a:extLst>
          </p:cNvPr>
          <p:cNvSpPr>
            <a:spLocks noGrp="1"/>
          </p:cNvSpPr>
          <p:nvPr/>
        </p:nvSpPr>
        <p:spPr>
          <a:xfrm>
            <a:off x="548640" y="457200"/>
            <a:ext cx="11094415" cy="256032"/>
          </a:xfrm>
          <a:prstGeom prst="rect">
            <a:avLst/>
          </a:prstGeom>
          <a:noFill/>
        </p:spPr>
        <p:txBody>
          <a:bodyPr wrap="square" lIns="0" tIns="0" rIns="0" bIns="0" anchor="ctr"/>
          <a:lstStyle/>
          <a:p>
            <a:pPr marL="0" indent="0">
              <a:buNone/>
            </a:pPr>
            <a:r>
              <a:rPr sz="1100" b="1">
                <a:solidFill>
                  <a:srgbClr val="0F766E"/>
                </a:solidFill>
                <a:latin typeface="Calibri"/>
                <a:ea typeface="Calibri"/>
                <a:cs typeface="Calibri"/>
              </a:rPr>
              <a:t>SECTION 04 · FOUNDATION READINESS</a:t>
            </a:r>
          </a:p>
        </p:txBody>
      </p:sp>
      <p:sp>
        <p:nvSpPr>
          <p:cNvPr id="3" name="Text 1">
            <a:extLst>
              <a:ext uri="{FF2B5EF4-FFF2-40B4-BE49-F238E27FC236}">
                <a16:creationId xmlns:a16="http://schemas.microsoft.com/office/drawing/2014/main" id="{39845FC9-C1B3-4FD8-8E97-7E967A1951B3}"/>
              </a:ext>
            </a:extLst>
          </p:cNvPr>
          <p:cNvSpPr>
            <a:spLocks noGrp="1"/>
          </p:cNvSpPr>
          <p:nvPr/>
        </p:nvSpPr>
        <p:spPr>
          <a:xfrm>
            <a:off x="548640" y="804672"/>
            <a:ext cx="11094466" cy="1005840"/>
          </a:xfrm>
          <a:prstGeom prst="rect">
            <a:avLst/>
          </a:prstGeom>
          <a:noFill/>
        </p:spPr>
        <p:txBody>
          <a:bodyPr wrap="square" lIns="0" tIns="0" rIns="0" bIns="0" anchor="t">
            <a:normAutofit/>
          </a:bodyPr>
          <a:lstStyle/>
          <a:p>
            <a:pPr marL="0" indent="0">
              <a:lnSpc>
                <a:spcPts val="2860"/>
              </a:lnSpc>
              <a:buNone/>
            </a:pPr>
            <a:r>
              <a:rPr sz="2600" b="1">
                <a:solidFill>
                  <a:srgbClr val="0B1B2E"/>
                </a:solidFill>
                <a:latin typeface="Georgia"/>
                <a:ea typeface="Georgia"/>
                <a:cs typeface="Georgia"/>
              </a:rPr>
              <a:t>The platform has a documented foundation designed for controlled, scalable operation</a:t>
            </a:r>
          </a:p>
        </p:txBody>
      </p:sp>
      <p:sp>
        <p:nvSpPr>
          <p:cNvPr id="4" name="Text 2">
            <a:extLst>
              <a:ext uri="{FF2B5EF4-FFF2-40B4-BE49-F238E27FC236}">
                <a16:creationId xmlns:a16="http://schemas.microsoft.com/office/drawing/2014/main" id="{A7181C69-13A7-47BA-879A-7CBCAD29A085}"/>
              </a:ext>
            </a:extLst>
          </p:cNvPr>
          <p:cNvSpPr>
            <a:spLocks noGrp="1"/>
          </p:cNvSpPr>
          <p:nvPr/>
        </p:nvSpPr>
        <p:spPr>
          <a:xfrm>
            <a:off x="548640" y="1901952"/>
            <a:ext cx="5943600" cy="256032"/>
          </a:xfrm>
          <a:prstGeom prst="rect">
            <a:avLst/>
          </a:prstGeom>
          <a:noFill/>
        </p:spPr>
        <p:txBody>
          <a:bodyPr wrap="square" lIns="0" tIns="0" rIns="0" bIns="0" anchor="ctr"/>
          <a:lstStyle/>
          <a:p>
            <a:pPr marL="0" indent="0">
              <a:buNone/>
            </a:pPr>
            <a:r>
              <a:rPr lang="en-US" sz="1000" b="1">
                <a:solidFill>
                  <a:srgbClr val="14B8A6"/>
                </a:solidFill>
                <a:latin typeface="Calibri"/>
                <a:ea typeface="Calibri"/>
                <a:cs typeface="Calibri"/>
              </a:rPr>
              <a:t>COMPONENT / READINESS   ·   TEAL = DOCUMENTED   ·   AMBER = HARDENING</a:t>
            </a:r>
            <a:endParaRPr sz="1000" b="1">
              <a:solidFill>
                <a:srgbClr val="14B8A6"/>
              </a:solidFill>
              <a:latin typeface="Calibri"/>
              <a:ea typeface="Calibri"/>
              <a:cs typeface="Calibri"/>
            </a:endParaRPr>
          </a:p>
        </p:txBody>
      </p:sp>
      <p:sp>
        <p:nvSpPr>
          <p:cNvPr id="5" name="Shape 3">
            <a:extLst>
              <a:ext uri="{FF2B5EF4-FFF2-40B4-BE49-F238E27FC236}">
                <a16:creationId xmlns:a16="http://schemas.microsoft.com/office/drawing/2014/main" id="{EC1DEEA8-344C-4D00-ADA0-A646F1720101}"/>
              </a:ext>
            </a:extLst>
          </p:cNvPr>
          <p:cNvSpPr>
            <a:spLocks noGrp="1"/>
          </p:cNvSpPr>
          <p:nvPr/>
        </p:nvSpPr>
        <p:spPr>
          <a:xfrm>
            <a:off x="548640" y="2240280"/>
            <a:ext cx="5943600" cy="621792"/>
          </a:xfrm>
          <a:prstGeom prst="roundRect">
            <a:avLst>
              <a:gd name="adj" fmla="val 8824"/>
            </a:avLst>
          </a:prstGeom>
          <a:solidFill>
            <a:srgbClr val="F8FAFC"/>
          </a:solidFill>
          <a:effectLst>
            <a:outerShdw blurRad="101600" dist="25400" dir="8100000" algn="bl" rotWithShape="0">
              <a:srgbClr val="1E293B">
                <a:alpha val="11000"/>
              </a:srgbClr>
            </a:outerShdw>
          </a:effectLst>
        </p:spPr>
        <p:txBody>
          <a:bodyPr/>
          <a:lstStyle/>
          <a:p>
            <a:endParaRPr/>
          </a:p>
        </p:txBody>
      </p:sp>
      <p:sp>
        <p:nvSpPr>
          <p:cNvPr id="6" name="Shape 4">
            <a:extLst>
              <a:ext uri="{FF2B5EF4-FFF2-40B4-BE49-F238E27FC236}">
                <a16:creationId xmlns:a16="http://schemas.microsoft.com/office/drawing/2014/main" id="{6D2FE8FB-8289-4340-8456-9DFE09280C3A}"/>
              </a:ext>
            </a:extLst>
          </p:cNvPr>
          <p:cNvSpPr>
            <a:spLocks noGrp="1"/>
          </p:cNvSpPr>
          <p:nvPr/>
        </p:nvSpPr>
        <p:spPr>
          <a:xfrm>
            <a:off x="749808" y="2487168"/>
            <a:ext cx="146304" cy="146304"/>
          </a:xfrm>
          <a:prstGeom prst="ellipse">
            <a:avLst/>
          </a:prstGeom>
          <a:solidFill>
            <a:srgbClr val="14B8A6"/>
          </a:solidFill>
        </p:spPr>
        <p:txBody>
          <a:bodyPr/>
          <a:lstStyle/>
          <a:p>
            <a:endParaRPr/>
          </a:p>
        </p:txBody>
      </p:sp>
      <p:sp>
        <p:nvSpPr>
          <p:cNvPr id="7" name="Text 5">
            <a:extLst>
              <a:ext uri="{FF2B5EF4-FFF2-40B4-BE49-F238E27FC236}">
                <a16:creationId xmlns:a16="http://schemas.microsoft.com/office/drawing/2014/main" id="{BF2B9E77-9624-4064-8B99-F71DF239AB44}"/>
              </a:ext>
            </a:extLst>
          </p:cNvPr>
          <p:cNvSpPr>
            <a:spLocks noGrp="1"/>
          </p:cNvSpPr>
          <p:nvPr/>
        </p:nvSpPr>
        <p:spPr>
          <a:xfrm>
            <a:off x="1005840" y="2313432"/>
            <a:ext cx="2377440" cy="475488"/>
          </a:xfrm>
          <a:prstGeom prst="rect">
            <a:avLst/>
          </a:prstGeom>
          <a:noFill/>
        </p:spPr>
        <p:txBody>
          <a:bodyPr wrap="square" lIns="0" tIns="0" rIns="0" bIns="0" anchor="ctr"/>
          <a:lstStyle/>
          <a:p>
            <a:pPr marL="0" indent="0">
              <a:buNone/>
            </a:pPr>
            <a:r>
              <a:rPr sz="1250" b="1">
                <a:solidFill>
                  <a:srgbClr val="0B1B2E"/>
                </a:solidFill>
                <a:latin typeface="Calibri"/>
                <a:ea typeface="Calibri"/>
                <a:cs typeface="Calibri"/>
              </a:rPr>
              <a:t>Document intake &amp; extraction</a:t>
            </a:r>
          </a:p>
        </p:txBody>
      </p:sp>
      <p:sp>
        <p:nvSpPr>
          <p:cNvPr id="8" name="Text 6">
            <a:extLst>
              <a:ext uri="{FF2B5EF4-FFF2-40B4-BE49-F238E27FC236}">
                <a16:creationId xmlns:a16="http://schemas.microsoft.com/office/drawing/2014/main" id="{6B4E19D7-090E-4E07-BE23-247E07F98A65}"/>
              </a:ext>
            </a:extLst>
          </p:cNvPr>
          <p:cNvSpPr>
            <a:spLocks noGrp="1"/>
          </p:cNvSpPr>
          <p:nvPr/>
        </p:nvSpPr>
        <p:spPr>
          <a:xfrm>
            <a:off x="3474720" y="2313432"/>
            <a:ext cx="2907792" cy="475488"/>
          </a:xfrm>
          <a:prstGeom prst="rect">
            <a:avLst/>
          </a:prstGeom>
          <a:noFill/>
        </p:spPr>
        <p:txBody>
          <a:bodyPr wrap="square" lIns="0" tIns="0" rIns="0" bIns="0" anchor="ctr"/>
          <a:lstStyle/>
          <a:p>
            <a:pPr marL="0" indent="0">
              <a:lnSpc>
                <a:spcPts val="1400"/>
              </a:lnSpc>
              <a:buNone/>
            </a:pPr>
            <a:r>
              <a:rPr sz="1100">
                <a:solidFill>
                  <a:srgbClr val="0F766E"/>
                </a:solidFill>
                <a:latin typeface="Calibri"/>
                <a:ea typeface="Calibri"/>
                <a:cs typeface="Calibri"/>
              </a:rPr>
              <a:t>Documented implementation</a:t>
            </a:r>
          </a:p>
        </p:txBody>
      </p:sp>
      <p:sp>
        <p:nvSpPr>
          <p:cNvPr id="9" name="Shape 7">
            <a:extLst>
              <a:ext uri="{FF2B5EF4-FFF2-40B4-BE49-F238E27FC236}">
                <a16:creationId xmlns:a16="http://schemas.microsoft.com/office/drawing/2014/main" id="{B652946A-7126-40DE-9087-2A56CF5BA367}"/>
              </a:ext>
            </a:extLst>
          </p:cNvPr>
          <p:cNvSpPr>
            <a:spLocks noGrp="1"/>
          </p:cNvSpPr>
          <p:nvPr/>
        </p:nvSpPr>
        <p:spPr>
          <a:xfrm>
            <a:off x="548640" y="2935224"/>
            <a:ext cx="5943600" cy="621792"/>
          </a:xfrm>
          <a:prstGeom prst="roundRect">
            <a:avLst>
              <a:gd name="adj" fmla="val 8824"/>
            </a:avLst>
          </a:prstGeom>
          <a:solidFill>
            <a:srgbClr val="F8FAFC"/>
          </a:solidFill>
          <a:effectLst>
            <a:outerShdw blurRad="101600" dist="25400" dir="8100000" algn="bl" rotWithShape="0">
              <a:srgbClr val="1E293B">
                <a:alpha val="11000"/>
              </a:srgbClr>
            </a:outerShdw>
          </a:effectLst>
        </p:spPr>
        <p:txBody>
          <a:bodyPr/>
          <a:lstStyle/>
          <a:p>
            <a:endParaRPr/>
          </a:p>
        </p:txBody>
      </p:sp>
      <p:sp>
        <p:nvSpPr>
          <p:cNvPr id="10" name="Shape 8">
            <a:extLst>
              <a:ext uri="{FF2B5EF4-FFF2-40B4-BE49-F238E27FC236}">
                <a16:creationId xmlns:a16="http://schemas.microsoft.com/office/drawing/2014/main" id="{2938D44B-24AE-42F8-8B97-B95EAA4CA96F}"/>
              </a:ext>
            </a:extLst>
          </p:cNvPr>
          <p:cNvSpPr>
            <a:spLocks noGrp="1"/>
          </p:cNvSpPr>
          <p:nvPr/>
        </p:nvSpPr>
        <p:spPr>
          <a:xfrm>
            <a:off x="749808" y="3182112"/>
            <a:ext cx="146304" cy="146304"/>
          </a:xfrm>
          <a:prstGeom prst="ellipse">
            <a:avLst/>
          </a:prstGeom>
          <a:solidFill>
            <a:srgbClr val="14B8A6"/>
          </a:solidFill>
        </p:spPr>
        <p:txBody>
          <a:bodyPr/>
          <a:lstStyle/>
          <a:p>
            <a:endParaRPr/>
          </a:p>
        </p:txBody>
      </p:sp>
      <p:sp>
        <p:nvSpPr>
          <p:cNvPr id="11" name="Text 9">
            <a:extLst>
              <a:ext uri="{FF2B5EF4-FFF2-40B4-BE49-F238E27FC236}">
                <a16:creationId xmlns:a16="http://schemas.microsoft.com/office/drawing/2014/main" id="{19C4C8E9-90DF-44F2-9F8C-24B9D1278F53}"/>
              </a:ext>
            </a:extLst>
          </p:cNvPr>
          <p:cNvSpPr>
            <a:spLocks noGrp="1"/>
          </p:cNvSpPr>
          <p:nvPr/>
        </p:nvSpPr>
        <p:spPr>
          <a:xfrm>
            <a:off x="1005840" y="3008376"/>
            <a:ext cx="2377440" cy="475488"/>
          </a:xfrm>
          <a:prstGeom prst="rect">
            <a:avLst/>
          </a:prstGeom>
          <a:noFill/>
        </p:spPr>
        <p:txBody>
          <a:bodyPr wrap="square" lIns="0" tIns="0" rIns="0" bIns="0" anchor="ctr"/>
          <a:lstStyle/>
          <a:p>
            <a:pPr marL="0" indent="0">
              <a:buNone/>
            </a:pPr>
            <a:r>
              <a:rPr sz="1250" b="1">
                <a:solidFill>
                  <a:srgbClr val="0B1B2E"/>
                </a:solidFill>
                <a:latin typeface="Calibri"/>
                <a:ea typeface="Calibri"/>
                <a:cs typeface="Calibri"/>
              </a:rPr>
              <a:t>Data quality &amp; validation</a:t>
            </a:r>
          </a:p>
        </p:txBody>
      </p:sp>
      <p:sp>
        <p:nvSpPr>
          <p:cNvPr id="12" name="Text 10">
            <a:extLst>
              <a:ext uri="{FF2B5EF4-FFF2-40B4-BE49-F238E27FC236}">
                <a16:creationId xmlns:a16="http://schemas.microsoft.com/office/drawing/2014/main" id="{512451D7-230D-49AB-BA8C-A039465CD849}"/>
              </a:ext>
            </a:extLst>
          </p:cNvPr>
          <p:cNvSpPr>
            <a:spLocks noGrp="1"/>
          </p:cNvSpPr>
          <p:nvPr/>
        </p:nvSpPr>
        <p:spPr>
          <a:xfrm>
            <a:off x="3474720" y="3008376"/>
            <a:ext cx="2907792" cy="475488"/>
          </a:xfrm>
          <a:prstGeom prst="rect">
            <a:avLst/>
          </a:prstGeom>
          <a:noFill/>
        </p:spPr>
        <p:txBody>
          <a:bodyPr wrap="square" lIns="0" tIns="0" rIns="0" bIns="0" anchor="ctr"/>
          <a:lstStyle/>
          <a:p>
            <a:pPr marL="0" indent="0">
              <a:lnSpc>
                <a:spcPts val="1400"/>
              </a:lnSpc>
              <a:buNone/>
            </a:pPr>
            <a:r>
              <a:rPr sz="1100">
                <a:solidFill>
                  <a:srgbClr val="0F766E"/>
                </a:solidFill>
                <a:latin typeface="Calibri"/>
                <a:ea typeface="Calibri"/>
                <a:cs typeface="Calibri"/>
              </a:rPr>
              <a:t>Layered controls designed into pipeline</a:t>
            </a:r>
          </a:p>
        </p:txBody>
      </p:sp>
      <p:sp>
        <p:nvSpPr>
          <p:cNvPr id="13" name="Shape 11">
            <a:extLst>
              <a:ext uri="{FF2B5EF4-FFF2-40B4-BE49-F238E27FC236}">
                <a16:creationId xmlns:a16="http://schemas.microsoft.com/office/drawing/2014/main" id="{38BB564A-4B46-4297-843B-A716811B0CC1}"/>
              </a:ext>
            </a:extLst>
          </p:cNvPr>
          <p:cNvSpPr>
            <a:spLocks noGrp="1"/>
          </p:cNvSpPr>
          <p:nvPr/>
        </p:nvSpPr>
        <p:spPr>
          <a:xfrm>
            <a:off x="548640" y="3630168"/>
            <a:ext cx="5943600" cy="621792"/>
          </a:xfrm>
          <a:prstGeom prst="roundRect">
            <a:avLst>
              <a:gd name="adj" fmla="val 8824"/>
            </a:avLst>
          </a:prstGeom>
          <a:solidFill>
            <a:srgbClr val="F8FAFC"/>
          </a:solidFill>
          <a:effectLst>
            <a:outerShdw blurRad="101600" dist="25400" dir="8100000" algn="bl" rotWithShape="0">
              <a:srgbClr val="1E293B">
                <a:alpha val="11000"/>
              </a:srgbClr>
            </a:outerShdw>
          </a:effectLst>
        </p:spPr>
        <p:txBody>
          <a:bodyPr/>
          <a:lstStyle/>
          <a:p>
            <a:endParaRPr/>
          </a:p>
        </p:txBody>
      </p:sp>
      <p:sp>
        <p:nvSpPr>
          <p:cNvPr id="14" name="Shape 12">
            <a:extLst>
              <a:ext uri="{FF2B5EF4-FFF2-40B4-BE49-F238E27FC236}">
                <a16:creationId xmlns:a16="http://schemas.microsoft.com/office/drawing/2014/main" id="{9FD1F906-5C8E-4254-9029-F456D9E971B3}"/>
              </a:ext>
            </a:extLst>
          </p:cNvPr>
          <p:cNvSpPr>
            <a:spLocks noGrp="1"/>
          </p:cNvSpPr>
          <p:nvPr/>
        </p:nvSpPr>
        <p:spPr>
          <a:xfrm>
            <a:off x="749808" y="3877056"/>
            <a:ext cx="146304" cy="146304"/>
          </a:xfrm>
          <a:prstGeom prst="ellipse">
            <a:avLst/>
          </a:prstGeom>
          <a:solidFill>
            <a:srgbClr val="14B8A6"/>
          </a:solidFill>
        </p:spPr>
        <p:txBody>
          <a:bodyPr/>
          <a:lstStyle/>
          <a:p>
            <a:endParaRPr/>
          </a:p>
        </p:txBody>
      </p:sp>
      <p:sp>
        <p:nvSpPr>
          <p:cNvPr id="15" name="Text 13">
            <a:extLst>
              <a:ext uri="{FF2B5EF4-FFF2-40B4-BE49-F238E27FC236}">
                <a16:creationId xmlns:a16="http://schemas.microsoft.com/office/drawing/2014/main" id="{EFFB88B6-0BDC-42C0-AC55-15C57F9B9375}"/>
              </a:ext>
            </a:extLst>
          </p:cNvPr>
          <p:cNvSpPr>
            <a:spLocks noGrp="1"/>
          </p:cNvSpPr>
          <p:nvPr/>
        </p:nvSpPr>
        <p:spPr>
          <a:xfrm>
            <a:off x="1005840" y="3703320"/>
            <a:ext cx="2377440" cy="475488"/>
          </a:xfrm>
          <a:prstGeom prst="rect">
            <a:avLst/>
          </a:prstGeom>
          <a:noFill/>
        </p:spPr>
        <p:txBody>
          <a:bodyPr wrap="square" lIns="0" tIns="0" rIns="0" bIns="0" anchor="ctr"/>
          <a:lstStyle/>
          <a:p>
            <a:pPr marL="0" indent="0">
              <a:buNone/>
            </a:pPr>
            <a:r>
              <a:rPr sz="1250" b="1">
                <a:solidFill>
                  <a:srgbClr val="0B1B2E"/>
                </a:solidFill>
                <a:latin typeface="Calibri"/>
                <a:ea typeface="Calibri"/>
                <a:cs typeface="Calibri"/>
              </a:rPr>
              <a:t>Structured contract foundation</a:t>
            </a:r>
          </a:p>
        </p:txBody>
      </p:sp>
      <p:sp>
        <p:nvSpPr>
          <p:cNvPr id="16" name="Text 14">
            <a:extLst>
              <a:ext uri="{FF2B5EF4-FFF2-40B4-BE49-F238E27FC236}">
                <a16:creationId xmlns:a16="http://schemas.microsoft.com/office/drawing/2014/main" id="{30DD962A-BB0A-4DAF-ADBB-864D88B16869}"/>
              </a:ext>
            </a:extLst>
          </p:cNvPr>
          <p:cNvSpPr>
            <a:spLocks noGrp="1"/>
          </p:cNvSpPr>
          <p:nvPr/>
        </p:nvSpPr>
        <p:spPr>
          <a:xfrm>
            <a:off x="3474720" y="3703320"/>
            <a:ext cx="2907792" cy="475488"/>
          </a:xfrm>
          <a:prstGeom prst="rect">
            <a:avLst/>
          </a:prstGeom>
          <a:noFill/>
        </p:spPr>
        <p:txBody>
          <a:bodyPr wrap="square" lIns="0" tIns="0" rIns="0" bIns="0" anchor="ctr"/>
          <a:lstStyle/>
          <a:p>
            <a:pPr marL="0" indent="0">
              <a:lnSpc>
                <a:spcPts val="1400"/>
              </a:lnSpc>
              <a:buNone/>
            </a:pPr>
            <a:r>
              <a:rPr sz="1100">
                <a:solidFill>
                  <a:srgbClr val="0F766E"/>
                </a:solidFill>
                <a:latin typeface="Calibri"/>
                <a:ea typeface="Calibri"/>
                <a:cs typeface="Calibri"/>
              </a:rPr>
              <a:t>Governed model across contract facts</a:t>
            </a:r>
          </a:p>
        </p:txBody>
      </p:sp>
      <p:sp>
        <p:nvSpPr>
          <p:cNvPr id="17" name="Shape 15">
            <a:extLst>
              <a:ext uri="{FF2B5EF4-FFF2-40B4-BE49-F238E27FC236}">
                <a16:creationId xmlns:a16="http://schemas.microsoft.com/office/drawing/2014/main" id="{E3385BF5-B657-4CF0-8D4B-289E25FCC4B0}"/>
              </a:ext>
            </a:extLst>
          </p:cNvPr>
          <p:cNvSpPr>
            <a:spLocks noGrp="1"/>
          </p:cNvSpPr>
          <p:nvPr/>
        </p:nvSpPr>
        <p:spPr>
          <a:xfrm>
            <a:off x="548640" y="4325112"/>
            <a:ext cx="5943600" cy="621792"/>
          </a:xfrm>
          <a:prstGeom prst="roundRect">
            <a:avLst>
              <a:gd name="adj" fmla="val 8824"/>
            </a:avLst>
          </a:prstGeom>
          <a:solidFill>
            <a:srgbClr val="F8FAFC"/>
          </a:solidFill>
          <a:effectLst>
            <a:outerShdw blurRad="101600" dist="25400" dir="8100000" algn="bl" rotWithShape="0">
              <a:srgbClr val="1E293B">
                <a:alpha val="11000"/>
              </a:srgbClr>
            </a:outerShdw>
          </a:effectLst>
        </p:spPr>
        <p:txBody>
          <a:bodyPr/>
          <a:lstStyle/>
          <a:p>
            <a:endParaRPr/>
          </a:p>
        </p:txBody>
      </p:sp>
      <p:sp>
        <p:nvSpPr>
          <p:cNvPr id="18" name="Shape 16">
            <a:extLst>
              <a:ext uri="{FF2B5EF4-FFF2-40B4-BE49-F238E27FC236}">
                <a16:creationId xmlns:a16="http://schemas.microsoft.com/office/drawing/2014/main" id="{57A38DC9-B31A-4987-B7F7-FA7F3A75654C}"/>
              </a:ext>
            </a:extLst>
          </p:cNvPr>
          <p:cNvSpPr>
            <a:spLocks noGrp="1"/>
          </p:cNvSpPr>
          <p:nvPr/>
        </p:nvSpPr>
        <p:spPr>
          <a:xfrm>
            <a:off x="749808" y="4572000"/>
            <a:ext cx="146304" cy="146304"/>
          </a:xfrm>
          <a:prstGeom prst="ellipse">
            <a:avLst/>
          </a:prstGeom>
          <a:solidFill>
            <a:srgbClr val="14B8A6"/>
          </a:solidFill>
        </p:spPr>
        <p:txBody>
          <a:bodyPr/>
          <a:lstStyle/>
          <a:p>
            <a:endParaRPr/>
          </a:p>
        </p:txBody>
      </p:sp>
      <p:sp>
        <p:nvSpPr>
          <p:cNvPr id="19" name="Text 17">
            <a:extLst>
              <a:ext uri="{FF2B5EF4-FFF2-40B4-BE49-F238E27FC236}">
                <a16:creationId xmlns:a16="http://schemas.microsoft.com/office/drawing/2014/main" id="{E719B69C-7A87-4B09-B432-BDB23CFAC26E}"/>
              </a:ext>
            </a:extLst>
          </p:cNvPr>
          <p:cNvSpPr>
            <a:spLocks noGrp="1"/>
          </p:cNvSpPr>
          <p:nvPr/>
        </p:nvSpPr>
        <p:spPr>
          <a:xfrm>
            <a:off x="1005840" y="4398264"/>
            <a:ext cx="2377440" cy="475488"/>
          </a:xfrm>
          <a:prstGeom prst="rect">
            <a:avLst/>
          </a:prstGeom>
          <a:noFill/>
        </p:spPr>
        <p:txBody>
          <a:bodyPr wrap="square" lIns="0" tIns="0" rIns="0" bIns="0" anchor="ctr"/>
          <a:lstStyle/>
          <a:p>
            <a:pPr marL="0" indent="0">
              <a:buNone/>
            </a:pPr>
            <a:r>
              <a:rPr sz="1250" b="1">
                <a:solidFill>
                  <a:srgbClr val="0B1B2E"/>
                </a:solidFill>
                <a:latin typeface="Calibri"/>
                <a:ea typeface="Calibri"/>
                <a:cs typeface="Calibri"/>
              </a:rPr>
              <a:t>Evidence retrieval</a:t>
            </a:r>
          </a:p>
        </p:txBody>
      </p:sp>
      <p:sp>
        <p:nvSpPr>
          <p:cNvPr id="20" name="Text 18">
            <a:extLst>
              <a:ext uri="{FF2B5EF4-FFF2-40B4-BE49-F238E27FC236}">
                <a16:creationId xmlns:a16="http://schemas.microsoft.com/office/drawing/2014/main" id="{39A987C5-C1C6-4757-8E2C-8F8F79BB178B}"/>
              </a:ext>
            </a:extLst>
          </p:cNvPr>
          <p:cNvSpPr>
            <a:spLocks noGrp="1"/>
          </p:cNvSpPr>
          <p:nvPr/>
        </p:nvSpPr>
        <p:spPr>
          <a:xfrm>
            <a:off x="3474720" y="4398264"/>
            <a:ext cx="2907792" cy="475488"/>
          </a:xfrm>
          <a:prstGeom prst="rect">
            <a:avLst/>
          </a:prstGeom>
          <a:noFill/>
        </p:spPr>
        <p:txBody>
          <a:bodyPr wrap="square" lIns="0" tIns="0" rIns="0" bIns="0" anchor="ctr"/>
          <a:lstStyle/>
          <a:p>
            <a:pPr marL="0" indent="0">
              <a:lnSpc>
                <a:spcPts val="1400"/>
              </a:lnSpc>
              <a:buNone/>
            </a:pPr>
            <a:r>
              <a:rPr sz="1100">
                <a:solidFill>
                  <a:srgbClr val="0F766E"/>
                </a:solidFill>
                <a:latin typeface="Calibri"/>
                <a:ea typeface="Calibri"/>
                <a:cs typeface="Calibri"/>
              </a:rPr>
              <a:t>Semantic search for clause-level context</a:t>
            </a:r>
          </a:p>
        </p:txBody>
      </p:sp>
      <p:sp>
        <p:nvSpPr>
          <p:cNvPr id="21" name="Shape 19">
            <a:extLst>
              <a:ext uri="{FF2B5EF4-FFF2-40B4-BE49-F238E27FC236}">
                <a16:creationId xmlns:a16="http://schemas.microsoft.com/office/drawing/2014/main" id="{D5CE2F63-1D9B-4C27-BE96-264DDE22B361}"/>
              </a:ext>
            </a:extLst>
          </p:cNvPr>
          <p:cNvSpPr>
            <a:spLocks noGrp="1"/>
          </p:cNvSpPr>
          <p:nvPr/>
        </p:nvSpPr>
        <p:spPr>
          <a:xfrm>
            <a:off x="548640" y="5020056"/>
            <a:ext cx="5943600" cy="621792"/>
          </a:xfrm>
          <a:prstGeom prst="roundRect">
            <a:avLst>
              <a:gd name="adj" fmla="val 8824"/>
            </a:avLst>
          </a:prstGeom>
          <a:solidFill>
            <a:srgbClr val="F8FAFC"/>
          </a:solidFill>
          <a:effectLst>
            <a:outerShdw blurRad="101600" dist="25400" dir="8100000" algn="bl" rotWithShape="0">
              <a:srgbClr val="1E293B">
                <a:alpha val="11000"/>
              </a:srgbClr>
            </a:outerShdw>
          </a:effectLst>
        </p:spPr>
        <p:txBody>
          <a:bodyPr/>
          <a:lstStyle/>
          <a:p>
            <a:endParaRPr/>
          </a:p>
        </p:txBody>
      </p:sp>
      <p:sp>
        <p:nvSpPr>
          <p:cNvPr id="22" name="Shape 20">
            <a:extLst>
              <a:ext uri="{FF2B5EF4-FFF2-40B4-BE49-F238E27FC236}">
                <a16:creationId xmlns:a16="http://schemas.microsoft.com/office/drawing/2014/main" id="{1CB0F7B1-52BB-4087-A9B7-C1C41A777F06}"/>
              </a:ext>
            </a:extLst>
          </p:cNvPr>
          <p:cNvSpPr>
            <a:spLocks noGrp="1"/>
          </p:cNvSpPr>
          <p:nvPr/>
        </p:nvSpPr>
        <p:spPr>
          <a:xfrm>
            <a:off x="749808" y="5266944"/>
            <a:ext cx="146304" cy="146304"/>
          </a:xfrm>
          <a:prstGeom prst="ellipse">
            <a:avLst/>
          </a:prstGeom>
          <a:solidFill>
            <a:srgbClr val="F59E0B"/>
          </a:solidFill>
        </p:spPr>
        <p:txBody>
          <a:bodyPr/>
          <a:lstStyle/>
          <a:p>
            <a:endParaRPr/>
          </a:p>
        </p:txBody>
      </p:sp>
      <p:sp>
        <p:nvSpPr>
          <p:cNvPr id="23" name="Text 21">
            <a:extLst>
              <a:ext uri="{FF2B5EF4-FFF2-40B4-BE49-F238E27FC236}">
                <a16:creationId xmlns:a16="http://schemas.microsoft.com/office/drawing/2014/main" id="{16C2D9F7-6BD1-4CE0-9D30-639427100D85}"/>
              </a:ext>
            </a:extLst>
          </p:cNvPr>
          <p:cNvSpPr>
            <a:spLocks noGrp="1"/>
          </p:cNvSpPr>
          <p:nvPr/>
        </p:nvSpPr>
        <p:spPr>
          <a:xfrm>
            <a:off x="1005840" y="5093208"/>
            <a:ext cx="2377440" cy="475488"/>
          </a:xfrm>
          <a:prstGeom prst="rect">
            <a:avLst/>
          </a:prstGeom>
          <a:noFill/>
        </p:spPr>
        <p:txBody>
          <a:bodyPr wrap="square" lIns="0" tIns="0" rIns="0" bIns="0" anchor="ctr"/>
          <a:lstStyle/>
          <a:p>
            <a:pPr marL="0" indent="0">
              <a:buNone/>
            </a:pPr>
            <a:r>
              <a:rPr sz="1250" b="1">
                <a:solidFill>
                  <a:srgbClr val="0B1B2E"/>
                </a:solidFill>
                <a:latin typeface="Calibri"/>
                <a:ea typeface="Calibri"/>
                <a:cs typeface="Calibri"/>
              </a:rPr>
              <a:t>Security &amp; access controls</a:t>
            </a:r>
          </a:p>
        </p:txBody>
      </p:sp>
      <p:sp>
        <p:nvSpPr>
          <p:cNvPr id="24" name="Text 22">
            <a:extLst>
              <a:ext uri="{FF2B5EF4-FFF2-40B4-BE49-F238E27FC236}">
                <a16:creationId xmlns:a16="http://schemas.microsoft.com/office/drawing/2014/main" id="{E4E9B22E-2EC7-4614-A511-5F8E0B1A0083}"/>
              </a:ext>
            </a:extLst>
          </p:cNvPr>
          <p:cNvSpPr>
            <a:spLocks noGrp="1"/>
          </p:cNvSpPr>
          <p:nvPr/>
        </p:nvSpPr>
        <p:spPr>
          <a:xfrm>
            <a:off x="3474720" y="5093208"/>
            <a:ext cx="2907792" cy="475488"/>
          </a:xfrm>
          <a:prstGeom prst="rect">
            <a:avLst/>
          </a:prstGeom>
          <a:noFill/>
        </p:spPr>
        <p:txBody>
          <a:bodyPr wrap="square" lIns="0" tIns="0" rIns="0" bIns="0" anchor="ctr"/>
          <a:lstStyle/>
          <a:p>
            <a:pPr marL="0" indent="0">
              <a:lnSpc>
                <a:spcPts val="1400"/>
              </a:lnSpc>
              <a:buNone/>
            </a:pPr>
            <a:r>
              <a:rPr sz="1100">
                <a:solidFill>
                  <a:srgbClr val="F59E0B"/>
                </a:solidFill>
                <a:latin typeface="Calibri"/>
                <a:ea typeface="Calibri"/>
                <a:cs typeface="Calibri"/>
              </a:rPr>
              <a:t>Governance capabilities designed in platform</a:t>
            </a:r>
          </a:p>
        </p:txBody>
      </p:sp>
      <p:sp>
        <p:nvSpPr>
          <p:cNvPr id="25" name="Shape 23">
            <a:extLst>
              <a:ext uri="{FF2B5EF4-FFF2-40B4-BE49-F238E27FC236}">
                <a16:creationId xmlns:a16="http://schemas.microsoft.com/office/drawing/2014/main" id="{D11AC8D5-A204-440C-8606-130B9D4255ED}"/>
              </a:ext>
            </a:extLst>
          </p:cNvPr>
          <p:cNvSpPr>
            <a:spLocks noGrp="1"/>
          </p:cNvSpPr>
          <p:nvPr/>
        </p:nvSpPr>
        <p:spPr>
          <a:xfrm>
            <a:off x="548640" y="5676900"/>
            <a:ext cx="5943600" cy="495300"/>
          </a:xfrm>
          <a:prstGeom prst="roundRect">
            <a:avLst>
              <a:gd name="adj" fmla="val 8824"/>
            </a:avLst>
          </a:prstGeom>
          <a:solidFill>
            <a:srgbClr val="F8FAFC"/>
          </a:solidFill>
          <a:effectLst>
            <a:outerShdw blurRad="101600" dist="25400" dir="8100000" algn="bl" rotWithShape="0">
              <a:srgbClr val="1E293B">
                <a:alpha val="11000"/>
              </a:srgbClr>
            </a:outerShdw>
          </a:effectLst>
        </p:spPr>
        <p:txBody>
          <a:bodyPr/>
          <a:lstStyle/>
          <a:p>
            <a:endParaRPr/>
          </a:p>
        </p:txBody>
      </p:sp>
      <p:sp>
        <p:nvSpPr>
          <p:cNvPr id="26" name="Shape 24">
            <a:extLst>
              <a:ext uri="{FF2B5EF4-FFF2-40B4-BE49-F238E27FC236}">
                <a16:creationId xmlns:a16="http://schemas.microsoft.com/office/drawing/2014/main" id="{4727DEC7-34A3-49FA-A5E6-4F289AD8732C}"/>
              </a:ext>
            </a:extLst>
          </p:cNvPr>
          <p:cNvSpPr>
            <a:spLocks noGrp="1"/>
          </p:cNvSpPr>
          <p:nvPr/>
        </p:nvSpPr>
        <p:spPr>
          <a:xfrm>
            <a:off x="749808" y="5848350"/>
            <a:ext cx="146304" cy="146304"/>
          </a:xfrm>
          <a:prstGeom prst="ellipse">
            <a:avLst/>
          </a:prstGeom>
          <a:solidFill>
            <a:srgbClr val="F59E0B"/>
          </a:solidFill>
        </p:spPr>
        <p:txBody>
          <a:bodyPr/>
          <a:lstStyle/>
          <a:p>
            <a:endParaRPr/>
          </a:p>
        </p:txBody>
      </p:sp>
      <p:sp>
        <p:nvSpPr>
          <p:cNvPr id="27" name="Text 25">
            <a:extLst>
              <a:ext uri="{FF2B5EF4-FFF2-40B4-BE49-F238E27FC236}">
                <a16:creationId xmlns:a16="http://schemas.microsoft.com/office/drawing/2014/main" id="{1935BF53-A709-4BBB-84CD-20BDE9EEEA0A}"/>
              </a:ext>
            </a:extLst>
          </p:cNvPr>
          <p:cNvSpPr>
            <a:spLocks noGrp="1"/>
          </p:cNvSpPr>
          <p:nvPr/>
        </p:nvSpPr>
        <p:spPr>
          <a:xfrm>
            <a:off x="1005840" y="5721350"/>
            <a:ext cx="2377440" cy="393700"/>
          </a:xfrm>
          <a:prstGeom prst="rect">
            <a:avLst/>
          </a:prstGeom>
          <a:noFill/>
        </p:spPr>
        <p:txBody>
          <a:bodyPr wrap="square" lIns="0" tIns="0" rIns="0" bIns="0" anchor="ctr"/>
          <a:lstStyle/>
          <a:p>
            <a:pPr marL="0" indent="0">
              <a:buNone/>
            </a:pPr>
            <a:r>
              <a:rPr sz="1250" b="1">
                <a:solidFill>
                  <a:srgbClr val="0B1B2E"/>
                </a:solidFill>
                <a:latin typeface="Calibri"/>
                <a:ea typeface="Calibri"/>
                <a:cs typeface="Calibri"/>
              </a:rPr>
              <a:t>Orchestration &amp; monitoring</a:t>
            </a:r>
          </a:p>
        </p:txBody>
      </p:sp>
      <p:sp>
        <p:nvSpPr>
          <p:cNvPr id="28" name="Text 26">
            <a:extLst>
              <a:ext uri="{FF2B5EF4-FFF2-40B4-BE49-F238E27FC236}">
                <a16:creationId xmlns:a16="http://schemas.microsoft.com/office/drawing/2014/main" id="{0BC247C8-7E9F-4FE3-9E1F-A04D9E00C4FF}"/>
              </a:ext>
            </a:extLst>
          </p:cNvPr>
          <p:cNvSpPr>
            <a:spLocks noGrp="1"/>
          </p:cNvSpPr>
          <p:nvPr/>
        </p:nvSpPr>
        <p:spPr>
          <a:xfrm>
            <a:off x="3474720" y="5721350"/>
            <a:ext cx="2907792" cy="393700"/>
          </a:xfrm>
          <a:prstGeom prst="rect">
            <a:avLst/>
          </a:prstGeom>
          <a:noFill/>
        </p:spPr>
        <p:txBody>
          <a:bodyPr wrap="square" lIns="0" tIns="0" rIns="0" bIns="0" anchor="ctr"/>
          <a:lstStyle/>
          <a:p>
            <a:pPr marL="0" indent="0">
              <a:lnSpc>
                <a:spcPts val="1400"/>
              </a:lnSpc>
              <a:buNone/>
            </a:pPr>
            <a:r>
              <a:rPr sz="1100">
                <a:solidFill>
                  <a:srgbClr val="F59E0B"/>
                </a:solidFill>
                <a:latin typeface="Calibri"/>
                <a:ea typeface="Calibri"/>
                <a:cs typeface="Calibri"/>
              </a:rPr>
              <a:t>Operationalization focus for scale</a:t>
            </a:r>
          </a:p>
        </p:txBody>
      </p:sp>
      <p:sp>
        <p:nvSpPr>
          <p:cNvPr id="29" name="Shape 27">
            <a:extLst>
              <a:ext uri="{FF2B5EF4-FFF2-40B4-BE49-F238E27FC236}">
                <a16:creationId xmlns:a16="http://schemas.microsoft.com/office/drawing/2014/main" id="{8845C19E-F503-4CA7-AD2B-BC5D9F591651}"/>
              </a:ext>
            </a:extLst>
          </p:cNvPr>
          <p:cNvSpPr>
            <a:spLocks noGrp="1"/>
          </p:cNvSpPr>
          <p:nvPr/>
        </p:nvSpPr>
        <p:spPr>
          <a:xfrm>
            <a:off x="6720840" y="1901952"/>
            <a:ext cx="4922215" cy="4216400"/>
          </a:xfrm>
          <a:prstGeom prst="rect">
            <a:avLst/>
          </a:prstGeom>
          <a:solidFill>
            <a:srgbClr val="0B1B2E"/>
          </a:solidFill>
          <a:effectLst>
            <a:outerShdw blurRad="177800" dist="50800" dir="8100000" algn="bl" rotWithShape="0">
              <a:srgbClr val="000000">
                <a:alpha val="22000"/>
              </a:srgbClr>
            </a:outerShdw>
          </a:effectLst>
        </p:spPr>
        <p:txBody>
          <a:bodyPr/>
          <a:lstStyle/>
          <a:p>
            <a:endParaRPr dirty="0"/>
          </a:p>
        </p:txBody>
      </p:sp>
      <p:sp>
        <p:nvSpPr>
          <p:cNvPr id="30" name="Shape 28">
            <a:extLst>
              <a:ext uri="{FF2B5EF4-FFF2-40B4-BE49-F238E27FC236}">
                <a16:creationId xmlns:a16="http://schemas.microsoft.com/office/drawing/2014/main" id="{EA237801-44A4-4CE7-A27F-AA2D39B5CE6B}"/>
              </a:ext>
            </a:extLst>
          </p:cNvPr>
          <p:cNvSpPr>
            <a:spLocks noGrp="1"/>
          </p:cNvSpPr>
          <p:nvPr/>
        </p:nvSpPr>
        <p:spPr>
          <a:xfrm>
            <a:off x="6720840" y="1901952"/>
            <a:ext cx="4922215" cy="73152"/>
          </a:xfrm>
          <a:prstGeom prst="rect">
            <a:avLst/>
          </a:prstGeom>
          <a:solidFill>
            <a:srgbClr val="14B8A6"/>
          </a:solidFill>
        </p:spPr>
        <p:txBody>
          <a:bodyPr/>
          <a:lstStyle/>
          <a:p>
            <a:endParaRPr/>
          </a:p>
        </p:txBody>
      </p:sp>
      <p:sp>
        <p:nvSpPr>
          <p:cNvPr id="31" name="Text 29">
            <a:extLst>
              <a:ext uri="{FF2B5EF4-FFF2-40B4-BE49-F238E27FC236}">
                <a16:creationId xmlns:a16="http://schemas.microsoft.com/office/drawing/2014/main" id="{51B4DE64-6EAB-43EE-8A60-DA9E44CB2019}"/>
              </a:ext>
            </a:extLst>
          </p:cNvPr>
          <p:cNvSpPr>
            <a:spLocks noGrp="1"/>
          </p:cNvSpPr>
          <p:nvPr/>
        </p:nvSpPr>
        <p:spPr>
          <a:xfrm>
            <a:off x="6976872" y="2084832"/>
            <a:ext cx="4556455" cy="256032"/>
          </a:xfrm>
          <a:prstGeom prst="rect">
            <a:avLst/>
          </a:prstGeom>
          <a:noFill/>
        </p:spPr>
        <p:txBody>
          <a:bodyPr wrap="square" lIns="0" tIns="0" rIns="0" bIns="0" anchor="ctr"/>
          <a:lstStyle/>
          <a:p>
            <a:pPr marL="0" indent="0">
              <a:buNone/>
            </a:pPr>
            <a:r>
              <a:rPr lang="en-IN" sz="1000" b="1">
                <a:solidFill>
                  <a:srgbClr val="14B8A6"/>
                </a:solidFill>
                <a:latin typeface="Calibri"/>
                <a:ea typeface="Calibri"/>
                <a:cs typeface="Calibri"/>
              </a:rPr>
              <a:t>DOCUMENTED FOUNDATION · ONBOARDING PROGRESS</a:t>
            </a:r>
            <a:endParaRPr sz="1000" b="1">
              <a:solidFill>
                <a:srgbClr val="14B8A6"/>
              </a:solidFill>
              <a:latin typeface="Calibri"/>
              <a:ea typeface="Calibri"/>
              <a:cs typeface="Calibri"/>
            </a:endParaRPr>
          </a:p>
        </p:txBody>
      </p:sp>
      <p:sp>
        <p:nvSpPr>
          <p:cNvPr id="32" name="Shape 30">
            <a:extLst>
              <a:ext uri="{FF2B5EF4-FFF2-40B4-BE49-F238E27FC236}">
                <a16:creationId xmlns:a16="http://schemas.microsoft.com/office/drawing/2014/main" id="{E88656C3-F03F-49FB-890F-A305976B3ABD}"/>
              </a:ext>
            </a:extLst>
          </p:cNvPr>
          <p:cNvSpPr>
            <a:spLocks noGrp="1"/>
          </p:cNvSpPr>
          <p:nvPr/>
        </p:nvSpPr>
        <p:spPr>
          <a:xfrm>
            <a:off x="6976872" y="2468880"/>
            <a:ext cx="4465015" cy="292608"/>
          </a:xfrm>
          <a:prstGeom prst="rect">
            <a:avLst/>
          </a:prstGeom>
          <a:solidFill>
            <a:srgbClr val="27405E"/>
          </a:solidFill>
        </p:spPr>
        <p:txBody>
          <a:bodyPr/>
          <a:lstStyle/>
          <a:p>
            <a:endParaRPr/>
          </a:p>
        </p:txBody>
      </p:sp>
      <p:sp>
        <p:nvSpPr>
          <p:cNvPr id="33" name="Shape 31">
            <a:extLst>
              <a:ext uri="{FF2B5EF4-FFF2-40B4-BE49-F238E27FC236}">
                <a16:creationId xmlns:a16="http://schemas.microsoft.com/office/drawing/2014/main" id="{30620C89-AB13-4444-BCDF-1EEF4504DC53}"/>
              </a:ext>
            </a:extLst>
          </p:cNvPr>
          <p:cNvSpPr>
            <a:spLocks noGrp="1"/>
          </p:cNvSpPr>
          <p:nvPr/>
        </p:nvSpPr>
        <p:spPr>
          <a:xfrm>
            <a:off x="6976872" y="2468880"/>
            <a:ext cx="3125511" cy="292608"/>
          </a:xfrm>
          <a:prstGeom prst="rect">
            <a:avLst/>
          </a:prstGeom>
          <a:solidFill>
            <a:srgbClr val="14B8A6"/>
          </a:solidFill>
        </p:spPr>
        <p:txBody>
          <a:bodyPr/>
          <a:lstStyle/>
          <a:p>
            <a:endParaRPr/>
          </a:p>
        </p:txBody>
      </p:sp>
      <p:sp>
        <p:nvSpPr>
          <p:cNvPr id="34" name="Text 32">
            <a:extLst>
              <a:ext uri="{FF2B5EF4-FFF2-40B4-BE49-F238E27FC236}">
                <a16:creationId xmlns:a16="http://schemas.microsoft.com/office/drawing/2014/main" id="{F2E39EF6-B991-454A-BE6B-54ABA47B5CFE}"/>
              </a:ext>
            </a:extLst>
          </p:cNvPr>
          <p:cNvSpPr>
            <a:spLocks noGrp="1"/>
          </p:cNvSpPr>
          <p:nvPr/>
        </p:nvSpPr>
        <p:spPr>
          <a:xfrm>
            <a:off x="6976872" y="2816352"/>
            <a:ext cx="3125511" cy="256032"/>
          </a:xfrm>
          <a:prstGeom prst="rect">
            <a:avLst/>
          </a:prstGeom>
          <a:noFill/>
        </p:spPr>
        <p:txBody>
          <a:bodyPr wrap="square" lIns="0" tIns="0" rIns="0" bIns="0" anchor="ctr"/>
          <a:lstStyle/>
          <a:p>
            <a:pPr marL="0" indent="0" algn="r">
              <a:buNone/>
            </a:pPr>
            <a:r>
              <a:rPr lang="en-IN" sz="2000" b="1">
                <a:solidFill>
                  <a:srgbClr val="52E5D4"/>
                </a:solidFill>
                <a:latin typeface="Calibri"/>
                <a:ea typeface="Calibri"/>
                <a:cs typeface="Calibri"/>
              </a:rPr>
              <a:t>10K+</a:t>
            </a:r>
            <a:endParaRPr sz="2000" b="1">
              <a:solidFill>
                <a:srgbClr val="52E5D4"/>
              </a:solidFill>
              <a:latin typeface="Calibri"/>
              <a:ea typeface="Calibri"/>
              <a:cs typeface="Calibri"/>
            </a:endParaRPr>
          </a:p>
        </p:txBody>
      </p:sp>
      <p:sp>
        <p:nvSpPr>
          <p:cNvPr id="35" name="Text 33">
            <a:extLst>
              <a:ext uri="{FF2B5EF4-FFF2-40B4-BE49-F238E27FC236}">
                <a16:creationId xmlns:a16="http://schemas.microsoft.com/office/drawing/2014/main" id="{3D55D6B1-D8DB-4A76-9AC5-C7E3DF847175}"/>
              </a:ext>
            </a:extLst>
          </p:cNvPr>
          <p:cNvSpPr>
            <a:spLocks noGrp="1"/>
          </p:cNvSpPr>
          <p:nvPr/>
        </p:nvSpPr>
        <p:spPr>
          <a:xfrm>
            <a:off x="6976872" y="3154680"/>
            <a:ext cx="4510735" cy="320040"/>
          </a:xfrm>
          <a:prstGeom prst="rect">
            <a:avLst/>
          </a:prstGeom>
          <a:noFill/>
        </p:spPr>
        <p:txBody>
          <a:bodyPr wrap="square" lIns="0" tIns="0" rIns="0" bIns="0" anchor="ctr"/>
          <a:lstStyle/>
          <a:p>
            <a:pPr marL="0" indent="0">
              <a:buNone/>
            </a:pPr>
            <a:r>
              <a:rPr lang="en-IN" sz="1300" b="1">
                <a:solidFill>
                  <a:srgbClr val="FFFFFF"/>
                </a:solidFill>
                <a:latin typeface="Calibri"/>
                <a:ea typeface="Calibri"/>
                <a:cs typeface="Calibri"/>
              </a:rPr>
              <a:t>CONTRACT DOCUMENTS IN SCOPE</a:t>
            </a:r>
            <a:endParaRPr sz="1300" b="1">
              <a:solidFill>
                <a:srgbClr val="FFFFFF"/>
              </a:solidFill>
              <a:latin typeface="Calibri"/>
              <a:ea typeface="Calibri"/>
              <a:cs typeface="Calibri"/>
            </a:endParaRPr>
          </a:p>
        </p:txBody>
      </p:sp>
      <p:sp>
        <p:nvSpPr>
          <p:cNvPr id="37" name="Shape 35">
            <a:extLst>
              <a:ext uri="{FF2B5EF4-FFF2-40B4-BE49-F238E27FC236}">
                <a16:creationId xmlns:a16="http://schemas.microsoft.com/office/drawing/2014/main" id="{8935E934-D6FF-4B59-9D4B-867EC1B34274}"/>
              </a:ext>
            </a:extLst>
          </p:cNvPr>
          <p:cNvSpPr>
            <a:spLocks noGrp="1"/>
          </p:cNvSpPr>
          <p:nvPr/>
        </p:nvSpPr>
        <p:spPr>
          <a:xfrm>
            <a:off x="6976872" y="3977640"/>
            <a:ext cx="4465015" cy="0"/>
          </a:xfrm>
          <a:prstGeom prst="line">
            <a:avLst/>
          </a:prstGeom>
          <a:noFill/>
          <a:ln w="12700">
            <a:solidFill>
              <a:srgbClr val="27405E"/>
            </a:solidFill>
            <a:prstDash val="solid"/>
          </a:ln>
        </p:spPr>
        <p:txBody>
          <a:bodyPr/>
          <a:lstStyle/>
          <a:p>
            <a:endParaRPr/>
          </a:p>
        </p:txBody>
      </p:sp>
      <p:sp>
        <p:nvSpPr>
          <p:cNvPr id="38" name="Text 36">
            <a:extLst>
              <a:ext uri="{FF2B5EF4-FFF2-40B4-BE49-F238E27FC236}">
                <a16:creationId xmlns:a16="http://schemas.microsoft.com/office/drawing/2014/main" id="{3CB58CA1-AF3B-4909-B62B-BD42B644B473}"/>
              </a:ext>
            </a:extLst>
          </p:cNvPr>
          <p:cNvSpPr>
            <a:spLocks noGrp="1"/>
          </p:cNvSpPr>
          <p:nvPr/>
        </p:nvSpPr>
        <p:spPr>
          <a:xfrm>
            <a:off x="6976872" y="4096512"/>
            <a:ext cx="4510735" cy="256032"/>
          </a:xfrm>
          <a:prstGeom prst="rect">
            <a:avLst/>
          </a:prstGeom>
          <a:noFill/>
        </p:spPr>
        <p:txBody>
          <a:bodyPr wrap="square" lIns="0" tIns="0" rIns="0" bIns="0" anchor="ctr"/>
          <a:lstStyle/>
          <a:p>
            <a:pPr marL="0" indent="0">
              <a:buNone/>
            </a:pPr>
            <a:r>
              <a:rPr lang="en-IN" b="1">
                <a:solidFill>
                  <a:srgbClr val="52E5D4"/>
                </a:solidFill>
                <a:latin typeface="Calibri"/>
                <a:ea typeface="Calibri"/>
                <a:cs typeface="Calibri"/>
              </a:rPr>
              <a:t>300+</a:t>
            </a:r>
            <a:endParaRPr b="1">
              <a:solidFill>
                <a:srgbClr val="52E5D4"/>
              </a:solidFill>
              <a:latin typeface="Calibri"/>
              <a:ea typeface="Calibri"/>
              <a:cs typeface="Calibri"/>
            </a:endParaRPr>
          </a:p>
        </p:txBody>
      </p:sp>
      <p:sp>
        <p:nvSpPr>
          <p:cNvPr id="39" name="Text 37">
            <a:extLst>
              <a:ext uri="{FF2B5EF4-FFF2-40B4-BE49-F238E27FC236}">
                <a16:creationId xmlns:a16="http://schemas.microsoft.com/office/drawing/2014/main" id="{06887AA7-AFD4-49CE-AAC8-FBF836B17FCB}"/>
              </a:ext>
            </a:extLst>
          </p:cNvPr>
          <p:cNvSpPr>
            <a:spLocks noGrp="1"/>
          </p:cNvSpPr>
          <p:nvPr/>
        </p:nvSpPr>
        <p:spPr>
          <a:xfrm>
            <a:off x="6976872" y="4407408"/>
            <a:ext cx="4510735" cy="347472"/>
          </a:xfrm>
          <a:prstGeom prst="rect">
            <a:avLst/>
          </a:prstGeom>
          <a:noFill/>
        </p:spPr>
        <p:txBody>
          <a:bodyPr wrap="square" lIns="0" tIns="0" rIns="0" bIns="0" anchor="ctr"/>
          <a:lstStyle/>
          <a:p>
            <a:pPr marL="0" indent="0">
              <a:buNone/>
            </a:pPr>
            <a:r>
              <a:rPr lang="en-IN" sz="1400" b="1">
                <a:solidFill>
                  <a:srgbClr val="5EEAD4"/>
                </a:solidFill>
                <a:latin typeface="Calibri"/>
                <a:ea typeface="Calibri"/>
                <a:cs typeface="Calibri"/>
              </a:rPr>
              <a:t>PROVIDER ORGANIZATIONS</a:t>
            </a:r>
            <a:endParaRPr sz="1400" b="1">
              <a:solidFill>
                <a:srgbClr val="5EEAD4"/>
              </a:solidFill>
              <a:latin typeface="Calibri"/>
              <a:ea typeface="Calibri"/>
              <a:cs typeface="Calibri"/>
            </a:endParaRPr>
          </a:p>
        </p:txBody>
      </p:sp>
      <p:sp>
        <p:nvSpPr>
          <p:cNvPr id="40" name="Text 38">
            <a:extLst>
              <a:ext uri="{FF2B5EF4-FFF2-40B4-BE49-F238E27FC236}">
                <a16:creationId xmlns:a16="http://schemas.microsoft.com/office/drawing/2014/main" id="{59471371-1774-4EF3-8E4E-583805F139CA}"/>
              </a:ext>
            </a:extLst>
          </p:cNvPr>
          <p:cNvSpPr>
            <a:spLocks noGrp="1"/>
          </p:cNvSpPr>
          <p:nvPr/>
        </p:nvSpPr>
        <p:spPr>
          <a:xfrm>
            <a:off x="6976872" y="4791456"/>
            <a:ext cx="4510735" cy="347472"/>
          </a:xfrm>
          <a:prstGeom prst="rect">
            <a:avLst/>
          </a:prstGeom>
          <a:noFill/>
        </p:spPr>
        <p:txBody>
          <a:bodyPr wrap="square" lIns="0" tIns="0" rIns="0" bIns="0" anchor="ctr"/>
          <a:lstStyle/>
          <a:p>
            <a:pPr marL="0" indent="0">
              <a:buNone/>
            </a:pPr>
            <a:r>
              <a:rPr lang="en-IN" b="1">
                <a:solidFill>
                  <a:srgbClr val="52E5D4"/>
                </a:solidFill>
                <a:latin typeface="Calibri"/>
                <a:ea typeface="Calibri"/>
                <a:cs typeface="Calibri"/>
              </a:rPr>
              <a:t>31</a:t>
            </a:r>
            <a:endParaRPr b="1">
              <a:solidFill>
                <a:srgbClr val="52E5D4"/>
              </a:solidFill>
              <a:latin typeface="Calibri"/>
              <a:ea typeface="Calibri"/>
              <a:cs typeface="Calibri"/>
            </a:endParaRPr>
          </a:p>
        </p:txBody>
      </p:sp>
      <p:sp>
        <p:nvSpPr>
          <p:cNvPr id="41" name="Text 39">
            <a:extLst>
              <a:ext uri="{FF2B5EF4-FFF2-40B4-BE49-F238E27FC236}">
                <a16:creationId xmlns:a16="http://schemas.microsoft.com/office/drawing/2014/main" id="{E0ABA369-8A39-4BCB-8435-07E3AFFCD6D4}"/>
              </a:ext>
            </a:extLst>
          </p:cNvPr>
          <p:cNvSpPr>
            <a:spLocks noGrp="1"/>
          </p:cNvSpPr>
          <p:nvPr/>
        </p:nvSpPr>
        <p:spPr>
          <a:xfrm>
            <a:off x="6976872" y="5175504"/>
            <a:ext cx="4510735" cy="347472"/>
          </a:xfrm>
          <a:prstGeom prst="rect">
            <a:avLst/>
          </a:prstGeom>
          <a:noFill/>
        </p:spPr>
        <p:txBody>
          <a:bodyPr wrap="square" lIns="0" tIns="0" rIns="0" bIns="0" anchor="ctr"/>
          <a:lstStyle/>
          <a:p>
            <a:pPr marL="0" indent="0">
              <a:buNone/>
            </a:pPr>
            <a:r>
              <a:rPr lang="en-IN" sz="1400" b="1">
                <a:solidFill>
                  <a:srgbClr val="5EEAD4"/>
                </a:solidFill>
                <a:latin typeface="Calibri"/>
                <a:ea typeface="Calibri"/>
                <a:cs typeface="Calibri"/>
              </a:rPr>
              <a:t>PRODUCTION TABLES</a:t>
            </a:r>
            <a:endParaRPr sz="1400" b="1">
              <a:solidFill>
                <a:srgbClr val="5EEAD4"/>
              </a:solidFill>
              <a:latin typeface="Calibri"/>
              <a:ea typeface="Calibri"/>
              <a:cs typeface="Calibri"/>
            </a:endParaRPr>
          </a:p>
        </p:txBody>
      </p:sp>
      <p:sp>
        <p:nvSpPr>
          <p:cNvPr id="42" name="Text 40">
            <a:extLst>
              <a:ext uri="{FF2B5EF4-FFF2-40B4-BE49-F238E27FC236}">
                <a16:creationId xmlns:a16="http://schemas.microsoft.com/office/drawing/2014/main" id="{45701C4A-F93D-4CA9-B68F-97159D7C3BFB}"/>
              </a:ext>
            </a:extLst>
          </p:cNvPr>
          <p:cNvSpPr>
            <a:spLocks noGrp="1"/>
          </p:cNvSpPr>
          <p:nvPr/>
        </p:nvSpPr>
        <p:spPr>
          <a:xfrm>
            <a:off x="6976872" y="5588000"/>
            <a:ext cx="4510735" cy="355600"/>
          </a:xfrm>
          <a:prstGeom prst="rect">
            <a:avLst/>
          </a:prstGeom>
          <a:noFill/>
        </p:spPr>
        <p:txBody>
          <a:bodyPr wrap="square" lIns="0" tIns="0" rIns="0" bIns="0" anchor="ctr"/>
          <a:lstStyle/>
          <a:p>
            <a:pPr marL="0" indent="0">
              <a:buNone/>
            </a:pPr>
            <a:r>
              <a:rPr lang="en-US" sz="1150" b="1">
                <a:solidFill>
                  <a:srgbClr val="52E5D4"/>
                </a:solidFill>
                <a:latin typeface="Calibri"/>
                <a:ea typeface="Calibri"/>
                <a:cs typeface="Calibri"/>
              </a:rPr>
              <a:t>Foundation exists; investment completes onboarding, hardens controls and operationalizes reuse.</a:t>
            </a:r>
            <a:endParaRPr sz="1150" b="1">
              <a:solidFill>
                <a:srgbClr val="52E5D4"/>
              </a:solidFill>
              <a:latin typeface="Calibri"/>
              <a:ea typeface="Calibri"/>
              <a:cs typeface="Calibri"/>
            </a:endParaRPr>
          </a:p>
        </p:txBody>
      </p:sp>
      <p:sp>
        <p:nvSpPr>
          <p:cNvPr id="46" name="Text 44">
            <a:extLst>
              <a:ext uri="{FF2B5EF4-FFF2-40B4-BE49-F238E27FC236}">
                <a16:creationId xmlns:a16="http://schemas.microsoft.com/office/drawing/2014/main" id="{47F9F4F7-9937-43FD-ADA6-D2188448B854}"/>
              </a:ext>
            </a:extLst>
          </p:cNvPr>
          <p:cNvSpPr>
            <a:spLocks noGrp="1"/>
          </p:cNvSpPr>
          <p:nvPr/>
        </p:nvSpPr>
        <p:spPr>
          <a:xfrm>
            <a:off x="548640" y="6473952"/>
            <a:ext cx="8229600" cy="256032"/>
          </a:xfrm>
          <a:prstGeom prst="rect">
            <a:avLst/>
          </a:prstGeom>
          <a:noFill/>
        </p:spPr>
        <p:txBody>
          <a:bodyPr wrap="square" lIns="0" tIns="0" rIns="0" bIns="0" anchor="ctr"/>
          <a:lstStyle/>
          <a:p>
            <a:pPr marL="0" indent="0">
              <a:buNone/>
            </a:pPr>
            <a:r>
              <a:rPr lang="en-IN" sz="800" b="1">
                <a:solidFill>
                  <a:srgbClr val="64748B"/>
                </a:solidFill>
                <a:latin typeface="Calibri"/>
                <a:ea typeface="Calibri"/>
                <a:cs typeface="Calibri"/>
              </a:rPr>
              <a:t>Contract Intelligence Platform  ·  Confidential — Internal</a:t>
            </a:r>
            <a:endParaRPr sz="800" b="1">
              <a:solidFill>
                <a:srgbClr val="64748B"/>
              </a:solidFill>
              <a:latin typeface="Calibri"/>
              <a:ea typeface="Calibri"/>
              <a:cs typeface="Calibri"/>
            </a:endParaRPr>
          </a:p>
        </p:txBody>
      </p:sp>
      <p:sp>
        <p:nvSpPr>
          <p:cNvPr id="47" name="Text 45">
            <a:extLst>
              <a:ext uri="{FF2B5EF4-FFF2-40B4-BE49-F238E27FC236}">
                <a16:creationId xmlns:a16="http://schemas.microsoft.com/office/drawing/2014/main" id="{AF3515A6-1D97-4F2E-A354-80A30C3BA5AC}"/>
              </a:ext>
            </a:extLst>
          </p:cNvPr>
          <p:cNvSpPr>
            <a:spLocks noGrp="1"/>
          </p:cNvSpPr>
          <p:nvPr/>
        </p:nvSpPr>
        <p:spPr>
          <a:xfrm>
            <a:off x="10728706" y="6473952"/>
            <a:ext cx="914400" cy="256032"/>
          </a:xfrm>
          <a:prstGeom prst="rect">
            <a:avLst/>
          </a:prstGeom>
          <a:noFill/>
        </p:spPr>
        <p:txBody>
          <a:bodyPr wrap="square" lIns="0" tIns="0" rIns="0" bIns="0" anchor="ctr"/>
          <a:lstStyle/>
          <a:p>
            <a:pPr marL="0" indent="0" algn="r">
              <a:buNone/>
            </a:pPr>
            <a:r>
              <a:rPr lang="en-IN" sz="900">
                <a:solidFill>
                  <a:srgbClr val="64748B"/>
                </a:solidFill>
                <a:latin typeface="Calibri"/>
                <a:ea typeface="Calibri"/>
                <a:cs typeface="Calibri"/>
              </a:rPr>
              <a:t>05</a:t>
            </a:r>
            <a:endParaRPr sz="900">
              <a:solidFill>
                <a:srgbClr val="64748B"/>
              </a:solidFill>
              <a:latin typeface="Calibri"/>
              <a:ea typeface="Calibri"/>
              <a:cs typeface="Calibri"/>
            </a:endParaRPr>
          </a:p>
        </p:txBody>
      </p:sp>
    </p:spTree>
    <p:extLst>
      <p:ext uri="{BB962C8B-B14F-4D97-AF65-F5344CB8AC3E}">
        <p14:creationId xmlns:p14="http://schemas.microsoft.com/office/powerpoint/2010/main" val="170811891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6E00D81C-1082-4AA9-8F1C-DB8A76A43192}"/>
              </a:ext>
            </a:extLst>
          </p:cNvPr>
          <p:cNvSpPr>
            <a:spLocks noGrp="1"/>
          </p:cNvSpPr>
          <p:nvPr/>
        </p:nvSpPr>
        <p:spPr>
          <a:xfrm>
            <a:off x="548640" y="457200"/>
            <a:ext cx="11094415" cy="256032"/>
          </a:xfrm>
          <a:prstGeom prst="rect">
            <a:avLst/>
          </a:prstGeom>
          <a:noFill/>
        </p:spPr>
        <p:txBody>
          <a:bodyPr wrap="square" lIns="0" tIns="0" rIns="0" bIns="0" anchor="ctr"/>
          <a:lstStyle/>
          <a:p>
            <a:pPr marL="0" indent="0">
              <a:buNone/>
            </a:pPr>
            <a:r>
              <a:rPr sz="1100" b="1">
                <a:solidFill>
                  <a:srgbClr val="0F766E"/>
                </a:solidFill>
                <a:latin typeface="Calibri"/>
                <a:ea typeface="Calibri"/>
                <a:cs typeface="Calibri"/>
              </a:rPr>
              <a:t>SECTION 05 · QUESTIONS ENABLED</a:t>
            </a:r>
          </a:p>
        </p:txBody>
      </p:sp>
      <p:sp>
        <p:nvSpPr>
          <p:cNvPr id="3" name="Text 1">
            <a:extLst>
              <a:ext uri="{FF2B5EF4-FFF2-40B4-BE49-F238E27FC236}">
                <a16:creationId xmlns:a16="http://schemas.microsoft.com/office/drawing/2014/main" id="{C4F5EFD2-5000-421B-8083-8EA615A326DA}"/>
              </a:ext>
            </a:extLst>
          </p:cNvPr>
          <p:cNvSpPr>
            <a:spLocks noGrp="1"/>
          </p:cNvSpPr>
          <p:nvPr/>
        </p:nvSpPr>
        <p:spPr>
          <a:xfrm>
            <a:off x="548640" y="804672"/>
            <a:ext cx="11094466" cy="1005840"/>
          </a:xfrm>
          <a:prstGeom prst="rect">
            <a:avLst/>
          </a:prstGeom>
          <a:noFill/>
        </p:spPr>
        <p:txBody>
          <a:bodyPr wrap="square" lIns="0" tIns="0" rIns="0" bIns="0" anchor="t">
            <a:normAutofit/>
          </a:bodyPr>
          <a:lstStyle/>
          <a:p>
            <a:pPr marL="0" indent="0">
              <a:lnSpc>
                <a:spcPts val="3080"/>
              </a:lnSpc>
              <a:buNone/>
            </a:pPr>
            <a:r>
              <a:rPr sz="2400" b="1" dirty="0">
                <a:solidFill>
                  <a:srgbClr val="0B1B2E"/>
                </a:solidFill>
                <a:latin typeface="Georgia"/>
                <a:ea typeface="Georgia"/>
                <a:cs typeface="Georgia"/>
              </a:rPr>
              <a:t>Business users can ask questions in familiar language—within defined, governed use cases</a:t>
            </a:r>
          </a:p>
        </p:txBody>
      </p:sp>
      <p:sp>
        <p:nvSpPr>
          <p:cNvPr id="4" name="Shape 2">
            <a:extLst>
              <a:ext uri="{FF2B5EF4-FFF2-40B4-BE49-F238E27FC236}">
                <a16:creationId xmlns:a16="http://schemas.microsoft.com/office/drawing/2014/main" id="{5DD23F08-44AD-4F8B-B26A-90EA58E9F876}"/>
              </a:ext>
            </a:extLst>
          </p:cNvPr>
          <p:cNvSpPr>
            <a:spLocks noGrp="1"/>
          </p:cNvSpPr>
          <p:nvPr/>
        </p:nvSpPr>
        <p:spPr>
          <a:xfrm>
            <a:off x="548640" y="1874520"/>
            <a:ext cx="5669280" cy="658368"/>
          </a:xfrm>
          <a:prstGeom prst="roundRect">
            <a:avLst>
              <a:gd name="adj" fmla="val 9722"/>
            </a:avLst>
          </a:prstGeom>
          <a:solidFill>
            <a:srgbClr val="E7F6F4"/>
          </a:solidFill>
          <a:effectLst>
            <a:outerShdw blurRad="101600" dist="25400" dir="8100000" algn="bl" rotWithShape="0">
              <a:srgbClr val="1E293B">
                <a:alpha val="11000"/>
              </a:srgbClr>
            </a:outerShdw>
          </a:effectLst>
        </p:spPr>
        <p:txBody>
          <a:bodyPr/>
          <a:lstStyle/>
          <a:p>
            <a:endParaRPr/>
          </a:p>
        </p:txBody>
      </p:sp>
      <p:sp>
        <p:nvSpPr>
          <p:cNvPr id="5" name="Text 3">
            <a:extLst>
              <a:ext uri="{FF2B5EF4-FFF2-40B4-BE49-F238E27FC236}">
                <a16:creationId xmlns:a16="http://schemas.microsoft.com/office/drawing/2014/main" id="{44642E7B-644F-4375-936E-53A94BF535BB}"/>
              </a:ext>
            </a:extLst>
          </p:cNvPr>
          <p:cNvSpPr>
            <a:spLocks noGrp="1"/>
          </p:cNvSpPr>
          <p:nvPr/>
        </p:nvSpPr>
        <p:spPr>
          <a:xfrm>
            <a:off x="713232" y="1874520"/>
            <a:ext cx="5394960" cy="658368"/>
          </a:xfrm>
          <a:prstGeom prst="rect">
            <a:avLst/>
          </a:prstGeom>
          <a:noFill/>
        </p:spPr>
        <p:txBody>
          <a:bodyPr wrap="square" lIns="0" tIns="0" rIns="0" bIns="0" anchor="ctr"/>
          <a:lstStyle/>
          <a:p>
            <a:pPr marL="0" indent="0">
              <a:lnSpc>
                <a:spcPts val="1450"/>
              </a:lnSpc>
              <a:buNone/>
            </a:pPr>
            <a:r>
              <a:rPr sz="1150">
                <a:solidFill>
                  <a:srgbClr val="0F766E"/>
                </a:solidFill>
                <a:latin typeface="Calibri"/>
                <a:ea typeface="Calibri"/>
                <a:cs typeface="Calibri"/>
              </a:rPr>
              <a:t>Business question</a:t>
            </a:r>
          </a:p>
        </p:txBody>
      </p:sp>
      <p:sp>
        <p:nvSpPr>
          <p:cNvPr id="6" name="Shape 4">
            <a:extLst>
              <a:ext uri="{FF2B5EF4-FFF2-40B4-BE49-F238E27FC236}">
                <a16:creationId xmlns:a16="http://schemas.microsoft.com/office/drawing/2014/main" id="{1286C746-63C4-4D8E-9A98-06CE8B044618}"/>
              </a:ext>
            </a:extLst>
          </p:cNvPr>
          <p:cNvSpPr>
            <a:spLocks noGrp="1"/>
          </p:cNvSpPr>
          <p:nvPr/>
        </p:nvSpPr>
        <p:spPr>
          <a:xfrm>
            <a:off x="3383280" y="2551176"/>
            <a:ext cx="0" cy="182880"/>
          </a:xfrm>
          <a:prstGeom prst="line">
            <a:avLst/>
          </a:prstGeom>
          <a:noFill/>
          <a:ln w="22860">
            <a:solidFill>
              <a:srgbClr val="0F766E"/>
            </a:solidFill>
            <a:prstDash val="solid"/>
            <a:tailEnd type="triangle"/>
          </a:ln>
        </p:spPr>
        <p:txBody>
          <a:bodyPr/>
          <a:lstStyle/>
          <a:p>
            <a:endParaRPr/>
          </a:p>
        </p:txBody>
      </p:sp>
      <p:sp>
        <p:nvSpPr>
          <p:cNvPr id="7" name="Shape 5">
            <a:extLst>
              <a:ext uri="{FF2B5EF4-FFF2-40B4-BE49-F238E27FC236}">
                <a16:creationId xmlns:a16="http://schemas.microsoft.com/office/drawing/2014/main" id="{DDFA1318-251B-4569-93C0-AD31D5B8F995}"/>
              </a:ext>
            </a:extLst>
          </p:cNvPr>
          <p:cNvSpPr>
            <a:spLocks noGrp="1"/>
          </p:cNvSpPr>
          <p:nvPr/>
        </p:nvSpPr>
        <p:spPr>
          <a:xfrm>
            <a:off x="548640" y="2734056"/>
            <a:ext cx="5669280" cy="658368"/>
          </a:xfrm>
          <a:prstGeom prst="roundRect">
            <a:avLst>
              <a:gd name="adj" fmla="val 9722"/>
            </a:avLst>
          </a:prstGeom>
          <a:solidFill>
            <a:srgbClr val="0B1B2E"/>
          </a:solidFill>
          <a:effectLst>
            <a:outerShdw blurRad="177800" dist="50800" dir="8100000" algn="bl" rotWithShape="0">
              <a:srgbClr val="000000">
                <a:alpha val="22000"/>
              </a:srgbClr>
            </a:outerShdw>
          </a:effectLst>
        </p:spPr>
        <p:txBody>
          <a:bodyPr/>
          <a:lstStyle/>
          <a:p>
            <a:endParaRPr/>
          </a:p>
        </p:txBody>
      </p:sp>
      <p:sp>
        <p:nvSpPr>
          <p:cNvPr id="8" name="Shape 6">
            <a:extLst>
              <a:ext uri="{FF2B5EF4-FFF2-40B4-BE49-F238E27FC236}">
                <a16:creationId xmlns:a16="http://schemas.microsoft.com/office/drawing/2014/main" id="{0D990365-D014-4657-B886-AB97C9FCB8DA}"/>
              </a:ext>
            </a:extLst>
          </p:cNvPr>
          <p:cNvSpPr>
            <a:spLocks noGrp="1"/>
          </p:cNvSpPr>
          <p:nvPr/>
        </p:nvSpPr>
        <p:spPr>
          <a:xfrm>
            <a:off x="548640" y="2734056"/>
            <a:ext cx="82296" cy="658368"/>
          </a:xfrm>
          <a:prstGeom prst="rect">
            <a:avLst/>
          </a:prstGeom>
          <a:solidFill>
            <a:srgbClr val="14B8A6"/>
          </a:solidFill>
        </p:spPr>
        <p:txBody>
          <a:bodyPr/>
          <a:lstStyle/>
          <a:p>
            <a:endParaRPr/>
          </a:p>
        </p:txBody>
      </p:sp>
      <p:sp>
        <p:nvSpPr>
          <p:cNvPr id="9" name="Text 7">
            <a:extLst>
              <a:ext uri="{FF2B5EF4-FFF2-40B4-BE49-F238E27FC236}">
                <a16:creationId xmlns:a16="http://schemas.microsoft.com/office/drawing/2014/main" id="{53BA284D-9FB4-49EF-8CC0-9823E6725242}"/>
              </a:ext>
            </a:extLst>
          </p:cNvPr>
          <p:cNvSpPr>
            <a:spLocks noGrp="1"/>
          </p:cNvSpPr>
          <p:nvPr/>
        </p:nvSpPr>
        <p:spPr>
          <a:xfrm>
            <a:off x="804672" y="2734056"/>
            <a:ext cx="5303520" cy="658368"/>
          </a:xfrm>
          <a:prstGeom prst="rect">
            <a:avLst/>
          </a:prstGeom>
          <a:noFill/>
        </p:spPr>
        <p:txBody>
          <a:bodyPr wrap="square" lIns="0" tIns="0" rIns="0" bIns="0" anchor="ctr"/>
          <a:lstStyle/>
          <a:p>
            <a:pPr marL="0" indent="0">
              <a:lnSpc>
                <a:spcPts val="1450"/>
              </a:lnSpc>
              <a:buNone/>
            </a:pPr>
            <a:r>
              <a:rPr sz="1150" b="1">
                <a:solidFill>
                  <a:srgbClr val="FFFFFF"/>
                </a:solidFill>
                <a:latin typeface="Calibri"/>
                <a:ea typeface="Calibri"/>
                <a:cs typeface="Calibri"/>
              </a:rPr>
              <a:t>Genie semantic layer</a:t>
            </a:r>
          </a:p>
          <a:p>
            <a:pPr marL="0" indent="0">
              <a:lnSpc>
                <a:spcPts val="1450"/>
              </a:lnSpc>
              <a:buNone/>
            </a:pPr>
            <a:r>
              <a:rPr sz="1150" b="1">
                <a:solidFill>
                  <a:srgbClr val="FFFFFF"/>
                </a:solidFill>
                <a:latin typeface="Calibri"/>
                <a:ea typeface="Calibri"/>
                <a:cs typeface="Calibri"/>
              </a:rPr>
              <a:t>(curated gold tables + business column descriptions → governed SQL)</a:t>
            </a:r>
          </a:p>
        </p:txBody>
      </p:sp>
      <p:sp>
        <p:nvSpPr>
          <p:cNvPr id="10" name="Shape 8">
            <a:extLst>
              <a:ext uri="{FF2B5EF4-FFF2-40B4-BE49-F238E27FC236}">
                <a16:creationId xmlns:a16="http://schemas.microsoft.com/office/drawing/2014/main" id="{849567A4-3919-4E13-AFD4-54750D8E5AE1}"/>
              </a:ext>
            </a:extLst>
          </p:cNvPr>
          <p:cNvSpPr>
            <a:spLocks noGrp="1"/>
          </p:cNvSpPr>
          <p:nvPr/>
        </p:nvSpPr>
        <p:spPr>
          <a:xfrm>
            <a:off x="3383280" y="3410712"/>
            <a:ext cx="0" cy="182880"/>
          </a:xfrm>
          <a:prstGeom prst="line">
            <a:avLst/>
          </a:prstGeom>
          <a:noFill/>
          <a:ln w="22860">
            <a:solidFill>
              <a:srgbClr val="0F766E"/>
            </a:solidFill>
            <a:prstDash val="solid"/>
            <a:tailEnd type="triangle"/>
          </a:ln>
        </p:spPr>
        <p:txBody>
          <a:bodyPr/>
          <a:lstStyle/>
          <a:p>
            <a:endParaRPr/>
          </a:p>
        </p:txBody>
      </p:sp>
      <p:sp>
        <p:nvSpPr>
          <p:cNvPr id="11" name="Shape 9">
            <a:extLst>
              <a:ext uri="{FF2B5EF4-FFF2-40B4-BE49-F238E27FC236}">
                <a16:creationId xmlns:a16="http://schemas.microsoft.com/office/drawing/2014/main" id="{18CF286B-8C85-4E3D-A69B-A66C0648FC78}"/>
              </a:ext>
            </a:extLst>
          </p:cNvPr>
          <p:cNvSpPr>
            <a:spLocks noGrp="1"/>
          </p:cNvSpPr>
          <p:nvPr/>
        </p:nvSpPr>
        <p:spPr>
          <a:xfrm>
            <a:off x="548640" y="3593592"/>
            <a:ext cx="5669280" cy="658368"/>
          </a:xfrm>
          <a:prstGeom prst="roundRect">
            <a:avLst>
              <a:gd name="adj" fmla="val 9722"/>
            </a:avLst>
          </a:prstGeom>
          <a:solidFill>
            <a:srgbClr val="F8FAFC"/>
          </a:solidFill>
          <a:effectLst>
            <a:outerShdw blurRad="101600" dist="25400" dir="8100000" algn="bl" rotWithShape="0">
              <a:srgbClr val="1E293B">
                <a:alpha val="11000"/>
              </a:srgbClr>
            </a:outerShdw>
          </a:effectLst>
        </p:spPr>
        <p:txBody>
          <a:bodyPr/>
          <a:lstStyle/>
          <a:p>
            <a:endParaRPr/>
          </a:p>
        </p:txBody>
      </p:sp>
      <p:sp>
        <p:nvSpPr>
          <p:cNvPr id="12" name="Text 10">
            <a:extLst>
              <a:ext uri="{FF2B5EF4-FFF2-40B4-BE49-F238E27FC236}">
                <a16:creationId xmlns:a16="http://schemas.microsoft.com/office/drawing/2014/main" id="{B373B407-AE45-453E-813F-8B78DFC9441B}"/>
              </a:ext>
            </a:extLst>
          </p:cNvPr>
          <p:cNvSpPr>
            <a:spLocks noGrp="1"/>
          </p:cNvSpPr>
          <p:nvPr/>
        </p:nvSpPr>
        <p:spPr>
          <a:xfrm>
            <a:off x="713232" y="3593592"/>
            <a:ext cx="5394960" cy="658368"/>
          </a:xfrm>
          <a:prstGeom prst="rect">
            <a:avLst/>
          </a:prstGeom>
          <a:noFill/>
        </p:spPr>
        <p:txBody>
          <a:bodyPr wrap="square" lIns="0" tIns="0" rIns="0" bIns="0" anchor="ctr"/>
          <a:lstStyle/>
          <a:p>
            <a:pPr marL="0" indent="0">
              <a:lnSpc>
                <a:spcPts val="1450"/>
              </a:lnSpc>
              <a:buNone/>
            </a:pPr>
            <a:r>
              <a:rPr lang="en-US" sz="1150">
                <a:solidFill>
                  <a:srgbClr val="33415A"/>
                </a:solidFill>
                <a:latin typeface="Calibri"/>
                <a:ea typeface="Calibri"/>
                <a:cs typeface="Calibri"/>
              </a:rPr>
              <a:t>Evidence selection
(governed structured + document evidence)</a:t>
            </a:r>
            <a:endParaRPr sz="1150">
              <a:solidFill>
                <a:srgbClr val="33415A"/>
              </a:solidFill>
              <a:latin typeface="Calibri"/>
              <a:ea typeface="Calibri"/>
              <a:cs typeface="Calibri"/>
            </a:endParaRPr>
          </a:p>
        </p:txBody>
      </p:sp>
      <p:sp>
        <p:nvSpPr>
          <p:cNvPr id="13" name="Shape 11">
            <a:extLst>
              <a:ext uri="{FF2B5EF4-FFF2-40B4-BE49-F238E27FC236}">
                <a16:creationId xmlns:a16="http://schemas.microsoft.com/office/drawing/2014/main" id="{C778AC85-B97A-479E-82B1-E725F0112026}"/>
              </a:ext>
            </a:extLst>
          </p:cNvPr>
          <p:cNvSpPr>
            <a:spLocks noGrp="1"/>
          </p:cNvSpPr>
          <p:nvPr/>
        </p:nvSpPr>
        <p:spPr>
          <a:xfrm>
            <a:off x="3383280" y="4270248"/>
            <a:ext cx="0" cy="182880"/>
          </a:xfrm>
          <a:prstGeom prst="line">
            <a:avLst/>
          </a:prstGeom>
          <a:noFill/>
          <a:ln w="22860">
            <a:solidFill>
              <a:srgbClr val="0F766E"/>
            </a:solidFill>
            <a:prstDash val="solid"/>
            <a:tailEnd type="triangle"/>
          </a:ln>
        </p:spPr>
        <p:txBody>
          <a:bodyPr/>
          <a:lstStyle/>
          <a:p>
            <a:endParaRPr/>
          </a:p>
        </p:txBody>
      </p:sp>
      <p:sp>
        <p:nvSpPr>
          <p:cNvPr id="17" name="Shape 15">
            <a:extLst>
              <a:ext uri="{FF2B5EF4-FFF2-40B4-BE49-F238E27FC236}">
                <a16:creationId xmlns:a16="http://schemas.microsoft.com/office/drawing/2014/main" id="{6882CE85-DB11-4D22-963D-101996DC38EC}"/>
              </a:ext>
            </a:extLst>
          </p:cNvPr>
          <p:cNvSpPr>
            <a:spLocks noGrp="1"/>
          </p:cNvSpPr>
          <p:nvPr/>
        </p:nvSpPr>
        <p:spPr>
          <a:xfrm>
            <a:off x="548640" y="4453128"/>
            <a:ext cx="5669280" cy="658368"/>
          </a:xfrm>
          <a:prstGeom prst="roundRect">
            <a:avLst>
              <a:gd name="adj" fmla="val 9722"/>
            </a:avLst>
          </a:prstGeom>
          <a:solidFill>
            <a:srgbClr val="0B1B2E"/>
          </a:solidFill>
          <a:effectLst>
            <a:outerShdw blurRad="177800" dist="50800" dir="8100000" algn="bl" rotWithShape="0">
              <a:srgbClr val="000000">
                <a:alpha val="22000"/>
              </a:srgbClr>
            </a:outerShdw>
          </a:effectLst>
        </p:spPr>
        <p:txBody>
          <a:bodyPr/>
          <a:lstStyle/>
          <a:p>
            <a:endParaRPr/>
          </a:p>
        </p:txBody>
      </p:sp>
      <p:sp>
        <p:nvSpPr>
          <p:cNvPr id="18" name="Shape 16">
            <a:extLst>
              <a:ext uri="{FF2B5EF4-FFF2-40B4-BE49-F238E27FC236}">
                <a16:creationId xmlns:a16="http://schemas.microsoft.com/office/drawing/2014/main" id="{00465BF9-0D2A-4911-B160-EDE9C1B3B3CB}"/>
              </a:ext>
            </a:extLst>
          </p:cNvPr>
          <p:cNvSpPr>
            <a:spLocks noGrp="1"/>
          </p:cNvSpPr>
          <p:nvPr/>
        </p:nvSpPr>
        <p:spPr>
          <a:xfrm>
            <a:off x="548640" y="4453128"/>
            <a:ext cx="82296" cy="658368"/>
          </a:xfrm>
          <a:prstGeom prst="rect">
            <a:avLst/>
          </a:prstGeom>
          <a:solidFill>
            <a:srgbClr val="14B8A6"/>
          </a:solidFill>
        </p:spPr>
        <p:txBody>
          <a:bodyPr/>
          <a:lstStyle/>
          <a:p>
            <a:endParaRPr/>
          </a:p>
        </p:txBody>
      </p:sp>
      <p:sp>
        <p:nvSpPr>
          <p:cNvPr id="19" name="Text 17">
            <a:extLst>
              <a:ext uri="{FF2B5EF4-FFF2-40B4-BE49-F238E27FC236}">
                <a16:creationId xmlns:a16="http://schemas.microsoft.com/office/drawing/2014/main" id="{47F95103-2B58-4615-8B30-E528F53FA7DD}"/>
              </a:ext>
            </a:extLst>
          </p:cNvPr>
          <p:cNvSpPr>
            <a:spLocks noGrp="1"/>
          </p:cNvSpPr>
          <p:nvPr/>
        </p:nvSpPr>
        <p:spPr>
          <a:xfrm>
            <a:off x="804672" y="4453128"/>
            <a:ext cx="5303520" cy="658368"/>
          </a:xfrm>
          <a:prstGeom prst="rect">
            <a:avLst/>
          </a:prstGeom>
          <a:noFill/>
        </p:spPr>
        <p:txBody>
          <a:bodyPr wrap="square" lIns="0" tIns="0" rIns="0" bIns="0" anchor="ctr"/>
          <a:lstStyle/>
          <a:p>
            <a:pPr marL="0" indent="0">
              <a:lnSpc>
                <a:spcPts val="1450"/>
              </a:lnSpc>
              <a:buNone/>
            </a:pPr>
            <a:r>
              <a:rPr sz="1150" b="1">
                <a:solidFill>
                  <a:srgbClr val="5EEAD4"/>
                </a:solidFill>
                <a:latin typeface="Calibri"/>
                <a:ea typeface="Calibri"/>
                <a:cs typeface="Calibri"/>
              </a:rPr>
              <a:t>Answer with citations and confidence</a:t>
            </a:r>
          </a:p>
        </p:txBody>
      </p:sp>
      <p:sp>
        <p:nvSpPr>
          <p:cNvPr id="20" name="Text 18">
            <a:extLst>
              <a:ext uri="{FF2B5EF4-FFF2-40B4-BE49-F238E27FC236}">
                <a16:creationId xmlns:a16="http://schemas.microsoft.com/office/drawing/2014/main" id="{C889ECA7-BEA8-42CF-ABC6-C0C4C940F422}"/>
              </a:ext>
            </a:extLst>
          </p:cNvPr>
          <p:cNvSpPr>
            <a:spLocks noGrp="1"/>
          </p:cNvSpPr>
          <p:nvPr/>
        </p:nvSpPr>
        <p:spPr>
          <a:xfrm>
            <a:off x="6492240" y="1874520"/>
            <a:ext cx="5150815" cy="256032"/>
          </a:xfrm>
          <a:prstGeom prst="rect">
            <a:avLst/>
          </a:prstGeom>
          <a:noFill/>
        </p:spPr>
        <p:txBody>
          <a:bodyPr wrap="square" lIns="0" tIns="0" rIns="0" bIns="0" anchor="ctr"/>
          <a:lstStyle/>
          <a:p>
            <a:pPr marL="0" indent="0">
              <a:buNone/>
            </a:pPr>
            <a:r>
              <a:rPr sz="1000" b="1">
                <a:solidFill>
                  <a:srgbClr val="14B8A6"/>
                </a:solidFill>
                <a:latin typeface="Calibri"/>
                <a:ea typeface="Calibri"/>
                <a:cs typeface="Calibri"/>
              </a:rPr>
              <a:t>SCOPE OF USE</a:t>
            </a:r>
          </a:p>
        </p:txBody>
      </p:sp>
      <p:sp>
        <p:nvSpPr>
          <p:cNvPr id="21" name="Shape 19">
            <a:extLst>
              <a:ext uri="{FF2B5EF4-FFF2-40B4-BE49-F238E27FC236}">
                <a16:creationId xmlns:a16="http://schemas.microsoft.com/office/drawing/2014/main" id="{C763A83E-EEE5-4EFC-ACD1-2050F11CA029}"/>
              </a:ext>
            </a:extLst>
          </p:cNvPr>
          <p:cNvSpPr>
            <a:spLocks noGrp="1"/>
          </p:cNvSpPr>
          <p:nvPr/>
        </p:nvSpPr>
        <p:spPr>
          <a:xfrm>
            <a:off x="6492240" y="2212848"/>
            <a:ext cx="5150866" cy="548640"/>
          </a:xfrm>
          <a:prstGeom prst="rect">
            <a:avLst/>
          </a:prstGeom>
          <a:solidFill>
            <a:srgbClr val="F8FAFC"/>
          </a:solidFill>
          <a:effectLst>
            <a:outerShdw blurRad="101600" dist="25400" dir="8100000" algn="bl" rotWithShape="0">
              <a:srgbClr val="1E293B">
                <a:alpha val="11000"/>
              </a:srgbClr>
            </a:outerShdw>
          </a:effectLst>
        </p:spPr>
        <p:txBody>
          <a:bodyPr/>
          <a:lstStyle/>
          <a:p>
            <a:endParaRPr/>
          </a:p>
        </p:txBody>
      </p:sp>
      <p:sp>
        <p:nvSpPr>
          <p:cNvPr id="22" name="Shape 20">
            <a:extLst>
              <a:ext uri="{FF2B5EF4-FFF2-40B4-BE49-F238E27FC236}">
                <a16:creationId xmlns:a16="http://schemas.microsoft.com/office/drawing/2014/main" id="{BB3D455E-0F40-4122-877C-44DE273390D3}"/>
              </a:ext>
            </a:extLst>
          </p:cNvPr>
          <p:cNvSpPr>
            <a:spLocks noGrp="1"/>
          </p:cNvSpPr>
          <p:nvPr/>
        </p:nvSpPr>
        <p:spPr>
          <a:xfrm>
            <a:off x="6492240" y="2212848"/>
            <a:ext cx="82296" cy="548640"/>
          </a:xfrm>
          <a:prstGeom prst="rect">
            <a:avLst/>
          </a:prstGeom>
          <a:solidFill>
            <a:srgbClr val="14B8A6"/>
          </a:solidFill>
        </p:spPr>
        <p:txBody>
          <a:bodyPr/>
          <a:lstStyle/>
          <a:p>
            <a:endParaRPr/>
          </a:p>
        </p:txBody>
      </p:sp>
      <p:sp>
        <p:nvSpPr>
          <p:cNvPr id="23" name="Text 21">
            <a:extLst>
              <a:ext uri="{FF2B5EF4-FFF2-40B4-BE49-F238E27FC236}">
                <a16:creationId xmlns:a16="http://schemas.microsoft.com/office/drawing/2014/main" id="{950A35F3-BE17-4F63-B678-2E6105267B69}"/>
              </a:ext>
            </a:extLst>
          </p:cNvPr>
          <p:cNvSpPr>
            <a:spLocks noGrp="1"/>
          </p:cNvSpPr>
          <p:nvPr/>
        </p:nvSpPr>
        <p:spPr>
          <a:xfrm>
            <a:off x="6711696" y="2263648"/>
            <a:ext cx="4803394" cy="215900"/>
          </a:xfrm>
          <a:prstGeom prst="rect">
            <a:avLst/>
          </a:prstGeom>
          <a:noFill/>
        </p:spPr>
        <p:txBody>
          <a:bodyPr wrap="square" lIns="0" tIns="0" rIns="0" bIns="0" anchor="ctr">
            <a:normAutofit/>
          </a:bodyPr>
          <a:lstStyle/>
          <a:p>
            <a:pPr marL="0" indent="0">
              <a:buNone/>
            </a:pPr>
            <a:r>
              <a:rPr sz="1150" b="1">
                <a:solidFill>
                  <a:srgbClr val="0B1B2E"/>
                </a:solidFill>
                <a:latin typeface="Calibri"/>
                <a:ea typeface="Calibri"/>
                <a:cs typeface="Calibri"/>
              </a:rPr>
              <a:t>Rate intelligence</a:t>
            </a:r>
          </a:p>
        </p:txBody>
      </p:sp>
      <p:sp>
        <p:nvSpPr>
          <p:cNvPr id="24" name="Text 22">
            <a:extLst>
              <a:ext uri="{FF2B5EF4-FFF2-40B4-BE49-F238E27FC236}">
                <a16:creationId xmlns:a16="http://schemas.microsoft.com/office/drawing/2014/main" id="{F085E513-1B4B-4D60-BB21-59663E0E459B}"/>
              </a:ext>
            </a:extLst>
          </p:cNvPr>
          <p:cNvSpPr>
            <a:spLocks noGrp="1"/>
          </p:cNvSpPr>
          <p:nvPr/>
        </p:nvSpPr>
        <p:spPr>
          <a:xfrm>
            <a:off x="6711696" y="2479548"/>
            <a:ext cx="4803394" cy="215900"/>
          </a:xfrm>
          <a:prstGeom prst="rect">
            <a:avLst/>
          </a:prstGeom>
          <a:noFill/>
        </p:spPr>
        <p:txBody>
          <a:bodyPr wrap="square" lIns="0" tIns="0" rIns="0" bIns="0" anchor="ctr">
            <a:normAutofit/>
          </a:bodyPr>
          <a:lstStyle/>
          <a:p>
            <a:pPr marL="0" indent="0">
              <a:buNone/>
            </a:pPr>
            <a:r>
              <a:rPr lang="en-IN" sz="1000">
                <a:solidFill>
                  <a:srgbClr val="64748B"/>
                </a:solidFill>
                <a:latin typeface="Calibri"/>
                <a:ea typeface="Calibri"/>
                <a:cs typeface="Calibri"/>
              </a:rPr>
              <a:t>Current reimbursement terms</a:t>
            </a:r>
            <a:endParaRPr sz="1000">
              <a:solidFill>
                <a:srgbClr val="64748B"/>
              </a:solidFill>
              <a:latin typeface="Calibri"/>
              <a:ea typeface="Calibri"/>
              <a:cs typeface="Calibri"/>
            </a:endParaRPr>
          </a:p>
        </p:txBody>
      </p:sp>
      <p:sp>
        <p:nvSpPr>
          <p:cNvPr id="25" name="Shape 23">
            <a:extLst>
              <a:ext uri="{FF2B5EF4-FFF2-40B4-BE49-F238E27FC236}">
                <a16:creationId xmlns:a16="http://schemas.microsoft.com/office/drawing/2014/main" id="{D642430D-D167-4367-AF5F-6BBA5F683627}"/>
              </a:ext>
            </a:extLst>
          </p:cNvPr>
          <p:cNvSpPr>
            <a:spLocks noGrp="1"/>
          </p:cNvSpPr>
          <p:nvPr/>
        </p:nvSpPr>
        <p:spPr>
          <a:xfrm>
            <a:off x="6492240" y="2822448"/>
            <a:ext cx="5150866" cy="548640"/>
          </a:xfrm>
          <a:prstGeom prst="rect">
            <a:avLst/>
          </a:prstGeom>
          <a:solidFill>
            <a:srgbClr val="FFFFFF"/>
          </a:solidFill>
          <a:effectLst>
            <a:outerShdw blurRad="101600" dist="25400" dir="8100000" algn="bl" rotWithShape="0">
              <a:srgbClr val="1E293B">
                <a:alpha val="11000"/>
              </a:srgbClr>
            </a:outerShdw>
          </a:effectLst>
        </p:spPr>
        <p:txBody>
          <a:bodyPr/>
          <a:lstStyle/>
          <a:p>
            <a:endParaRPr/>
          </a:p>
        </p:txBody>
      </p:sp>
      <p:sp>
        <p:nvSpPr>
          <p:cNvPr id="26" name="Shape 24">
            <a:extLst>
              <a:ext uri="{FF2B5EF4-FFF2-40B4-BE49-F238E27FC236}">
                <a16:creationId xmlns:a16="http://schemas.microsoft.com/office/drawing/2014/main" id="{12944511-07B0-4EF5-B84C-C4AB2E7D4F0A}"/>
              </a:ext>
            </a:extLst>
          </p:cNvPr>
          <p:cNvSpPr>
            <a:spLocks noGrp="1"/>
          </p:cNvSpPr>
          <p:nvPr/>
        </p:nvSpPr>
        <p:spPr>
          <a:xfrm>
            <a:off x="6492240" y="2822448"/>
            <a:ext cx="82296" cy="548640"/>
          </a:xfrm>
          <a:prstGeom prst="rect">
            <a:avLst/>
          </a:prstGeom>
          <a:solidFill>
            <a:srgbClr val="14B8A6"/>
          </a:solidFill>
        </p:spPr>
        <p:txBody>
          <a:bodyPr/>
          <a:lstStyle/>
          <a:p>
            <a:endParaRPr/>
          </a:p>
        </p:txBody>
      </p:sp>
      <p:sp>
        <p:nvSpPr>
          <p:cNvPr id="27" name="Text 25">
            <a:extLst>
              <a:ext uri="{FF2B5EF4-FFF2-40B4-BE49-F238E27FC236}">
                <a16:creationId xmlns:a16="http://schemas.microsoft.com/office/drawing/2014/main" id="{A841E1FC-A4BA-4A18-8390-9A9D15BDB8EE}"/>
              </a:ext>
            </a:extLst>
          </p:cNvPr>
          <p:cNvSpPr>
            <a:spLocks noGrp="1"/>
          </p:cNvSpPr>
          <p:nvPr/>
        </p:nvSpPr>
        <p:spPr>
          <a:xfrm>
            <a:off x="6711696" y="2873248"/>
            <a:ext cx="4803394" cy="215900"/>
          </a:xfrm>
          <a:prstGeom prst="rect">
            <a:avLst/>
          </a:prstGeom>
          <a:noFill/>
        </p:spPr>
        <p:txBody>
          <a:bodyPr wrap="square" lIns="0" tIns="0" rIns="0" bIns="0" anchor="ctr">
            <a:normAutofit/>
          </a:bodyPr>
          <a:lstStyle/>
          <a:p>
            <a:pPr marL="0" indent="0">
              <a:buNone/>
            </a:pPr>
            <a:r>
              <a:rPr sz="1150" b="1">
                <a:solidFill>
                  <a:srgbClr val="0B1B2E"/>
                </a:solidFill>
                <a:latin typeface="Calibri"/>
                <a:ea typeface="Calibri"/>
                <a:cs typeface="Calibri"/>
              </a:rPr>
              <a:t>Contract status</a:t>
            </a:r>
          </a:p>
        </p:txBody>
      </p:sp>
      <p:sp>
        <p:nvSpPr>
          <p:cNvPr id="28" name="Text 26">
            <a:extLst>
              <a:ext uri="{FF2B5EF4-FFF2-40B4-BE49-F238E27FC236}">
                <a16:creationId xmlns:a16="http://schemas.microsoft.com/office/drawing/2014/main" id="{DB425B5E-C183-4DA5-9893-105F630D368B}"/>
              </a:ext>
            </a:extLst>
          </p:cNvPr>
          <p:cNvSpPr>
            <a:spLocks noGrp="1"/>
          </p:cNvSpPr>
          <p:nvPr/>
        </p:nvSpPr>
        <p:spPr>
          <a:xfrm>
            <a:off x="6711696" y="3089148"/>
            <a:ext cx="4803394" cy="215900"/>
          </a:xfrm>
          <a:prstGeom prst="rect">
            <a:avLst/>
          </a:prstGeom>
          <a:noFill/>
        </p:spPr>
        <p:txBody>
          <a:bodyPr wrap="square" lIns="0" tIns="0" rIns="0" bIns="0" anchor="ctr">
            <a:normAutofit/>
          </a:bodyPr>
          <a:lstStyle/>
          <a:p>
            <a:pPr marL="0" indent="0">
              <a:buNone/>
            </a:pPr>
            <a:r>
              <a:rPr lang="en-US" sz="1000">
                <a:solidFill>
                  <a:srgbClr val="64748B"/>
                </a:solidFill>
                <a:latin typeface="Calibri"/>
                <a:ea typeface="Calibri"/>
                <a:cs typeface="Calibri"/>
              </a:rPr>
              <a:t>Active, expiring and amended agreements</a:t>
            </a:r>
            <a:endParaRPr sz="1000">
              <a:solidFill>
                <a:srgbClr val="64748B"/>
              </a:solidFill>
              <a:latin typeface="Calibri"/>
              <a:ea typeface="Calibri"/>
              <a:cs typeface="Calibri"/>
            </a:endParaRPr>
          </a:p>
        </p:txBody>
      </p:sp>
      <p:sp>
        <p:nvSpPr>
          <p:cNvPr id="29" name="Shape 27">
            <a:extLst>
              <a:ext uri="{FF2B5EF4-FFF2-40B4-BE49-F238E27FC236}">
                <a16:creationId xmlns:a16="http://schemas.microsoft.com/office/drawing/2014/main" id="{B1E1C493-D604-43B0-9ED8-3C7A9A536F24}"/>
              </a:ext>
            </a:extLst>
          </p:cNvPr>
          <p:cNvSpPr>
            <a:spLocks noGrp="1"/>
          </p:cNvSpPr>
          <p:nvPr/>
        </p:nvSpPr>
        <p:spPr>
          <a:xfrm>
            <a:off x="6492240" y="3432048"/>
            <a:ext cx="5150866" cy="548640"/>
          </a:xfrm>
          <a:prstGeom prst="rect">
            <a:avLst/>
          </a:prstGeom>
          <a:solidFill>
            <a:srgbClr val="F8FAFC"/>
          </a:solidFill>
          <a:effectLst>
            <a:outerShdw blurRad="101600" dist="25400" dir="8100000" algn="bl" rotWithShape="0">
              <a:srgbClr val="1E293B">
                <a:alpha val="11000"/>
              </a:srgbClr>
            </a:outerShdw>
          </a:effectLst>
        </p:spPr>
        <p:txBody>
          <a:bodyPr/>
          <a:lstStyle/>
          <a:p>
            <a:endParaRPr/>
          </a:p>
        </p:txBody>
      </p:sp>
      <p:sp>
        <p:nvSpPr>
          <p:cNvPr id="30" name="Shape 28">
            <a:extLst>
              <a:ext uri="{FF2B5EF4-FFF2-40B4-BE49-F238E27FC236}">
                <a16:creationId xmlns:a16="http://schemas.microsoft.com/office/drawing/2014/main" id="{2E3ED276-65FC-48FF-B170-3EB016673DF4}"/>
              </a:ext>
            </a:extLst>
          </p:cNvPr>
          <p:cNvSpPr>
            <a:spLocks noGrp="1"/>
          </p:cNvSpPr>
          <p:nvPr/>
        </p:nvSpPr>
        <p:spPr>
          <a:xfrm>
            <a:off x="6492240" y="3432048"/>
            <a:ext cx="82296" cy="548640"/>
          </a:xfrm>
          <a:prstGeom prst="rect">
            <a:avLst/>
          </a:prstGeom>
          <a:solidFill>
            <a:srgbClr val="14B8A6"/>
          </a:solidFill>
        </p:spPr>
        <p:txBody>
          <a:bodyPr/>
          <a:lstStyle/>
          <a:p>
            <a:endParaRPr/>
          </a:p>
        </p:txBody>
      </p:sp>
      <p:sp>
        <p:nvSpPr>
          <p:cNvPr id="31" name="Text 29">
            <a:extLst>
              <a:ext uri="{FF2B5EF4-FFF2-40B4-BE49-F238E27FC236}">
                <a16:creationId xmlns:a16="http://schemas.microsoft.com/office/drawing/2014/main" id="{659C865C-18BF-4BB1-AA6F-BD3C3291A31D}"/>
              </a:ext>
            </a:extLst>
          </p:cNvPr>
          <p:cNvSpPr>
            <a:spLocks noGrp="1"/>
          </p:cNvSpPr>
          <p:nvPr/>
        </p:nvSpPr>
        <p:spPr>
          <a:xfrm>
            <a:off x="6711696" y="3482848"/>
            <a:ext cx="4803394" cy="215900"/>
          </a:xfrm>
          <a:prstGeom prst="rect">
            <a:avLst/>
          </a:prstGeom>
          <a:noFill/>
        </p:spPr>
        <p:txBody>
          <a:bodyPr wrap="square" lIns="0" tIns="0" rIns="0" bIns="0" anchor="ctr">
            <a:normAutofit/>
          </a:bodyPr>
          <a:lstStyle/>
          <a:p>
            <a:pPr marL="0" indent="0">
              <a:buNone/>
            </a:pPr>
            <a:r>
              <a:rPr sz="1150" b="1">
                <a:solidFill>
                  <a:srgbClr val="0B1B2E"/>
                </a:solidFill>
                <a:latin typeface="Calibri"/>
                <a:ea typeface="Calibri"/>
                <a:cs typeface="Calibri"/>
              </a:rPr>
              <a:t>Portfolio comparisons</a:t>
            </a:r>
          </a:p>
        </p:txBody>
      </p:sp>
      <p:sp>
        <p:nvSpPr>
          <p:cNvPr id="32" name="Text 30">
            <a:extLst>
              <a:ext uri="{FF2B5EF4-FFF2-40B4-BE49-F238E27FC236}">
                <a16:creationId xmlns:a16="http://schemas.microsoft.com/office/drawing/2014/main" id="{475D87E9-2D7C-412A-8AE6-AA60E0A9D508}"/>
              </a:ext>
            </a:extLst>
          </p:cNvPr>
          <p:cNvSpPr>
            <a:spLocks noGrp="1"/>
          </p:cNvSpPr>
          <p:nvPr/>
        </p:nvSpPr>
        <p:spPr>
          <a:xfrm>
            <a:off x="6711696" y="3698748"/>
            <a:ext cx="4803394" cy="215900"/>
          </a:xfrm>
          <a:prstGeom prst="rect">
            <a:avLst/>
          </a:prstGeom>
          <a:noFill/>
        </p:spPr>
        <p:txBody>
          <a:bodyPr wrap="square" lIns="0" tIns="0" rIns="0" bIns="0" anchor="ctr">
            <a:normAutofit/>
          </a:bodyPr>
          <a:lstStyle/>
          <a:p>
            <a:pPr marL="0" indent="0">
              <a:buNone/>
            </a:pPr>
            <a:r>
              <a:rPr lang="en-IN" sz="1000">
                <a:solidFill>
                  <a:srgbClr val="64748B"/>
                </a:solidFill>
                <a:latin typeface="Calibri"/>
                <a:ea typeface="Calibri"/>
                <a:cs typeface="Calibri"/>
              </a:rPr>
              <a:t>Variation across providers</a:t>
            </a:r>
            <a:endParaRPr sz="1000">
              <a:solidFill>
                <a:srgbClr val="64748B"/>
              </a:solidFill>
              <a:latin typeface="Calibri"/>
              <a:ea typeface="Calibri"/>
              <a:cs typeface="Calibri"/>
            </a:endParaRPr>
          </a:p>
        </p:txBody>
      </p:sp>
      <p:sp>
        <p:nvSpPr>
          <p:cNvPr id="33" name="Shape 31">
            <a:extLst>
              <a:ext uri="{FF2B5EF4-FFF2-40B4-BE49-F238E27FC236}">
                <a16:creationId xmlns:a16="http://schemas.microsoft.com/office/drawing/2014/main" id="{40A3D83F-F0FE-470B-AB81-059736B2B498}"/>
              </a:ext>
            </a:extLst>
          </p:cNvPr>
          <p:cNvSpPr>
            <a:spLocks noGrp="1"/>
          </p:cNvSpPr>
          <p:nvPr/>
        </p:nvSpPr>
        <p:spPr>
          <a:xfrm>
            <a:off x="6492240" y="4041648"/>
            <a:ext cx="5150866" cy="548640"/>
          </a:xfrm>
          <a:prstGeom prst="rect">
            <a:avLst/>
          </a:prstGeom>
          <a:solidFill>
            <a:srgbClr val="FFFFFF"/>
          </a:solidFill>
          <a:effectLst>
            <a:outerShdw blurRad="101600" dist="25400" dir="8100000" algn="bl" rotWithShape="0">
              <a:srgbClr val="1E293B">
                <a:alpha val="11000"/>
              </a:srgbClr>
            </a:outerShdw>
          </a:effectLst>
        </p:spPr>
        <p:txBody>
          <a:bodyPr/>
          <a:lstStyle/>
          <a:p>
            <a:endParaRPr/>
          </a:p>
        </p:txBody>
      </p:sp>
      <p:sp>
        <p:nvSpPr>
          <p:cNvPr id="34" name="Shape 32">
            <a:extLst>
              <a:ext uri="{FF2B5EF4-FFF2-40B4-BE49-F238E27FC236}">
                <a16:creationId xmlns:a16="http://schemas.microsoft.com/office/drawing/2014/main" id="{238AB328-32A6-46EE-8C36-1D6D55F9D900}"/>
              </a:ext>
            </a:extLst>
          </p:cNvPr>
          <p:cNvSpPr>
            <a:spLocks noGrp="1"/>
          </p:cNvSpPr>
          <p:nvPr/>
        </p:nvSpPr>
        <p:spPr>
          <a:xfrm>
            <a:off x="6492240" y="4041648"/>
            <a:ext cx="82296" cy="548640"/>
          </a:xfrm>
          <a:prstGeom prst="rect">
            <a:avLst/>
          </a:prstGeom>
          <a:solidFill>
            <a:srgbClr val="14B8A6"/>
          </a:solidFill>
        </p:spPr>
        <p:txBody>
          <a:bodyPr/>
          <a:lstStyle/>
          <a:p>
            <a:endParaRPr/>
          </a:p>
        </p:txBody>
      </p:sp>
      <p:sp>
        <p:nvSpPr>
          <p:cNvPr id="35" name="Text 33">
            <a:extLst>
              <a:ext uri="{FF2B5EF4-FFF2-40B4-BE49-F238E27FC236}">
                <a16:creationId xmlns:a16="http://schemas.microsoft.com/office/drawing/2014/main" id="{4EDEC895-2450-4C77-B8E4-92572C6BDE29}"/>
              </a:ext>
            </a:extLst>
          </p:cNvPr>
          <p:cNvSpPr>
            <a:spLocks noGrp="1"/>
          </p:cNvSpPr>
          <p:nvPr/>
        </p:nvSpPr>
        <p:spPr>
          <a:xfrm>
            <a:off x="6711696" y="4092448"/>
            <a:ext cx="4803394" cy="215900"/>
          </a:xfrm>
          <a:prstGeom prst="rect">
            <a:avLst/>
          </a:prstGeom>
          <a:noFill/>
        </p:spPr>
        <p:txBody>
          <a:bodyPr wrap="square" lIns="0" tIns="0" rIns="0" bIns="0" anchor="ctr">
            <a:normAutofit/>
          </a:bodyPr>
          <a:lstStyle/>
          <a:p>
            <a:pPr marL="0" indent="0">
              <a:buNone/>
            </a:pPr>
            <a:r>
              <a:rPr sz="1150" b="1">
                <a:solidFill>
                  <a:srgbClr val="0B1B2E"/>
                </a:solidFill>
                <a:latin typeface="Calibri"/>
                <a:ea typeface="Calibri"/>
                <a:cs typeface="Calibri"/>
              </a:rPr>
              <a:t>Program coverage</a:t>
            </a:r>
          </a:p>
        </p:txBody>
      </p:sp>
      <p:sp>
        <p:nvSpPr>
          <p:cNvPr id="36" name="Text 34">
            <a:extLst>
              <a:ext uri="{FF2B5EF4-FFF2-40B4-BE49-F238E27FC236}">
                <a16:creationId xmlns:a16="http://schemas.microsoft.com/office/drawing/2014/main" id="{4E0482BB-5848-452C-A399-9ED122125E91}"/>
              </a:ext>
            </a:extLst>
          </p:cNvPr>
          <p:cNvSpPr>
            <a:spLocks noGrp="1"/>
          </p:cNvSpPr>
          <p:nvPr/>
        </p:nvSpPr>
        <p:spPr>
          <a:xfrm>
            <a:off x="6711696" y="4308348"/>
            <a:ext cx="4803394" cy="215900"/>
          </a:xfrm>
          <a:prstGeom prst="rect">
            <a:avLst/>
          </a:prstGeom>
          <a:noFill/>
        </p:spPr>
        <p:txBody>
          <a:bodyPr wrap="square" lIns="0" tIns="0" rIns="0" bIns="0" anchor="ctr">
            <a:normAutofit/>
          </a:bodyPr>
          <a:lstStyle/>
          <a:p>
            <a:pPr marL="0" indent="0">
              <a:buNone/>
            </a:pPr>
            <a:r>
              <a:rPr lang="en-US" sz="1000">
                <a:solidFill>
                  <a:srgbClr val="64748B"/>
                </a:solidFill>
                <a:latin typeface="Calibri"/>
                <a:ea typeface="Calibri"/>
                <a:cs typeface="Calibri"/>
              </a:rPr>
              <a:t>Provider support by line of business</a:t>
            </a:r>
            <a:endParaRPr sz="1000">
              <a:solidFill>
                <a:srgbClr val="64748B"/>
              </a:solidFill>
              <a:latin typeface="Calibri"/>
              <a:ea typeface="Calibri"/>
              <a:cs typeface="Calibri"/>
            </a:endParaRPr>
          </a:p>
        </p:txBody>
      </p:sp>
      <p:sp>
        <p:nvSpPr>
          <p:cNvPr id="37" name="Shape 35">
            <a:extLst>
              <a:ext uri="{FF2B5EF4-FFF2-40B4-BE49-F238E27FC236}">
                <a16:creationId xmlns:a16="http://schemas.microsoft.com/office/drawing/2014/main" id="{FECF2333-2ED1-4A64-A0A3-0DED6BFA3385}"/>
              </a:ext>
            </a:extLst>
          </p:cNvPr>
          <p:cNvSpPr>
            <a:spLocks noGrp="1"/>
          </p:cNvSpPr>
          <p:nvPr/>
        </p:nvSpPr>
        <p:spPr>
          <a:xfrm>
            <a:off x="6492240" y="4651248"/>
            <a:ext cx="5150866" cy="548640"/>
          </a:xfrm>
          <a:prstGeom prst="rect">
            <a:avLst/>
          </a:prstGeom>
          <a:solidFill>
            <a:srgbClr val="F8FAFC"/>
          </a:solidFill>
          <a:effectLst>
            <a:outerShdw blurRad="101600" dist="25400" dir="8100000" algn="bl" rotWithShape="0">
              <a:srgbClr val="1E293B">
                <a:alpha val="11000"/>
              </a:srgbClr>
            </a:outerShdw>
          </a:effectLst>
        </p:spPr>
        <p:txBody>
          <a:bodyPr/>
          <a:lstStyle/>
          <a:p>
            <a:endParaRPr dirty="0"/>
          </a:p>
        </p:txBody>
      </p:sp>
      <p:sp>
        <p:nvSpPr>
          <p:cNvPr id="38" name="Shape 36">
            <a:extLst>
              <a:ext uri="{FF2B5EF4-FFF2-40B4-BE49-F238E27FC236}">
                <a16:creationId xmlns:a16="http://schemas.microsoft.com/office/drawing/2014/main" id="{566EA945-5E75-48D3-ADF6-A6D5F32B32DF}"/>
              </a:ext>
            </a:extLst>
          </p:cNvPr>
          <p:cNvSpPr>
            <a:spLocks noGrp="1"/>
          </p:cNvSpPr>
          <p:nvPr/>
        </p:nvSpPr>
        <p:spPr>
          <a:xfrm>
            <a:off x="6492240" y="4651248"/>
            <a:ext cx="82296" cy="548640"/>
          </a:xfrm>
          <a:prstGeom prst="rect">
            <a:avLst/>
          </a:prstGeom>
          <a:solidFill>
            <a:srgbClr val="14B8A6"/>
          </a:solidFill>
        </p:spPr>
        <p:txBody>
          <a:bodyPr/>
          <a:lstStyle/>
          <a:p>
            <a:endParaRPr/>
          </a:p>
        </p:txBody>
      </p:sp>
      <p:sp>
        <p:nvSpPr>
          <p:cNvPr id="39" name="Text 37">
            <a:extLst>
              <a:ext uri="{FF2B5EF4-FFF2-40B4-BE49-F238E27FC236}">
                <a16:creationId xmlns:a16="http://schemas.microsoft.com/office/drawing/2014/main" id="{56AC18A1-1798-4594-9CD4-527ABF1E8C67}"/>
              </a:ext>
            </a:extLst>
          </p:cNvPr>
          <p:cNvSpPr>
            <a:spLocks noGrp="1"/>
          </p:cNvSpPr>
          <p:nvPr/>
        </p:nvSpPr>
        <p:spPr>
          <a:xfrm>
            <a:off x="6711696" y="4702048"/>
            <a:ext cx="4803394" cy="215900"/>
          </a:xfrm>
          <a:prstGeom prst="rect">
            <a:avLst/>
          </a:prstGeom>
          <a:noFill/>
        </p:spPr>
        <p:txBody>
          <a:bodyPr wrap="square" lIns="0" tIns="0" rIns="0" bIns="0" anchor="ctr">
            <a:normAutofit/>
          </a:bodyPr>
          <a:lstStyle/>
          <a:p>
            <a:pPr marL="0" indent="0">
              <a:buNone/>
            </a:pPr>
            <a:r>
              <a:rPr sz="1150" b="1" dirty="0">
                <a:solidFill>
                  <a:srgbClr val="0B1B2E"/>
                </a:solidFill>
                <a:latin typeface="Calibri"/>
                <a:ea typeface="Calibri"/>
                <a:cs typeface="Calibri"/>
              </a:rPr>
              <a:t>Legal &amp; clause queries</a:t>
            </a:r>
          </a:p>
        </p:txBody>
      </p:sp>
      <p:sp>
        <p:nvSpPr>
          <p:cNvPr id="40" name="Text 38">
            <a:extLst>
              <a:ext uri="{FF2B5EF4-FFF2-40B4-BE49-F238E27FC236}">
                <a16:creationId xmlns:a16="http://schemas.microsoft.com/office/drawing/2014/main" id="{FF3C700E-97E5-42A2-B764-ED679FD9E9B3}"/>
              </a:ext>
            </a:extLst>
          </p:cNvPr>
          <p:cNvSpPr>
            <a:spLocks noGrp="1"/>
          </p:cNvSpPr>
          <p:nvPr/>
        </p:nvSpPr>
        <p:spPr>
          <a:xfrm>
            <a:off x="6711696" y="4917948"/>
            <a:ext cx="4803394" cy="215900"/>
          </a:xfrm>
          <a:prstGeom prst="rect">
            <a:avLst/>
          </a:prstGeom>
          <a:noFill/>
        </p:spPr>
        <p:txBody>
          <a:bodyPr wrap="square" lIns="0" tIns="0" rIns="0" bIns="0" anchor="ctr">
            <a:normAutofit/>
          </a:bodyPr>
          <a:lstStyle/>
          <a:p>
            <a:pPr marL="0" indent="0">
              <a:buNone/>
            </a:pPr>
            <a:r>
              <a:rPr lang="en-IN" sz="1000">
                <a:solidFill>
                  <a:srgbClr val="64748B"/>
                </a:solidFill>
                <a:latin typeface="Calibri"/>
                <a:ea typeface="Calibri"/>
                <a:cs typeface="Calibri"/>
              </a:rPr>
              <a:t>Source-backed obligations and notices</a:t>
            </a:r>
            <a:endParaRPr sz="1000">
              <a:solidFill>
                <a:srgbClr val="64748B"/>
              </a:solidFill>
              <a:latin typeface="Calibri"/>
              <a:ea typeface="Calibri"/>
              <a:cs typeface="Calibri"/>
            </a:endParaRPr>
          </a:p>
        </p:txBody>
      </p:sp>
      <p:sp>
        <p:nvSpPr>
          <p:cNvPr id="41" name="Shape 39">
            <a:extLst>
              <a:ext uri="{FF2B5EF4-FFF2-40B4-BE49-F238E27FC236}">
                <a16:creationId xmlns:a16="http://schemas.microsoft.com/office/drawing/2014/main" id="{C15E0473-8F68-4F9F-8D86-41CE6F8641DE}"/>
              </a:ext>
            </a:extLst>
          </p:cNvPr>
          <p:cNvSpPr>
            <a:spLocks noGrp="1"/>
          </p:cNvSpPr>
          <p:nvPr/>
        </p:nvSpPr>
        <p:spPr>
          <a:xfrm>
            <a:off x="6492240" y="5260848"/>
            <a:ext cx="5150866" cy="548640"/>
          </a:xfrm>
          <a:prstGeom prst="rect">
            <a:avLst/>
          </a:prstGeom>
          <a:solidFill>
            <a:srgbClr val="FFFFFF"/>
          </a:solidFill>
          <a:effectLst>
            <a:outerShdw blurRad="101600" dist="25400" dir="8100000" algn="bl" rotWithShape="0">
              <a:srgbClr val="1E293B">
                <a:alpha val="11000"/>
              </a:srgbClr>
            </a:outerShdw>
          </a:effectLst>
        </p:spPr>
        <p:txBody>
          <a:bodyPr/>
          <a:lstStyle/>
          <a:p>
            <a:endParaRPr/>
          </a:p>
        </p:txBody>
      </p:sp>
      <p:sp>
        <p:nvSpPr>
          <p:cNvPr id="42" name="Shape 40">
            <a:extLst>
              <a:ext uri="{FF2B5EF4-FFF2-40B4-BE49-F238E27FC236}">
                <a16:creationId xmlns:a16="http://schemas.microsoft.com/office/drawing/2014/main" id="{3ACB7D33-C084-41DF-99FA-FB2765778657}"/>
              </a:ext>
            </a:extLst>
          </p:cNvPr>
          <p:cNvSpPr>
            <a:spLocks noGrp="1"/>
          </p:cNvSpPr>
          <p:nvPr/>
        </p:nvSpPr>
        <p:spPr>
          <a:xfrm>
            <a:off x="6492240" y="5260848"/>
            <a:ext cx="82296" cy="548640"/>
          </a:xfrm>
          <a:prstGeom prst="rect">
            <a:avLst/>
          </a:prstGeom>
          <a:solidFill>
            <a:srgbClr val="14B8A6"/>
          </a:solidFill>
        </p:spPr>
        <p:txBody>
          <a:bodyPr/>
          <a:lstStyle/>
          <a:p>
            <a:endParaRPr/>
          </a:p>
        </p:txBody>
      </p:sp>
      <p:sp>
        <p:nvSpPr>
          <p:cNvPr id="43" name="Text 41">
            <a:extLst>
              <a:ext uri="{FF2B5EF4-FFF2-40B4-BE49-F238E27FC236}">
                <a16:creationId xmlns:a16="http://schemas.microsoft.com/office/drawing/2014/main" id="{CDBCB8AE-10A9-425A-9E06-61184E78E8F7}"/>
              </a:ext>
            </a:extLst>
          </p:cNvPr>
          <p:cNvSpPr>
            <a:spLocks noGrp="1"/>
          </p:cNvSpPr>
          <p:nvPr/>
        </p:nvSpPr>
        <p:spPr>
          <a:xfrm>
            <a:off x="6711696" y="5311648"/>
            <a:ext cx="4803394" cy="215900"/>
          </a:xfrm>
          <a:prstGeom prst="rect">
            <a:avLst/>
          </a:prstGeom>
          <a:noFill/>
        </p:spPr>
        <p:txBody>
          <a:bodyPr wrap="square" lIns="0" tIns="0" rIns="0" bIns="0" anchor="ctr">
            <a:normAutofit/>
          </a:bodyPr>
          <a:lstStyle/>
          <a:p>
            <a:pPr marL="0" indent="0">
              <a:buNone/>
            </a:pPr>
            <a:r>
              <a:rPr sz="1150" b="1" dirty="0">
                <a:solidFill>
                  <a:srgbClr val="0B1B2E"/>
                </a:solidFill>
                <a:latin typeface="Calibri"/>
                <a:ea typeface="Calibri"/>
                <a:cs typeface="Calibri"/>
              </a:rPr>
              <a:t>Portfolio analytics</a:t>
            </a:r>
          </a:p>
        </p:txBody>
      </p:sp>
      <p:sp>
        <p:nvSpPr>
          <p:cNvPr id="44" name="Text 42">
            <a:extLst>
              <a:ext uri="{FF2B5EF4-FFF2-40B4-BE49-F238E27FC236}">
                <a16:creationId xmlns:a16="http://schemas.microsoft.com/office/drawing/2014/main" id="{0CE47C38-78B0-46B2-8F86-A2817102311A}"/>
              </a:ext>
            </a:extLst>
          </p:cNvPr>
          <p:cNvSpPr>
            <a:spLocks noGrp="1"/>
          </p:cNvSpPr>
          <p:nvPr/>
        </p:nvSpPr>
        <p:spPr>
          <a:xfrm>
            <a:off x="6711696" y="5527548"/>
            <a:ext cx="4803394" cy="215900"/>
          </a:xfrm>
          <a:prstGeom prst="rect">
            <a:avLst/>
          </a:prstGeom>
          <a:noFill/>
        </p:spPr>
        <p:txBody>
          <a:bodyPr wrap="square" lIns="0" tIns="0" rIns="0" bIns="0" anchor="ctr">
            <a:normAutofit/>
          </a:bodyPr>
          <a:lstStyle/>
          <a:p>
            <a:pPr marL="0" indent="0">
              <a:buNone/>
            </a:pPr>
            <a:r>
              <a:rPr lang="en-US" sz="1000">
                <a:solidFill>
                  <a:srgbClr val="64748B"/>
                </a:solidFill>
                <a:latin typeface="Calibri"/>
                <a:ea typeface="Calibri"/>
                <a:cs typeface="Calibri"/>
              </a:rPr>
              <a:t>Contract vintage, rates and coverage gaps</a:t>
            </a:r>
            <a:endParaRPr sz="1000" dirty="0">
              <a:solidFill>
                <a:srgbClr val="64748B"/>
              </a:solidFill>
              <a:latin typeface="Calibri"/>
              <a:ea typeface="Calibri"/>
              <a:cs typeface="Calibri"/>
            </a:endParaRPr>
          </a:p>
        </p:txBody>
      </p:sp>
      <p:sp>
        <p:nvSpPr>
          <p:cNvPr id="45" name="Text 43">
            <a:extLst>
              <a:ext uri="{FF2B5EF4-FFF2-40B4-BE49-F238E27FC236}">
                <a16:creationId xmlns:a16="http://schemas.microsoft.com/office/drawing/2014/main" id="{CF5181E5-3B37-497E-9A12-87254388E55A}"/>
              </a:ext>
            </a:extLst>
          </p:cNvPr>
          <p:cNvSpPr>
            <a:spLocks noGrp="1"/>
          </p:cNvSpPr>
          <p:nvPr/>
        </p:nvSpPr>
        <p:spPr>
          <a:xfrm>
            <a:off x="548640" y="5994400"/>
            <a:ext cx="11094415" cy="292100"/>
          </a:xfrm>
          <a:prstGeom prst="rect">
            <a:avLst/>
          </a:prstGeom>
          <a:noFill/>
        </p:spPr>
        <p:txBody>
          <a:bodyPr wrap="square" lIns="0" tIns="0" rIns="0" bIns="0" anchor="ctr"/>
          <a:lstStyle/>
          <a:p>
            <a:pPr marL="0" indent="0">
              <a:buNone/>
            </a:pPr>
            <a:r>
              <a:rPr lang="en-US" sz="1300" i="1">
                <a:solidFill>
                  <a:srgbClr val="0F766E"/>
                </a:solidFill>
                <a:latin typeface="Calibri"/>
                <a:ea typeface="Calibri"/>
                <a:cs typeface="Calibri"/>
              </a:rPr>
              <a:t>One governed interface for contracting, finance, network, compliance and leadership.</a:t>
            </a:r>
            <a:endParaRPr sz="1300" i="1">
              <a:solidFill>
                <a:srgbClr val="0F766E"/>
              </a:solidFill>
              <a:latin typeface="Calibri"/>
              <a:ea typeface="Calibri"/>
              <a:cs typeface="Calibri"/>
            </a:endParaRPr>
          </a:p>
        </p:txBody>
      </p:sp>
      <p:sp>
        <p:nvSpPr>
          <p:cNvPr id="46" name="Text 44">
            <a:extLst>
              <a:ext uri="{FF2B5EF4-FFF2-40B4-BE49-F238E27FC236}">
                <a16:creationId xmlns:a16="http://schemas.microsoft.com/office/drawing/2014/main" id="{63A1BA4D-CC36-4BAB-AD9F-D0BA5A1CBFB4}"/>
              </a:ext>
            </a:extLst>
          </p:cNvPr>
          <p:cNvSpPr>
            <a:spLocks noGrp="1"/>
          </p:cNvSpPr>
          <p:nvPr/>
        </p:nvSpPr>
        <p:spPr>
          <a:xfrm>
            <a:off x="548640" y="6473952"/>
            <a:ext cx="8229600" cy="256032"/>
          </a:xfrm>
          <a:prstGeom prst="rect">
            <a:avLst/>
          </a:prstGeom>
          <a:noFill/>
        </p:spPr>
        <p:txBody>
          <a:bodyPr wrap="square" lIns="0" tIns="0" rIns="0" bIns="0" anchor="ctr"/>
          <a:lstStyle/>
          <a:p>
            <a:pPr marL="0" indent="0">
              <a:buNone/>
            </a:pPr>
            <a:r>
              <a:rPr sz="800" b="1">
                <a:solidFill>
                  <a:srgbClr val="64748B"/>
                </a:solidFill>
                <a:latin typeface="Calibri"/>
                <a:ea typeface="Calibri"/>
                <a:cs typeface="Calibri"/>
              </a:rPr>
              <a:t>Contract Intelligence Platform  ·  Confidential — Internal</a:t>
            </a:r>
          </a:p>
        </p:txBody>
      </p:sp>
      <p:sp>
        <p:nvSpPr>
          <p:cNvPr id="47" name="Text 45">
            <a:extLst>
              <a:ext uri="{FF2B5EF4-FFF2-40B4-BE49-F238E27FC236}">
                <a16:creationId xmlns:a16="http://schemas.microsoft.com/office/drawing/2014/main" id="{53F28DF5-5D8F-488A-9F5A-39C6C0726044}"/>
              </a:ext>
            </a:extLst>
          </p:cNvPr>
          <p:cNvSpPr>
            <a:spLocks noGrp="1"/>
          </p:cNvSpPr>
          <p:nvPr/>
        </p:nvSpPr>
        <p:spPr>
          <a:xfrm>
            <a:off x="10728655" y="6473952"/>
            <a:ext cx="914400" cy="256032"/>
          </a:xfrm>
          <a:prstGeom prst="rect">
            <a:avLst/>
          </a:prstGeom>
          <a:noFill/>
        </p:spPr>
        <p:txBody>
          <a:bodyPr wrap="square" lIns="0" tIns="0" rIns="0" bIns="0" anchor="ctr"/>
          <a:lstStyle/>
          <a:p>
            <a:pPr marL="0" indent="0" algn="r">
              <a:buNone/>
            </a:pPr>
            <a:r>
              <a:rPr sz="900">
                <a:solidFill>
                  <a:srgbClr val="64748B"/>
                </a:solidFill>
                <a:latin typeface="Calibri"/>
                <a:ea typeface="Calibri"/>
                <a:cs typeface="Calibri"/>
              </a:rPr>
              <a:t>06</a:t>
            </a:r>
          </a:p>
        </p:txBody>
      </p:sp>
    </p:spTree>
    <p:extLst>
      <p:ext uri="{BB962C8B-B14F-4D97-AF65-F5344CB8AC3E}">
        <p14:creationId xmlns:p14="http://schemas.microsoft.com/office/powerpoint/2010/main" val="191970438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B3E3A3ED-F03F-4419-8FFB-8046961F6D2E}"/>
              </a:ext>
            </a:extLst>
          </p:cNvPr>
          <p:cNvSpPr>
            <a:spLocks noGrp="1"/>
          </p:cNvSpPr>
          <p:nvPr/>
        </p:nvSpPr>
        <p:spPr>
          <a:xfrm>
            <a:off x="548640" y="457200"/>
            <a:ext cx="11094415" cy="256032"/>
          </a:xfrm>
          <a:prstGeom prst="rect">
            <a:avLst/>
          </a:prstGeom>
          <a:noFill/>
        </p:spPr>
        <p:txBody>
          <a:bodyPr wrap="square" lIns="0" tIns="0" rIns="0" bIns="0" anchor="ctr"/>
          <a:lstStyle/>
          <a:p>
            <a:pPr marL="0" indent="0">
              <a:buNone/>
            </a:pPr>
            <a:r>
              <a:rPr sz="1100" b="1">
                <a:solidFill>
                  <a:srgbClr val="0F766E"/>
                </a:solidFill>
                <a:latin typeface="Calibri"/>
                <a:ea typeface="Calibri"/>
                <a:cs typeface="Calibri"/>
              </a:rPr>
              <a:t>SECTION 06 · INFORMATION MODEL</a:t>
            </a:r>
          </a:p>
        </p:txBody>
      </p:sp>
      <p:sp>
        <p:nvSpPr>
          <p:cNvPr id="3" name="Text 1">
            <a:extLst>
              <a:ext uri="{FF2B5EF4-FFF2-40B4-BE49-F238E27FC236}">
                <a16:creationId xmlns:a16="http://schemas.microsoft.com/office/drawing/2014/main" id="{A254FDB6-FE77-4444-9996-09F5031042D5}"/>
              </a:ext>
            </a:extLst>
          </p:cNvPr>
          <p:cNvSpPr>
            <a:spLocks noGrp="1"/>
          </p:cNvSpPr>
          <p:nvPr/>
        </p:nvSpPr>
        <p:spPr>
          <a:xfrm>
            <a:off x="548640" y="804672"/>
            <a:ext cx="11094466" cy="1005840"/>
          </a:xfrm>
          <a:prstGeom prst="rect">
            <a:avLst/>
          </a:prstGeom>
          <a:noFill/>
        </p:spPr>
        <p:txBody>
          <a:bodyPr wrap="square" lIns="0" tIns="0" rIns="0" bIns="0" anchor="t">
            <a:normAutofit/>
          </a:bodyPr>
          <a:lstStyle/>
          <a:p>
            <a:pPr marL="0" indent="0">
              <a:lnSpc>
                <a:spcPts val="3080"/>
              </a:lnSpc>
              <a:buNone/>
            </a:pPr>
            <a:r>
              <a:rPr lang="en-US" sz="2800" b="1">
                <a:solidFill>
                  <a:srgbClr val="0B1B2E"/>
                </a:solidFill>
                <a:latin typeface="Georgia"/>
                <a:ea typeface="Georgia"/>
                <a:cs typeface="Georgia"/>
              </a:rPr>
              <a:t>Structured data answers known questions; evidence retrieval handles source-specific ones</a:t>
            </a:r>
            <a:endParaRPr sz="2800" b="1">
              <a:solidFill>
                <a:srgbClr val="0B1B2E"/>
              </a:solidFill>
              <a:latin typeface="Georgia"/>
              <a:ea typeface="Georgia"/>
              <a:cs typeface="Georgia"/>
            </a:endParaRPr>
          </a:p>
        </p:txBody>
      </p:sp>
      <p:sp>
        <p:nvSpPr>
          <p:cNvPr id="4" name="Shape 2">
            <a:extLst>
              <a:ext uri="{FF2B5EF4-FFF2-40B4-BE49-F238E27FC236}">
                <a16:creationId xmlns:a16="http://schemas.microsoft.com/office/drawing/2014/main" id="{009F7530-F5BD-47EA-B63D-08ED89CB9B00}"/>
              </a:ext>
            </a:extLst>
          </p:cNvPr>
          <p:cNvSpPr>
            <a:spLocks noGrp="1"/>
          </p:cNvSpPr>
          <p:nvPr/>
        </p:nvSpPr>
        <p:spPr>
          <a:xfrm>
            <a:off x="548640" y="1874520"/>
            <a:ext cx="5364328" cy="4000500"/>
          </a:xfrm>
          <a:prstGeom prst="rect">
            <a:avLst/>
          </a:prstGeom>
          <a:solidFill>
            <a:srgbClr val="0B1B2E"/>
          </a:solidFill>
          <a:ln w="12700">
            <a:solidFill>
              <a:srgbClr val="0B1B2E"/>
            </a:solidFill>
            <a:prstDash val="solid"/>
          </a:ln>
          <a:effectLst>
            <a:outerShdw blurRad="177800" dist="50800" dir="8100000" algn="bl" rotWithShape="0">
              <a:srgbClr val="000000">
                <a:alpha val="22000"/>
              </a:srgbClr>
            </a:outerShdw>
          </a:effectLst>
        </p:spPr>
        <p:txBody>
          <a:bodyPr/>
          <a:lstStyle/>
          <a:p>
            <a:endParaRPr/>
          </a:p>
        </p:txBody>
      </p:sp>
      <p:sp>
        <p:nvSpPr>
          <p:cNvPr id="5" name="Shape 3">
            <a:extLst>
              <a:ext uri="{FF2B5EF4-FFF2-40B4-BE49-F238E27FC236}">
                <a16:creationId xmlns:a16="http://schemas.microsoft.com/office/drawing/2014/main" id="{F4E746EE-90D3-4341-B90B-0762E5801165}"/>
              </a:ext>
            </a:extLst>
          </p:cNvPr>
          <p:cNvSpPr>
            <a:spLocks noGrp="1"/>
          </p:cNvSpPr>
          <p:nvPr/>
        </p:nvSpPr>
        <p:spPr>
          <a:xfrm>
            <a:off x="548640" y="1874520"/>
            <a:ext cx="5364328" cy="73152"/>
          </a:xfrm>
          <a:prstGeom prst="rect">
            <a:avLst/>
          </a:prstGeom>
          <a:solidFill>
            <a:srgbClr val="14B8A6"/>
          </a:solidFill>
        </p:spPr>
        <p:txBody>
          <a:bodyPr/>
          <a:lstStyle/>
          <a:p>
            <a:endParaRPr/>
          </a:p>
        </p:txBody>
      </p:sp>
      <p:sp>
        <p:nvSpPr>
          <p:cNvPr id="6" name="Text 4">
            <a:extLst>
              <a:ext uri="{FF2B5EF4-FFF2-40B4-BE49-F238E27FC236}">
                <a16:creationId xmlns:a16="http://schemas.microsoft.com/office/drawing/2014/main" id="{70CCAE3E-FAB1-40C9-BB63-A199AA48ACB0}"/>
              </a:ext>
            </a:extLst>
          </p:cNvPr>
          <p:cNvSpPr>
            <a:spLocks noGrp="1"/>
          </p:cNvSpPr>
          <p:nvPr/>
        </p:nvSpPr>
        <p:spPr>
          <a:xfrm>
            <a:off x="804672" y="2011680"/>
            <a:ext cx="4952848" cy="292608"/>
          </a:xfrm>
          <a:prstGeom prst="rect">
            <a:avLst/>
          </a:prstGeom>
          <a:noFill/>
        </p:spPr>
        <p:txBody>
          <a:bodyPr wrap="square" lIns="0" tIns="0" rIns="0" bIns="0" anchor="ctr"/>
          <a:lstStyle/>
          <a:p>
            <a:pPr marL="0" indent="0">
              <a:buNone/>
            </a:pPr>
            <a:r>
              <a:rPr sz="1150" b="1">
                <a:solidFill>
                  <a:srgbClr val="14B8A6"/>
                </a:solidFill>
                <a:latin typeface="Calibri"/>
                <a:ea typeface="Calibri"/>
                <a:cs typeface="Calibri"/>
              </a:rPr>
              <a:t>STRUCTURED DATA EXPERIENCE</a:t>
            </a:r>
          </a:p>
        </p:txBody>
      </p:sp>
      <p:sp>
        <p:nvSpPr>
          <p:cNvPr id="7" name="Text 5">
            <a:extLst>
              <a:ext uri="{FF2B5EF4-FFF2-40B4-BE49-F238E27FC236}">
                <a16:creationId xmlns:a16="http://schemas.microsoft.com/office/drawing/2014/main" id="{530D0E7E-1EDC-429F-86EF-E1C9AE87167A}"/>
              </a:ext>
            </a:extLst>
          </p:cNvPr>
          <p:cNvSpPr>
            <a:spLocks noGrp="1"/>
          </p:cNvSpPr>
          <p:nvPr/>
        </p:nvSpPr>
        <p:spPr>
          <a:xfrm>
            <a:off x="804672" y="2304288"/>
            <a:ext cx="4952848" cy="384048"/>
          </a:xfrm>
          <a:prstGeom prst="rect">
            <a:avLst/>
          </a:prstGeom>
          <a:noFill/>
        </p:spPr>
        <p:txBody>
          <a:bodyPr wrap="square" lIns="0" tIns="0" rIns="0" bIns="0" anchor="ctr"/>
          <a:lstStyle/>
          <a:p>
            <a:pPr marL="0" indent="0">
              <a:buNone/>
            </a:pPr>
            <a:r>
              <a:rPr sz="1600" b="1">
                <a:solidFill>
                  <a:srgbClr val="FFFFFF"/>
                </a:solidFill>
                <a:latin typeface="Georgia"/>
                <a:ea typeface="Georgia"/>
                <a:cs typeface="Georgia"/>
              </a:rPr>
              <a:t>Fast, governed business analytics</a:t>
            </a:r>
          </a:p>
        </p:txBody>
      </p:sp>
      <p:sp>
        <p:nvSpPr>
          <p:cNvPr id="8" name="Shape 6">
            <a:extLst>
              <a:ext uri="{FF2B5EF4-FFF2-40B4-BE49-F238E27FC236}">
                <a16:creationId xmlns:a16="http://schemas.microsoft.com/office/drawing/2014/main" id="{C628A411-E986-43FA-BDCF-6F17D1ECE358}"/>
              </a:ext>
            </a:extLst>
          </p:cNvPr>
          <p:cNvSpPr>
            <a:spLocks noGrp="1"/>
          </p:cNvSpPr>
          <p:nvPr/>
        </p:nvSpPr>
        <p:spPr>
          <a:xfrm>
            <a:off x="804672" y="2743200"/>
            <a:ext cx="4907128" cy="0"/>
          </a:xfrm>
          <a:prstGeom prst="line">
            <a:avLst/>
          </a:prstGeom>
          <a:noFill/>
          <a:ln w="12700">
            <a:solidFill>
              <a:srgbClr val="27405E"/>
            </a:solidFill>
            <a:prstDash val="solid"/>
          </a:ln>
        </p:spPr>
        <p:txBody>
          <a:bodyPr/>
          <a:lstStyle/>
          <a:p>
            <a:endParaRPr/>
          </a:p>
        </p:txBody>
      </p:sp>
      <p:sp>
        <p:nvSpPr>
          <p:cNvPr id="9" name="Text 7">
            <a:extLst>
              <a:ext uri="{FF2B5EF4-FFF2-40B4-BE49-F238E27FC236}">
                <a16:creationId xmlns:a16="http://schemas.microsoft.com/office/drawing/2014/main" id="{29584403-4176-438B-93B7-B2213AC28439}"/>
              </a:ext>
            </a:extLst>
          </p:cNvPr>
          <p:cNvSpPr>
            <a:spLocks noGrp="1"/>
          </p:cNvSpPr>
          <p:nvPr/>
        </p:nvSpPr>
        <p:spPr>
          <a:xfrm>
            <a:off x="804672" y="2852928"/>
            <a:ext cx="1280160" cy="411480"/>
          </a:xfrm>
          <a:prstGeom prst="rect">
            <a:avLst/>
          </a:prstGeom>
          <a:noFill/>
        </p:spPr>
        <p:txBody>
          <a:bodyPr wrap="square" lIns="0" tIns="0" rIns="0" bIns="0" anchor="t"/>
          <a:lstStyle/>
          <a:p>
            <a:pPr marL="0" indent="0">
              <a:buNone/>
            </a:pPr>
            <a:r>
              <a:rPr sz="900" b="1">
                <a:solidFill>
                  <a:srgbClr val="93A4BD"/>
                </a:solidFill>
                <a:latin typeface="Calibri"/>
                <a:ea typeface="Calibri"/>
                <a:cs typeface="Calibri"/>
              </a:rPr>
              <a:t>BEST FOR</a:t>
            </a:r>
          </a:p>
        </p:txBody>
      </p:sp>
      <p:sp>
        <p:nvSpPr>
          <p:cNvPr id="10" name="Text 8">
            <a:extLst>
              <a:ext uri="{FF2B5EF4-FFF2-40B4-BE49-F238E27FC236}">
                <a16:creationId xmlns:a16="http://schemas.microsoft.com/office/drawing/2014/main" id="{C9370814-98F3-47EA-9E53-F4B5E66CCC06}"/>
              </a:ext>
            </a:extLst>
          </p:cNvPr>
          <p:cNvSpPr>
            <a:spLocks noGrp="1"/>
          </p:cNvSpPr>
          <p:nvPr/>
        </p:nvSpPr>
        <p:spPr>
          <a:xfrm>
            <a:off x="2148840" y="2852928"/>
            <a:ext cx="3489808" cy="438912"/>
          </a:xfrm>
          <a:prstGeom prst="rect">
            <a:avLst/>
          </a:prstGeom>
          <a:noFill/>
        </p:spPr>
        <p:txBody>
          <a:bodyPr wrap="square" lIns="0" tIns="0" rIns="0" bIns="0" anchor="t"/>
          <a:lstStyle/>
          <a:p>
            <a:pPr marL="0" indent="0">
              <a:lnSpc>
                <a:spcPts val="1350"/>
              </a:lnSpc>
              <a:buNone/>
            </a:pPr>
            <a:r>
              <a:rPr sz="1100">
                <a:solidFill>
                  <a:srgbClr val="FFFFFF"/>
                </a:solidFill>
                <a:latin typeface="Calibri"/>
                <a:ea typeface="Calibri"/>
                <a:cs typeface="Calibri"/>
              </a:rPr>
              <a:t>Rates, contract status, portfolio metrics and provider comparisons</a:t>
            </a:r>
          </a:p>
        </p:txBody>
      </p:sp>
      <p:sp>
        <p:nvSpPr>
          <p:cNvPr id="11" name="Text 9">
            <a:extLst>
              <a:ext uri="{FF2B5EF4-FFF2-40B4-BE49-F238E27FC236}">
                <a16:creationId xmlns:a16="http://schemas.microsoft.com/office/drawing/2014/main" id="{1064795F-921E-4FBC-83DA-3EBA5B730369}"/>
              </a:ext>
            </a:extLst>
          </p:cNvPr>
          <p:cNvSpPr>
            <a:spLocks noGrp="1"/>
          </p:cNvSpPr>
          <p:nvPr/>
        </p:nvSpPr>
        <p:spPr>
          <a:xfrm>
            <a:off x="804672" y="3346704"/>
            <a:ext cx="1280160" cy="411480"/>
          </a:xfrm>
          <a:prstGeom prst="rect">
            <a:avLst/>
          </a:prstGeom>
          <a:noFill/>
        </p:spPr>
        <p:txBody>
          <a:bodyPr wrap="square" lIns="0" tIns="0" rIns="0" bIns="0" anchor="t"/>
          <a:lstStyle/>
          <a:p>
            <a:pPr marL="0" indent="0">
              <a:buNone/>
            </a:pPr>
            <a:r>
              <a:rPr sz="900" b="1">
                <a:solidFill>
                  <a:srgbClr val="93A4BD"/>
                </a:solidFill>
                <a:latin typeface="Calibri"/>
                <a:ea typeface="Calibri"/>
                <a:cs typeface="Calibri"/>
              </a:rPr>
              <a:t>WORKS OVER</a:t>
            </a:r>
          </a:p>
        </p:txBody>
      </p:sp>
      <p:sp>
        <p:nvSpPr>
          <p:cNvPr id="12" name="Text 10">
            <a:extLst>
              <a:ext uri="{FF2B5EF4-FFF2-40B4-BE49-F238E27FC236}">
                <a16:creationId xmlns:a16="http://schemas.microsoft.com/office/drawing/2014/main" id="{0093BF70-E021-4379-BF4F-1FBD3EB8ED12}"/>
              </a:ext>
            </a:extLst>
          </p:cNvPr>
          <p:cNvSpPr>
            <a:spLocks noGrp="1"/>
          </p:cNvSpPr>
          <p:nvPr/>
        </p:nvSpPr>
        <p:spPr>
          <a:xfrm>
            <a:off x="2148840" y="3346704"/>
            <a:ext cx="3489808" cy="438912"/>
          </a:xfrm>
          <a:prstGeom prst="rect">
            <a:avLst/>
          </a:prstGeom>
          <a:noFill/>
        </p:spPr>
        <p:txBody>
          <a:bodyPr wrap="square" lIns="0" tIns="0" rIns="0" bIns="0" anchor="t"/>
          <a:lstStyle/>
          <a:p>
            <a:pPr marL="0" indent="0">
              <a:lnSpc>
                <a:spcPts val="1350"/>
              </a:lnSpc>
              <a:buNone/>
            </a:pPr>
            <a:r>
              <a:rPr sz="1100">
                <a:solidFill>
                  <a:srgbClr val="FFFFFF"/>
                </a:solidFill>
                <a:latin typeface="Calibri"/>
                <a:ea typeface="Calibri"/>
                <a:cs typeface="Calibri"/>
              </a:rPr>
              <a:t>Curated contract, provider, rate, amendment and obligation data</a:t>
            </a:r>
          </a:p>
        </p:txBody>
      </p:sp>
      <p:sp>
        <p:nvSpPr>
          <p:cNvPr id="13" name="Text 11">
            <a:extLst>
              <a:ext uri="{FF2B5EF4-FFF2-40B4-BE49-F238E27FC236}">
                <a16:creationId xmlns:a16="http://schemas.microsoft.com/office/drawing/2014/main" id="{CA65D77C-242D-4F56-B9EE-D0F089DEAEFD}"/>
              </a:ext>
            </a:extLst>
          </p:cNvPr>
          <p:cNvSpPr>
            <a:spLocks noGrp="1"/>
          </p:cNvSpPr>
          <p:nvPr/>
        </p:nvSpPr>
        <p:spPr>
          <a:xfrm>
            <a:off x="804672" y="3840480"/>
            <a:ext cx="1280160" cy="411480"/>
          </a:xfrm>
          <a:prstGeom prst="rect">
            <a:avLst/>
          </a:prstGeom>
          <a:noFill/>
        </p:spPr>
        <p:txBody>
          <a:bodyPr wrap="square" lIns="0" tIns="0" rIns="0" bIns="0" anchor="t"/>
          <a:lstStyle/>
          <a:p>
            <a:pPr marL="0" indent="0">
              <a:buNone/>
            </a:pPr>
            <a:r>
              <a:rPr sz="900" b="1">
                <a:solidFill>
                  <a:srgbClr val="93A4BD"/>
                </a:solidFill>
                <a:latin typeface="Calibri"/>
                <a:ea typeface="Calibri"/>
                <a:cs typeface="Calibri"/>
              </a:rPr>
              <a:t>RETURNS</a:t>
            </a:r>
          </a:p>
        </p:txBody>
      </p:sp>
      <p:sp>
        <p:nvSpPr>
          <p:cNvPr id="14" name="Text 12">
            <a:extLst>
              <a:ext uri="{FF2B5EF4-FFF2-40B4-BE49-F238E27FC236}">
                <a16:creationId xmlns:a16="http://schemas.microsoft.com/office/drawing/2014/main" id="{CDFFCE3F-DCC5-4419-8CDD-7D3B5ACD3D6C}"/>
              </a:ext>
            </a:extLst>
          </p:cNvPr>
          <p:cNvSpPr>
            <a:spLocks noGrp="1"/>
          </p:cNvSpPr>
          <p:nvPr/>
        </p:nvSpPr>
        <p:spPr>
          <a:xfrm>
            <a:off x="2148840" y="3840480"/>
            <a:ext cx="3489808" cy="438912"/>
          </a:xfrm>
          <a:prstGeom prst="rect">
            <a:avLst/>
          </a:prstGeom>
          <a:noFill/>
        </p:spPr>
        <p:txBody>
          <a:bodyPr wrap="square" lIns="0" tIns="0" rIns="0" bIns="0" anchor="t"/>
          <a:lstStyle/>
          <a:p>
            <a:pPr marL="0" indent="0">
              <a:lnSpc>
                <a:spcPts val="1350"/>
              </a:lnSpc>
              <a:buNone/>
            </a:pPr>
            <a:r>
              <a:rPr sz="1100">
                <a:solidFill>
                  <a:srgbClr val="FFFFFF"/>
                </a:solidFill>
                <a:latin typeface="Calibri"/>
                <a:ea typeface="Calibri"/>
                <a:cs typeface="Calibri"/>
              </a:rPr>
              <a:t>Lists, measures, comparisons and status views</a:t>
            </a:r>
          </a:p>
        </p:txBody>
      </p:sp>
      <p:sp>
        <p:nvSpPr>
          <p:cNvPr id="15" name="Text 13">
            <a:extLst>
              <a:ext uri="{FF2B5EF4-FFF2-40B4-BE49-F238E27FC236}">
                <a16:creationId xmlns:a16="http://schemas.microsoft.com/office/drawing/2014/main" id="{239DE42A-BFC1-41BF-BB54-3EF4FC73E0A9}"/>
              </a:ext>
            </a:extLst>
          </p:cNvPr>
          <p:cNvSpPr>
            <a:spLocks noGrp="1"/>
          </p:cNvSpPr>
          <p:nvPr/>
        </p:nvSpPr>
        <p:spPr>
          <a:xfrm>
            <a:off x="804672" y="4334256"/>
            <a:ext cx="1280160" cy="411480"/>
          </a:xfrm>
          <a:prstGeom prst="rect">
            <a:avLst/>
          </a:prstGeom>
          <a:noFill/>
        </p:spPr>
        <p:txBody>
          <a:bodyPr wrap="square" lIns="0" tIns="0" rIns="0" bIns="0" anchor="t"/>
          <a:lstStyle/>
          <a:p>
            <a:pPr marL="0" indent="0">
              <a:buNone/>
            </a:pPr>
            <a:r>
              <a:rPr sz="900" b="1">
                <a:solidFill>
                  <a:srgbClr val="93A4BD"/>
                </a:solidFill>
                <a:latin typeface="Calibri"/>
                <a:ea typeface="Calibri"/>
                <a:cs typeface="Calibri"/>
              </a:rPr>
              <a:t>AUDIENCE</a:t>
            </a:r>
          </a:p>
        </p:txBody>
      </p:sp>
      <p:sp>
        <p:nvSpPr>
          <p:cNvPr id="16" name="Text 14">
            <a:extLst>
              <a:ext uri="{FF2B5EF4-FFF2-40B4-BE49-F238E27FC236}">
                <a16:creationId xmlns:a16="http://schemas.microsoft.com/office/drawing/2014/main" id="{345F1FC8-B46B-4B06-83DD-B44E246B66E9}"/>
              </a:ext>
            </a:extLst>
          </p:cNvPr>
          <p:cNvSpPr>
            <a:spLocks noGrp="1"/>
          </p:cNvSpPr>
          <p:nvPr/>
        </p:nvSpPr>
        <p:spPr>
          <a:xfrm>
            <a:off x="2148840" y="4334256"/>
            <a:ext cx="3489808" cy="438912"/>
          </a:xfrm>
          <a:prstGeom prst="rect">
            <a:avLst/>
          </a:prstGeom>
          <a:noFill/>
        </p:spPr>
        <p:txBody>
          <a:bodyPr wrap="square" lIns="0" tIns="0" rIns="0" bIns="0" anchor="t"/>
          <a:lstStyle/>
          <a:p>
            <a:pPr marL="0" indent="0">
              <a:lnSpc>
                <a:spcPts val="1350"/>
              </a:lnSpc>
              <a:buNone/>
            </a:pPr>
            <a:r>
              <a:rPr sz="1100">
                <a:solidFill>
                  <a:srgbClr val="FFFFFF"/>
                </a:solidFill>
                <a:latin typeface="Calibri"/>
                <a:ea typeface="Calibri"/>
                <a:cs typeface="Calibri"/>
              </a:rPr>
              <a:t>Contracting, finance, network and leadership</a:t>
            </a:r>
          </a:p>
        </p:txBody>
      </p:sp>
      <p:sp>
        <p:nvSpPr>
          <p:cNvPr id="17" name="Text 15">
            <a:extLst>
              <a:ext uri="{FF2B5EF4-FFF2-40B4-BE49-F238E27FC236}">
                <a16:creationId xmlns:a16="http://schemas.microsoft.com/office/drawing/2014/main" id="{913A3A04-334A-4D87-8377-1EBE3A54A498}"/>
              </a:ext>
            </a:extLst>
          </p:cNvPr>
          <p:cNvSpPr>
            <a:spLocks noGrp="1"/>
          </p:cNvSpPr>
          <p:nvPr/>
        </p:nvSpPr>
        <p:spPr>
          <a:xfrm>
            <a:off x="804672" y="4775200"/>
            <a:ext cx="4952848" cy="177800"/>
          </a:xfrm>
          <a:prstGeom prst="rect">
            <a:avLst/>
          </a:prstGeom>
          <a:noFill/>
        </p:spPr>
        <p:txBody>
          <a:bodyPr wrap="square" lIns="0" tIns="0" rIns="0" bIns="0" anchor="ctr"/>
          <a:lstStyle/>
          <a:p>
            <a:pPr marL="0" indent="0">
              <a:buNone/>
            </a:pPr>
            <a:r>
              <a:rPr sz="900" b="1">
                <a:solidFill>
                  <a:srgbClr val="5EEAD4"/>
                </a:solidFill>
                <a:latin typeface="Calibri"/>
                <a:ea typeface="Calibri"/>
                <a:cs typeface="Calibri"/>
              </a:rPr>
              <a:t>EXAMPLE QUESTIONS</a:t>
            </a:r>
          </a:p>
        </p:txBody>
      </p:sp>
      <p:sp>
        <p:nvSpPr>
          <p:cNvPr id="18" name="Shape 16">
            <a:extLst>
              <a:ext uri="{FF2B5EF4-FFF2-40B4-BE49-F238E27FC236}">
                <a16:creationId xmlns:a16="http://schemas.microsoft.com/office/drawing/2014/main" id="{DF49CFFC-0931-4EA0-ABA3-0DEEDC78C838}"/>
              </a:ext>
            </a:extLst>
          </p:cNvPr>
          <p:cNvSpPr>
            <a:spLocks noGrp="1"/>
          </p:cNvSpPr>
          <p:nvPr/>
        </p:nvSpPr>
        <p:spPr>
          <a:xfrm>
            <a:off x="804672" y="5054600"/>
            <a:ext cx="109728" cy="109728"/>
          </a:xfrm>
          <a:prstGeom prst="ellipse">
            <a:avLst/>
          </a:prstGeom>
          <a:solidFill>
            <a:srgbClr val="14B8A6"/>
          </a:solidFill>
        </p:spPr>
        <p:txBody>
          <a:bodyPr/>
          <a:lstStyle/>
          <a:p>
            <a:endParaRPr/>
          </a:p>
        </p:txBody>
      </p:sp>
      <p:sp>
        <p:nvSpPr>
          <p:cNvPr id="19" name="Text 17">
            <a:extLst>
              <a:ext uri="{FF2B5EF4-FFF2-40B4-BE49-F238E27FC236}">
                <a16:creationId xmlns:a16="http://schemas.microsoft.com/office/drawing/2014/main" id="{2E97A71A-26A3-4088-9AD8-BEF437CFE8DC}"/>
              </a:ext>
            </a:extLst>
          </p:cNvPr>
          <p:cNvSpPr>
            <a:spLocks noGrp="1"/>
          </p:cNvSpPr>
          <p:nvPr/>
        </p:nvSpPr>
        <p:spPr>
          <a:xfrm>
            <a:off x="987552" y="5003800"/>
            <a:ext cx="4769968" cy="279400"/>
          </a:xfrm>
          <a:prstGeom prst="rect">
            <a:avLst/>
          </a:prstGeom>
          <a:noFill/>
        </p:spPr>
        <p:txBody>
          <a:bodyPr wrap="square" lIns="0" tIns="0" rIns="0" bIns="0" anchor="t"/>
          <a:lstStyle/>
          <a:p>
            <a:pPr marL="0" indent="0">
              <a:lnSpc>
                <a:spcPts val="1300"/>
              </a:lnSpc>
              <a:buNone/>
            </a:pPr>
            <a:r>
              <a:rPr lang="en-US" sz="1000">
                <a:solidFill>
                  <a:srgbClr val="93A4BD"/>
                </a:solidFill>
                <a:latin typeface="Calibri"/>
                <a:ea typeface="Calibri"/>
                <a:cs typeface="Calibri"/>
              </a:rPr>
              <a:t>Which contracts are approaching renewal?</a:t>
            </a:r>
            <a:endParaRPr sz="1000">
              <a:solidFill>
                <a:srgbClr val="93A4BD"/>
              </a:solidFill>
              <a:latin typeface="Calibri"/>
              <a:ea typeface="Calibri"/>
              <a:cs typeface="Calibri"/>
            </a:endParaRPr>
          </a:p>
        </p:txBody>
      </p:sp>
      <p:sp>
        <p:nvSpPr>
          <p:cNvPr id="20" name="Shape 18">
            <a:extLst>
              <a:ext uri="{FF2B5EF4-FFF2-40B4-BE49-F238E27FC236}">
                <a16:creationId xmlns:a16="http://schemas.microsoft.com/office/drawing/2014/main" id="{DB711EDE-996D-44EF-B364-85E1A98CDC94}"/>
              </a:ext>
            </a:extLst>
          </p:cNvPr>
          <p:cNvSpPr>
            <a:spLocks noGrp="1"/>
          </p:cNvSpPr>
          <p:nvPr/>
        </p:nvSpPr>
        <p:spPr>
          <a:xfrm>
            <a:off x="804672" y="5384800"/>
            <a:ext cx="109728" cy="109728"/>
          </a:xfrm>
          <a:prstGeom prst="ellipse">
            <a:avLst/>
          </a:prstGeom>
          <a:solidFill>
            <a:srgbClr val="14B8A6"/>
          </a:solidFill>
        </p:spPr>
        <p:txBody>
          <a:bodyPr/>
          <a:lstStyle/>
          <a:p>
            <a:endParaRPr/>
          </a:p>
        </p:txBody>
      </p:sp>
      <p:sp>
        <p:nvSpPr>
          <p:cNvPr id="21" name="Text 19">
            <a:extLst>
              <a:ext uri="{FF2B5EF4-FFF2-40B4-BE49-F238E27FC236}">
                <a16:creationId xmlns:a16="http://schemas.microsoft.com/office/drawing/2014/main" id="{5C0FF583-06DF-4166-B778-AD72CF744C54}"/>
              </a:ext>
            </a:extLst>
          </p:cNvPr>
          <p:cNvSpPr>
            <a:spLocks noGrp="1"/>
          </p:cNvSpPr>
          <p:nvPr/>
        </p:nvSpPr>
        <p:spPr>
          <a:xfrm>
            <a:off x="987552" y="5334000"/>
            <a:ext cx="4769968" cy="279400"/>
          </a:xfrm>
          <a:prstGeom prst="rect">
            <a:avLst/>
          </a:prstGeom>
          <a:noFill/>
        </p:spPr>
        <p:txBody>
          <a:bodyPr wrap="square" lIns="0" tIns="0" rIns="0" bIns="0" anchor="t"/>
          <a:lstStyle/>
          <a:p>
            <a:pPr marL="0" indent="0">
              <a:lnSpc>
                <a:spcPts val="1300"/>
              </a:lnSpc>
              <a:buNone/>
            </a:pPr>
            <a:r>
              <a:rPr lang="en-US" sz="1000">
                <a:solidFill>
                  <a:srgbClr val="93A4BD"/>
                </a:solidFill>
                <a:latin typeface="Calibri"/>
                <a:ea typeface="Calibri"/>
                <a:cs typeface="Calibri"/>
              </a:rPr>
              <a:t>How do current rates vary by provider?</a:t>
            </a:r>
            <a:endParaRPr sz="1000">
              <a:solidFill>
                <a:srgbClr val="93A4BD"/>
              </a:solidFill>
              <a:latin typeface="Calibri"/>
              <a:ea typeface="Calibri"/>
              <a:cs typeface="Calibri"/>
            </a:endParaRPr>
          </a:p>
        </p:txBody>
      </p:sp>
      <p:sp>
        <p:nvSpPr>
          <p:cNvPr id="22" name="Shape 20">
            <a:extLst>
              <a:ext uri="{FF2B5EF4-FFF2-40B4-BE49-F238E27FC236}">
                <a16:creationId xmlns:a16="http://schemas.microsoft.com/office/drawing/2014/main" id="{015DA0A4-7187-404E-A623-C7F5183DF397}"/>
              </a:ext>
            </a:extLst>
          </p:cNvPr>
          <p:cNvSpPr>
            <a:spLocks noGrp="1"/>
          </p:cNvSpPr>
          <p:nvPr/>
        </p:nvSpPr>
        <p:spPr>
          <a:xfrm>
            <a:off x="804672" y="5702300"/>
            <a:ext cx="109728" cy="109728"/>
          </a:xfrm>
          <a:prstGeom prst="ellipse">
            <a:avLst/>
          </a:prstGeom>
          <a:solidFill>
            <a:srgbClr val="14B8A6"/>
          </a:solidFill>
        </p:spPr>
        <p:txBody>
          <a:bodyPr/>
          <a:lstStyle/>
          <a:p>
            <a:endParaRPr/>
          </a:p>
        </p:txBody>
      </p:sp>
      <p:sp>
        <p:nvSpPr>
          <p:cNvPr id="23" name="Text 21">
            <a:extLst>
              <a:ext uri="{FF2B5EF4-FFF2-40B4-BE49-F238E27FC236}">
                <a16:creationId xmlns:a16="http://schemas.microsoft.com/office/drawing/2014/main" id="{3A209265-08B9-4D11-B309-CE71EEA52C53}"/>
              </a:ext>
            </a:extLst>
          </p:cNvPr>
          <p:cNvSpPr>
            <a:spLocks noGrp="1"/>
          </p:cNvSpPr>
          <p:nvPr/>
        </p:nvSpPr>
        <p:spPr>
          <a:xfrm>
            <a:off x="987552" y="5664200"/>
            <a:ext cx="4769968" cy="190500"/>
          </a:xfrm>
          <a:prstGeom prst="rect">
            <a:avLst/>
          </a:prstGeom>
          <a:noFill/>
        </p:spPr>
        <p:txBody>
          <a:bodyPr wrap="square" lIns="0" tIns="0" rIns="0" bIns="0" anchor="t"/>
          <a:lstStyle/>
          <a:p>
            <a:pPr marL="0" indent="0">
              <a:lnSpc>
                <a:spcPts val="1300"/>
              </a:lnSpc>
              <a:buNone/>
            </a:pPr>
            <a:r>
              <a:rPr lang="en-US" sz="1000">
                <a:solidFill>
                  <a:srgbClr val="93A4BD"/>
                </a:solidFill>
                <a:latin typeface="Calibri"/>
                <a:ea typeface="Calibri"/>
                <a:cs typeface="Calibri"/>
              </a:rPr>
              <a:t>Where are network coverage gaps?</a:t>
            </a:r>
            <a:endParaRPr sz="1000">
              <a:solidFill>
                <a:srgbClr val="93A4BD"/>
              </a:solidFill>
              <a:latin typeface="Calibri"/>
              <a:ea typeface="Calibri"/>
              <a:cs typeface="Calibri"/>
            </a:endParaRPr>
          </a:p>
        </p:txBody>
      </p:sp>
      <p:sp>
        <p:nvSpPr>
          <p:cNvPr id="24" name="Shape 22">
            <a:extLst>
              <a:ext uri="{FF2B5EF4-FFF2-40B4-BE49-F238E27FC236}">
                <a16:creationId xmlns:a16="http://schemas.microsoft.com/office/drawing/2014/main" id="{6778CB61-1ED0-4E75-BEC1-E54A43F4EEA2}"/>
              </a:ext>
            </a:extLst>
          </p:cNvPr>
          <p:cNvSpPr>
            <a:spLocks noGrp="1"/>
          </p:cNvSpPr>
          <p:nvPr/>
        </p:nvSpPr>
        <p:spPr>
          <a:xfrm>
            <a:off x="6278728" y="1874520"/>
            <a:ext cx="5364328" cy="4000500"/>
          </a:xfrm>
          <a:prstGeom prst="rect">
            <a:avLst/>
          </a:prstGeom>
          <a:solidFill>
            <a:srgbClr val="F8FAFC"/>
          </a:solidFill>
          <a:ln w="12700">
            <a:solidFill>
              <a:srgbClr val="E3E9F0"/>
            </a:solidFill>
            <a:prstDash val="solid"/>
          </a:ln>
          <a:effectLst>
            <a:outerShdw blurRad="101600" dist="25400" dir="8100000" algn="bl" rotWithShape="0">
              <a:srgbClr val="1E293B">
                <a:alpha val="11000"/>
              </a:srgbClr>
            </a:outerShdw>
          </a:effectLst>
        </p:spPr>
        <p:txBody>
          <a:bodyPr/>
          <a:lstStyle/>
          <a:p>
            <a:endParaRPr/>
          </a:p>
        </p:txBody>
      </p:sp>
      <p:sp>
        <p:nvSpPr>
          <p:cNvPr id="25" name="Shape 23">
            <a:extLst>
              <a:ext uri="{FF2B5EF4-FFF2-40B4-BE49-F238E27FC236}">
                <a16:creationId xmlns:a16="http://schemas.microsoft.com/office/drawing/2014/main" id="{7ED8A4B0-F6FE-41AA-B86C-8D33A37B9CEA}"/>
              </a:ext>
            </a:extLst>
          </p:cNvPr>
          <p:cNvSpPr>
            <a:spLocks noGrp="1"/>
          </p:cNvSpPr>
          <p:nvPr/>
        </p:nvSpPr>
        <p:spPr>
          <a:xfrm>
            <a:off x="6278728" y="1874520"/>
            <a:ext cx="5364328" cy="73152"/>
          </a:xfrm>
          <a:prstGeom prst="rect">
            <a:avLst/>
          </a:prstGeom>
          <a:solidFill>
            <a:srgbClr val="F26A4B"/>
          </a:solidFill>
        </p:spPr>
        <p:txBody>
          <a:bodyPr/>
          <a:lstStyle/>
          <a:p>
            <a:endParaRPr/>
          </a:p>
        </p:txBody>
      </p:sp>
      <p:sp>
        <p:nvSpPr>
          <p:cNvPr id="26" name="Text 24">
            <a:extLst>
              <a:ext uri="{FF2B5EF4-FFF2-40B4-BE49-F238E27FC236}">
                <a16:creationId xmlns:a16="http://schemas.microsoft.com/office/drawing/2014/main" id="{D0765E9F-E1CE-4293-AA50-ABBA72052F78}"/>
              </a:ext>
            </a:extLst>
          </p:cNvPr>
          <p:cNvSpPr>
            <a:spLocks noGrp="1"/>
          </p:cNvSpPr>
          <p:nvPr/>
        </p:nvSpPr>
        <p:spPr>
          <a:xfrm>
            <a:off x="6534760" y="2011680"/>
            <a:ext cx="4952848" cy="292608"/>
          </a:xfrm>
          <a:prstGeom prst="rect">
            <a:avLst/>
          </a:prstGeom>
          <a:noFill/>
        </p:spPr>
        <p:txBody>
          <a:bodyPr wrap="square" lIns="0" tIns="0" rIns="0" bIns="0" anchor="ctr"/>
          <a:lstStyle/>
          <a:p>
            <a:pPr marL="0" indent="0">
              <a:buNone/>
            </a:pPr>
            <a:r>
              <a:rPr sz="1150" b="1">
                <a:solidFill>
                  <a:srgbClr val="F26A4B"/>
                </a:solidFill>
                <a:latin typeface="Calibri"/>
                <a:ea typeface="Calibri"/>
                <a:cs typeface="Calibri"/>
              </a:rPr>
              <a:t>EVIDENCE RETRIEVAL EXPERIENCE</a:t>
            </a:r>
          </a:p>
        </p:txBody>
      </p:sp>
      <p:sp>
        <p:nvSpPr>
          <p:cNvPr id="27" name="Text 25">
            <a:extLst>
              <a:ext uri="{FF2B5EF4-FFF2-40B4-BE49-F238E27FC236}">
                <a16:creationId xmlns:a16="http://schemas.microsoft.com/office/drawing/2014/main" id="{66DF741F-8E7C-4101-B337-2E2F0AFB00F5}"/>
              </a:ext>
            </a:extLst>
          </p:cNvPr>
          <p:cNvSpPr>
            <a:spLocks noGrp="1"/>
          </p:cNvSpPr>
          <p:nvPr/>
        </p:nvSpPr>
        <p:spPr>
          <a:xfrm>
            <a:off x="6534760" y="2304288"/>
            <a:ext cx="4952848" cy="384048"/>
          </a:xfrm>
          <a:prstGeom prst="rect">
            <a:avLst/>
          </a:prstGeom>
          <a:noFill/>
        </p:spPr>
        <p:txBody>
          <a:bodyPr wrap="square" lIns="0" tIns="0" rIns="0" bIns="0" anchor="ctr"/>
          <a:lstStyle/>
          <a:p>
            <a:pPr marL="0" indent="0">
              <a:buNone/>
            </a:pPr>
            <a:r>
              <a:rPr sz="1600" b="1">
                <a:solidFill>
                  <a:srgbClr val="0B1B2E"/>
                </a:solidFill>
                <a:latin typeface="Georgia"/>
                <a:ea typeface="Georgia"/>
                <a:cs typeface="Georgia"/>
              </a:rPr>
              <a:t>Clause-level, source-backed research</a:t>
            </a:r>
          </a:p>
        </p:txBody>
      </p:sp>
      <p:sp>
        <p:nvSpPr>
          <p:cNvPr id="28" name="Shape 26">
            <a:extLst>
              <a:ext uri="{FF2B5EF4-FFF2-40B4-BE49-F238E27FC236}">
                <a16:creationId xmlns:a16="http://schemas.microsoft.com/office/drawing/2014/main" id="{418E5F0A-1003-475F-9DD9-76625520A1B4}"/>
              </a:ext>
            </a:extLst>
          </p:cNvPr>
          <p:cNvSpPr>
            <a:spLocks noGrp="1"/>
          </p:cNvSpPr>
          <p:nvPr/>
        </p:nvSpPr>
        <p:spPr>
          <a:xfrm>
            <a:off x="6534760" y="2743200"/>
            <a:ext cx="4907128" cy="0"/>
          </a:xfrm>
          <a:prstGeom prst="line">
            <a:avLst/>
          </a:prstGeom>
          <a:noFill/>
          <a:ln w="12700">
            <a:solidFill>
              <a:srgbClr val="E3E9F0"/>
            </a:solidFill>
            <a:prstDash val="solid"/>
          </a:ln>
        </p:spPr>
        <p:txBody>
          <a:bodyPr/>
          <a:lstStyle/>
          <a:p>
            <a:endParaRPr/>
          </a:p>
        </p:txBody>
      </p:sp>
      <p:sp>
        <p:nvSpPr>
          <p:cNvPr id="29" name="Text 27">
            <a:extLst>
              <a:ext uri="{FF2B5EF4-FFF2-40B4-BE49-F238E27FC236}">
                <a16:creationId xmlns:a16="http://schemas.microsoft.com/office/drawing/2014/main" id="{45E2CE1C-7CB2-4980-803F-F0613516E87C}"/>
              </a:ext>
            </a:extLst>
          </p:cNvPr>
          <p:cNvSpPr>
            <a:spLocks noGrp="1"/>
          </p:cNvSpPr>
          <p:nvPr/>
        </p:nvSpPr>
        <p:spPr>
          <a:xfrm>
            <a:off x="6534760" y="2852928"/>
            <a:ext cx="1280160" cy="411480"/>
          </a:xfrm>
          <a:prstGeom prst="rect">
            <a:avLst/>
          </a:prstGeom>
          <a:noFill/>
        </p:spPr>
        <p:txBody>
          <a:bodyPr wrap="square" lIns="0" tIns="0" rIns="0" bIns="0" anchor="t"/>
          <a:lstStyle/>
          <a:p>
            <a:pPr marL="0" indent="0">
              <a:buNone/>
            </a:pPr>
            <a:r>
              <a:rPr sz="900" b="1">
                <a:solidFill>
                  <a:srgbClr val="64748B"/>
                </a:solidFill>
                <a:latin typeface="Calibri"/>
                <a:ea typeface="Calibri"/>
                <a:cs typeface="Calibri"/>
              </a:rPr>
              <a:t>BEST FOR</a:t>
            </a:r>
          </a:p>
        </p:txBody>
      </p:sp>
      <p:sp>
        <p:nvSpPr>
          <p:cNvPr id="30" name="Text 28">
            <a:extLst>
              <a:ext uri="{FF2B5EF4-FFF2-40B4-BE49-F238E27FC236}">
                <a16:creationId xmlns:a16="http://schemas.microsoft.com/office/drawing/2014/main" id="{93831D3C-B217-45A4-9414-8DC23C64C402}"/>
              </a:ext>
            </a:extLst>
          </p:cNvPr>
          <p:cNvSpPr>
            <a:spLocks noGrp="1"/>
          </p:cNvSpPr>
          <p:nvPr/>
        </p:nvSpPr>
        <p:spPr>
          <a:xfrm>
            <a:off x="7878928" y="2852928"/>
            <a:ext cx="3489808" cy="438912"/>
          </a:xfrm>
          <a:prstGeom prst="rect">
            <a:avLst/>
          </a:prstGeom>
          <a:noFill/>
        </p:spPr>
        <p:txBody>
          <a:bodyPr wrap="square" lIns="0" tIns="0" rIns="0" bIns="0" anchor="t"/>
          <a:lstStyle/>
          <a:p>
            <a:pPr marL="0" indent="0">
              <a:lnSpc>
                <a:spcPts val="1350"/>
              </a:lnSpc>
              <a:buNone/>
            </a:pPr>
            <a:r>
              <a:rPr sz="1100">
                <a:solidFill>
                  <a:srgbClr val="33415A"/>
                </a:solidFill>
                <a:latin typeface="Calibri"/>
                <a:ea typeface="Calibri"/>
                <a:cs typeface="Calibri"/>
              </a:rPr>
              <a:t>Questions requiring exact language, context or document evidence</a:t>
            </a:r>
          </a:p>
        </p:txBody>
      </p:sp>
      <p:sp>
        <p:nvSpPr>
          <p:cNvPr id="31" name="Text 29">
            <a:extLst>
              <a:ext uri="{FF2B5EF4-FFF2-40B4-BE49-F238E27FC236}">
                <a16:creationId xmlns:a16="http://schemas.microsoft.com/office/drawing/2014/main" id="{B499899A-E93A-413C-AC75-BE9D1E54CA81}"/>
              </a:ext>
            </a:extLst>
          </p:cNvPr>
          <p:cNvSpPr>
            <a:spLocks noGrp="1"/>
          </p:cNvSpPr>
          <p:nvPr/>
        </p:nvSpPr>
        <p:spPr>
          <a:xfrm>
            <a:off x="6534760" y="3346704"/>
            <a:ext cx="1280160" cy="411480"/>
          </a:xfrm>
          <a:prstGeom prst="rect">
            <a:avLst/>
          </a:prstGeom>
          <a:noFill/>
        </p:spPr>
        <p:txBody>
          <a:bodyPr wrap="square" lIns="0" tIns="0" rIns="0" bIns="0" anchor="t"/>
          <a:lstStyle/>
          <a:p>
            <a:pPr marL="0" indent="0">
              <a:buNone/>
            </a:pPr>
            <a:r>
              <a:rPr sz="900" b="1">
                <a:solidFill>
                  <a:srgbClr val="64748B"/>
                </a:solidFill>
                <a:latin typeface="Calibri"/>
                <a:ea typeface="Calibri"/>
                <a:cs typeface="Calibri"/>
              </a:rPr>
              <a:t>WORKS OVER</a:t>
            </a:r>
          </a:p>
        </p:txBody>
      </p:sp>
      <p:sp>
        <p:nvSpPr>
          <p:cNvPr id="32" name="Text 30">
            <a:extLst>
              <a:ext uri="{FF2B5EF4-FFF2-40B4-BE49-F238E27FC236}">
                <a16:creationId xmlns:a16="http://schemas.microsoft.com/office/drawing/2014/main" id="{96F54F6E-26EA-4152-978B-87FB483DAB73}"/>
              </a:ext>
            </a:extLst>
          </p:cNvPr>
          <p:cNvSpPr>
            <a:spLocks noGrp="1"/>
          </p:cNvSpPr>
          <p:nvPr/>
        </p:nvSpPr>
        <p:spPr>
          <a:xfrm>
            <a:off x="7878928" y="3346704"/>
            <a:ext cx="3489808" cy="438912"/>
          </a:xfrm>
          <a:prstGeom prst="rect">
            <a:avLst/>
          </a:prstGeom>
          <a:noFill/>
        </p:spPr>
        <p:txBody>
          <a:bodyPr wrap="square" lIns="0" tIns="0" rIns="0" bIns="0" anchor="t"/>
          <a:lstStyle/>
          <a:p>
            <a:pPr marL="0" indent="0">
              <a:lnSpc>
                <a:spcPts val="1350"/>
              </a:lnSpc>
              <a:buNone/>
            </a:pPr>
            <a:r>
              <a:rPr sz="1100">
                <a:solidFill>
                  <a:srgbClr val="33415A"/>
                </a:solidFill>
                <a:latin typeface="Calibri"/>
                <a:ea typeface="Calibri"/>
                <a:cs typeface="Calibri"/>
              </a:rPr>
              <a:t>Original contract text, exhibits and semantically indexed passages</a:t>
            </a:r>
          </a:p>
        </p:txBody>
      </p:sp>
      <p:sp>
        <p:nvSpPr>
          <p:cNvPr id="33" name="Text 31">
            <a:extLst>
              <a:ext uri="{FF2B5EF4-FFF2-40B4-BE49-F238E27FC236}">
                <a16:creationId xmlns:a16="http://schemas.microsoft.com/office/drawing/2014/main" id="{7B87A206-6649-4DE5-9995-89D2C2793D11}"/>
              </a:ext>
            </a:extLst>
          </p:cNvPr>
          <p:cNvSpPr>
            <a:spLocks noGrp="1"/>
          </p:cNvSpPr>
          <p:nvPr/>
        </p:nvSpPr>
        <p:spPr>
          <a:xfrm>
            <a:off x="6534760" y="3840480"/>
            <a:ext cx="1280160" cy="411480"/>
          </a:xfrm>
          <a:prstGeom prst="rect">
            <a:avLst/>
          </a:prstGeom>
          <a:noFill/>
        </p:spPr>
        <p:txBody>
          <a:bodyPr wrap="square" lIns="0" tIns="0" rIns="0" bIns="0" anchor="t"/>
          <a:lstStyle/>
          <a:p>
            <a:pPr marL="0" indent="0">
              <a:buNone/>
            </a:pPr>
            <a:r>
              <a:rPr sz="900" b="1">
                <a:solidFill>
                  <a:srgbClr val="64748B"/>
                </a:solidFill>
                <a:latin typeface="Calibri"/>
                <a:ea typeface="Calibri"/>
                <a:cs typeface="Calibri"/>
              </a:rPr>
              <a:t>RETURNS</a:t>
            </a:r>
          </a:p>
        </p:txBody>
      </p:sp>
      <p:sp>
        <p:nvSpPr>
          <p:cNvPr id="34" name="Text 32">
            <a:extLst>
              <a:ext uri="{FF2B5EF4-FFF2-40B4-BE49-F238E27FC236}">
                <a16:creationId xmlns:a16="http://schemas.microsoft.com/office/drawing/2014/main" id="{159149F5-049A-4C90-B38E-975B16FCD41A}"/>
              </a:ext>
            </a:extLst>
          </p:cNvPr>
          <p:cNvSpPr>
            <a:spLocks noGrp="1"/>
          </p:cNvSpPr>
          <p:nvPr/>
        </p:nvSpPr>
        <p:spPr>
          <a:xfrm>
            <a:off x="7878928" y="3840480"/>
            <a:ext cx="3489808" cy="438912"/>
          </a:xfrm>
          <a:prstGeom prst="rect">
            <a:avLst/>
          </a:prstGeom>
          <a:noFill/>
        </p:spPr>
        <p:txBody>
          <a:bodyPr wrap="square" lIns="0" tIns="0" rIns="0" bIns="0" anchor="t"/>
          <a:lstStyle/>
          <a:p>
            <a:pPr marL="0" indent="0">
              <a:lnSpc>
                <a:spcPts val="1350"/>
              </a:lnSpc>
              <a:buNone/>
            </a:pPr>
            <a:r>
              <a:rPr sz="1100">
                <a:solidFill>
                  <a:srgbClr val="33415A"/>
                </a:solidFill>
                <a:latin typeface="Calibri"/>
                <a:ea typeface="Calibri"/>
                <a:cs typeface="Calibri"/>
              </a:rPr>
              <a:t>Cited passages, source links and confidence signals</a:t>
            </a:r>
          </a:p>
        </p:txBody>
      </p:sp>
      <p:sp>
        <p:nvSpPr>
          <p:cNvPr id="35" name="Text 33">
            <a:extLst>
              <a:ext uri="{FF2B5EF4-FFF2-40B4-BE49-F238E27FC236}">
                <a16:creationId xmlns:a16="http://schemas.microsoft.com/office/drawing/2014/main" id="{A607AD58-C1D3-40FA-8958-B2719348C0BF}"/>
              </a:ext>
            </a:extLst>
          </p:cNvPr>
          <p:cNvSpPr>
            <a:spLocks noGrp="1"/>
          </p:cNvSpPr>
          <p:nvPr/>
        </p:nvSpPr>
        <p:spPr>
          <a:xfrm>
            <a:off x="6534760" y="4334256"/>
            <a:ext cx="1280160" cy="411480"/>
          </a:xfrm>
          <a:prstGeom prst="rect">
            <a:avLst/>
          </a:prstGeom>
          <a:noFill/>
        </p:spPr>
        <p:txBody>
          <a:bodyPr wrap="square" lIns="0" tIns="0" rIns="0" bIns="0" anchor="t"/>
          <a:lstStyle/>
          <a:p>
            <a:pPr marL="0" indent="0">
              <a:buNone/>
            </a:pPr>
            <a:r>
              <a:rPr sz="900" b="1">
                <a:solidFill>
                  <a:srgbClr val="64748B"/>
                </a:solidFill>
                <a:latin typeface="Calibri"/>
                <a:ea typeface="Calibri"/>
                <a:cs typeface="Calibri"/>
              </a:rPr>
              <a:t>AUDIENCE</a:t>
            </a:r>
          </a:p>
        </p:txBody>
      </p:sp>
      <p:sp>
        <p:nvSpPr>
          <p:cNvPr id="36" name="Text 34">
            <a:extLst>
              <a:ext uri="{FF2B5EF4-FFF2-40B4-BE49-F238E27FC236}">
                <a16:creationId xmlns:a16="http://schemas.microsoft.com/office/drawing/2014/main" id="{44B1B0E7-EDDB-40CE-9242-055637B50135}"/>
              </a:ext>
            </a:extLst>
          </p:cNvPr>
          <p:cNvSpPr>
            <a:spLocks noGrp="1"/>
          </p:cNvSpPr>
          <p:nvPr/>
        </p:nvSpPr>
        <p:spPr>
          <a:xfrm>
            <a:off x="7878928" y="4334256"/>
            <a:ext cx="3489808" cy="438912"/>
          </a:xfrm>
          <a:prstGeom prst="rect">
            <a:avLst/>
          </a:prstGeom>
          <a:noFill/>
        </p:spPr>
        <p:txBody>
          <a:bodyPr wrap="square" lIns="0" tIns="0" rIns="0" bIns="0" anchor="t"/>
          <a:lstStyle/>
          <a:p>
            <a:pPr marL="0" indent="0">
              <a:lnSpc>
                <a:spcPts val="1350"/>
              </a:lnSpc>
              <a:buNone/>
            </a:pPr>
            <a:r>
              <a:rPr sz="1100">
                <a:solidFill>
                  <a:srgbClr val="33415A"/>
                </a:solidFill>
                <a:latin typeface="Calibri"/>
                <a:ea typeface="Calibri"/>
                <a:cs typeface="Calibri"/>
              </a:rPr>
              <a:t>Analysts, legal and compliance teams</a:t>
            </a:r>
          </a:p>
        </p:txBody>
      </p:sp>
      <p:sp>
        <p:nvSpPr>
          <p:cNvPr id="37" name="Text 35">
            <a:extLst>
              <a:ext uri="{FF2B5EF4-FFF2-40B4-BE49-F238E27FC236}">
                <a16:creationId xmlns:a16="http://schemas.microsoft.com/office/drawing/2014/main" id="{A6721351-0CA4-4BD9-80C7-79222223EED7}"/>
              </a:ext>
            </a:extLst>
          </p:cNvPr>
          <p:cNvSpPr>
            <a:spLocks noGrp="1"/>
          </p:cNvSpPr>
          <p:nvPr/>
        </p:nvSpPr>
        <p:spPr>
          <a:xfrm>
            <a:off x="6534760" y="4775200"/>
            <a:ext cx="4952848" cy="177800"/>
          </a:xfrm>
          <a:prstGeom prst="rect">
            <a:avLst/>
          </a:prstGeom>
          <a:noFill/>
        </p:spPr>
        <p:txBody>
          <a:bodyPr wrap="square" lIns="0" tIns="0" rIns="0" bIns="0" anchor="ctr"/>
          <a:lstStyle/>
          <a:p>
            <a:pPr marL="0" indent="0">
              <a:buNone/>
            </a:pPr>
            <a:r>
              <a:rPr sz="900" b="1">
                <a:solidFill>
                  <a:srgbClr val="0F766E"/>
                </a:solidFill>
                <a:latin typeface="Calibri"/>
                <a:ea typeface="Calibri"/>
                <a:cs typeface="Calibri"/>
              </a:rPr>
              <a:t>EXAMPLE QUESTIONS</a:t>
            </a:r>
          </a:p>
        </p:txBody>
      </p:sp>
      <p:sp>
        <p:nvSpPr>
          <p:cNvPr id="38" name="Shape 36">
            <a:extLst>
              <a:ext uri="{FF2B5EF4-FFF2-40B4-BE49-F238E27FC236}">
                <a16:creationId xmlns:a16="http://schemas.microsoft.com/office/drawing/2014/main" id="{21BFC5A8-5CC1-4491-8F87-E4648D99B858}"/>
              </a:ext>
            </a:extLst>
          </p:cNvPr>
          <p:cNvSpPr>
            <a:spLocks noGrp="1"/>
          </p:cNvSpPr>
          <p:nvPr/>
        </p:nvSpPr>
        <p:spPr>
          <a:xfrm>
            <a:off x="6534760" y="5054600"/>
            <a:ext cx="109728" cy="109728"/>
          </a:xfrm>
          <a:prstGeom prst="ellipse">
            <a:avLst/>
          </a:prstGeom>
          <a:solidFill>
            <a:srgbClr val="14B8A6"/>
          </a:solidFill>
        </p:spPr>
        <p:txBody>
          <a:bodyPr/>
          <a:lstStyle/>
          <a:p>
            <a:endParaRPr/>
          </a:p>
        </p:txBody>
      </p:sp>
      <p:sp>
        <p:nvSpPr>
          <p:cNvPr id="39" name="Text 37">
            <a:extLst>
              <a:ext uri="{FF2B5EF4-FFF2-40B4-BE49-F238E27FC236}">
                <a16:creationId xmlns:a16="http://schemas.microsoft.com/office/drawing/2014/main" id="{2FAAE1A7-E1F3-4956-9915-6AF01A13656F}"/>
              </a:ext>
            </a:extLst>
          </p:cNvPr>
          <p:cNvSpPr>
            <a:spLocks noGrp="1"/>
          </p:cNvSpPr>
          <p:nvPr/>
        </p:nvSpPr>
        <p:spPr>
          <a:xfrm>
            <a:off x="6717640" y="5003800"/>
            <a:ext cx="4769968" cy="279400"/>
          </a:xfrm>
          <a:prstGeom prst="rect">
            <a:avLst/>
          </a:prstGeom>
          <a:noFill/>
        </p:spPr>
        <p:txBody>
          <a:bodyPr wrap="square" lIns="0" tIns="0" rIns="0" bIns="0" anchor="t"/>
          <a:lstStyle/>
          <a:p>
            <a:pPr marL="0" indent="0">
              <a:lnSpc>
                <a:spcPts val="1300"/>
              </a:lnSpc>
              <a:buNone/>
            </a:pPr>
            <a:r>
              <a:rPr lang="en-IN" sz="1000">
                <a:solidFill>
                  <a:srgbClr val="33415A"/>
                </a:solidFill>
                <a:latin typeface="Calibri"/>
                <a:ea typeface="Calibri"/>
                <a:cs typeface="Calibri"/>
              </a:rPr>
              <a:t>What notice requirement applies?</a:t>
            </a:r>
            <a:endParaRPr sz="1000">
              <a:solidFill>
                <a:srgbClr val="33415A"/>
              </a:solidFill>
              <a:latin typeface="Calibri"/>
              <a:ea typeface="Calibri"/>
              <a:cs typeface="Calibri"/>
            </a:endParaRPr>
          </a:p>
        </p:txBody>
      </p:sp>
      <p:sp>
        <p:nvSpPr>
          <p:cNvPr id="40" name="Shape 38">
            <a:extLst>
              <a:ext uri="{FF2B5EF4-FFF2-40B4-BE49-F238E27FC236}">
                <a16:creationId xmlns:a16="http://schemas.microsoft.com/office/drawing/2014/main" id="{D88B7A46-B107-4F75-B52F-8138FE977D58}"/>
              </a:ext>
            </a:extLst>
          </p:cNvPr>
          <p:cNvSpPr>
            <a:spLocks noGrp="1"/>
          </p:cNvSpPr>
          <p:nvPr/>
        </p:nvSpPr>
        <p:spPr>
          <a:xfrm>
            <a:off x="6534760" y="5384800"/>
            <a:ext cx="109728" cy="109728"/>
          </a:xfrm>
          <a:prstGeom prst="ellipse">
            <a:avLst/>
          </a:prstGeom>
          <a:solidFill>
            <a:srgbClr val="14B8A6"/>
          </a:solidFill>
        </p:spPr>
        <p:txBody>
          <a:bodyPr/>
          <a:lstStyle/>
          <a:p>
            <a:endParaRPr/>
          </a:p>
        </p:txBody>
      </p:sp>
      <p:sp>
        <p:nvSpPr>
          <p:cNvPr id="41" name="Text 39">
            <a:extLst>
              <a:ext uri="{FF2B5EF4-FFF2-40B4-BE49-F238E27FC236}">
                <a16:creationId xmlns:a16="http://schemas.microsoft.com/office/drawing/2014/main" id="{1EDD0981-3F11-4A2D-91EF-A1C3B5714191}"/>
              </a:ext>
            </a:extLst>
          </p:cNvPr>
          <p:cNvSpPr>
            <a:spLocks noGrp="1"/>
          </p:cNvSpPr>
          <p:nvPr/>
        </p:nvSpPr>
        <p:spPr>
          <a:xfrm>
            <a:off x="6717640" y="5334000"/>
            <a:ext cx="4769968" cy="279400"/>
          </a:xfrm>
          <a:prstGeom prst="rect">
            <a:avLst/>
          </a:prstGeom>
          <a:noFill/>
        </p:spPr>
        <p:txBody>
          <a:bodyPr wrap="square" lIns="0" tIns="0" rIns="0" bIns="0" anchor="t"/>
          <a:lstStyle/>
          <a:p>
            <a:pPr marL="0" indent="0">
              <a:lnSpc>
                <a:spcPts val="1300"/>
              </a:lnSpc>
              <a:buNone/>
            </a:pPr>
            <a:r>
              <a:rPr lang="en-US" sz="1000">
                <a:solidFill>
                  <a:srgbClr val="33415A"/>
                </a:solidFill>
                <a:latin typeface="Calibri"/>
                <a:ea typeface="Calibri"/>
                <a:cs typeface="Calibri"/>
              </a:rPr>
              <a:t>Which agreements contain this obligation?</a:t>
            </a:r>
            <a:endParaRPr sz="1000">
              <a:solidFill>
                <a:srgbClr val="33415A"/>
              </a:solidFill>
              <a:latin typeface="Calibri"/>
              <a:ea typeface="Calibri"/>
              <a:cs typeface="Calibri"/>
            </a:endParaRPr>
          </a:p>
        </p:txBody>
      </p:sp>
      <p:sp>
        <p:nvSpPr>
          <p:cNvPr id="42" name="Shape 40">
            <a:extLst>
              <a:ext uri="{FF2B5EF4-FFF2-40B4-BE49-F238E27FC236}">
                <a16:creationId xmlns:a16="http://schemas.microsoft.com/office/drawing/2014/main" id="{580E3511-B3DC-49D3-A60D-D0EE46508194}"/>
              </a:ext>
            </a:extLst>
          </p:cNvPr>
          <p:cNvSpPr>
            <a:spLocks noGrp="1"/>
          </p:cNvSpPr>
          <p:nvPr/>
        </p:nvSpPr>
        <p:spPr>
          <a:xfrm>
            <a:off x="6534760" y="5702300"/>
            <a:ext cx="109728" cy="109728"/>
          </a:xfrm>
          <a:prstGeom prst="ellipse">
            <a:avLst/>
          </a:prstGeom>
          <a:solidFill>
            <a:srgbClr val="14B8A6"/>
          </a:solidFill>
        </p:spPr>
        <p:txBody>
          <a:bodyPr/>
          <a:lstStyle/>
          <a:p>
            <a:endParaRPr/>
          </a:p>
        </p:txBody>
      </p:sp>
      <p:sp>
        <p:nvSpPr>
          <p:cNvPr id="43" name="Text 41">
            <a:extLst>
              <a:ext uri="{FF2B5EF4-FFF2-40B4-BE49-F238E27FC236}">
                <a16:creationId xmlns:a16="http://schemas.microsoft.com/office/drawing/2014/main" id="{E1EDFAC7-39CA-459E-B3C0-D1539916370E}"/>
              </a:ext>
            </a:extLst>
          </p:cNvPr>
          <p:cNvSpPr>
            <a:spLocks noGrp="1"/>
          </p:cNvSpPr>
          <p:nvPr/>
        </p:nvSpPr>
        <p:spPr>
          <a:xfrm>
            <a:off x="6717640" y="5664200"/>
            <a:ext cx="4769968" cy="190500"/>
          </a:xfrm>
          <a:prstGeom prst="rect">
            <a:avLst/>
          </a:prstGeom>
          <a:noFill/>
        </p:spPr>
        <p:txBody>
          <a:bodyPr wrap="square" lIns="0" tIns="0" rIns="0" bIns="0" anchor="t"/>
          <a:lstStyle/>
          <a:p>
            <a:pPr marL="0" indent="0">
              <a:lnSpc>
                <a:spcPts val="1300"/>
              </a:lnSpc>
              <a:buNone/>
            </a:pPr>
            <a:r>
              <a:rPr lang="en-US" sz="1000">
                <a:solidFill>
                  <a:srgbClr val="33415A"/>
                </a:solidFill>
                <a:latin typeface="Calibri"/>
                <a:ea typeface="Calibri"/>
                <a:cs typeface="Calibri"/>
              </a:rPr>
              <a:t>What is the exact source language?</a:t>
            </a:r>
            <a:endParaRPr sz="1000">
              <a:solidFill>
                <a:srgbClr val="33415A"/>
              </a:solidFill>
              <a:latin typeface="Calibri"/>
              <a:ea typeface="Calibri"/>
              <a:cs typeface="Calibri"/>
            </a:endParaRPr>
          </a:p>
        </p:txBody>
      </p:sp>
      <p:sp>
        <p:nvSpPr>
          <p:cNvPr id="44" name="Shape 42">
            <a:extLst>
              <a:ext uri="{FF2B5EF4-FFF2-40B4-BE49-F238E27FC236}">
                <a16:creationId xmlns:a16="http://schemas.microsoft.com/office/drawing/2014/main" id="{31E13FA3-03B0-4544-BA68-855D9A904C1D}"/>
              </a:ext>
            </a:extLst>
          </p:cNvPr>
          <p:cNvSpPr>
            <a:spLocks noGrp="1"/>
          </p:cNvSpPr>
          <p:nvPr/>
        </p:nvSpPr>
        <p:spPr>
          <a:xfrm>
            <a:off x="548640" y="6053328"/>
            <a:ext cx="11094415" cy="381000"/>
          </a:xfrm>
          <a:prstGeom prst="rect">
            <a:avLst/>
          </a:prstGeom>
          <a:solidFill>
            <a:srgbClr val="E7F6F4"/>
          </a:solidFill>
        </p:spPr>
        <p:txBody>
          <a:bodyPr/>
          <a:lstStyle/>
          <a:p>
            <a:endParaRPr/>
          </a:p>
        </p:txBody>
      </p:sp>
      <p:sp>
        <p:nvSpPr>
          <p:cNvPr id="45" name="Shape 43">
            <a:extLst>
              <a:ext uri="{FF2B5EF4-FFF2-40B4-BE49-F238E27FC236}">
                <a16:creationId xmlns:a16="http://schemas.microsoft.com/office/drawing/2014/main" id="{5C2CD69F-5980-4579-A54D-F91DF2F49F85}"/>
              </a:ext>
            </a:extLst>
          </p:cNvPr>
          <p:cNvSpPr>
            <a:spLocks noGrp="1"/>
          </p:cNvSpPr>
          <p:nvPr/>
        </p:nvSpPr>
        <p:spPr>
          <a:xfrm>
            <a:off x="548640" y="6053328"/>
            <a:ext cx="82296" cy="381000"/>
          </a:xfrm>
          <a:prstGeom prst="rect">
            <a:avLst/>
          </a:prstGeom>
          <a:solidFill>
            <a:srgbClr val="0F766E"/>
          </a:solidFill>
        </p:spPr>
        <p:txBody>
          <a:bodyPr/>
          <a:lstStyle/>
          <a:p>
            <a:endParaRPr/>
          </a:p>
        </p:txBody>
      </p:sp>
      <p:sp>
        <p:nvSpPr>
          <p:cNvPr id="46" name="Text 44">
            <a:extLst>
              <a:ext uri="{FF2B5EF4-FFF2-40B4-BE49-F238E27FC236}">
                <a16:creationId xmlns:a16="http://schemas.microsoft.com/office/drawing/2014/main" id="{C58EBA02-4547-4525-91BE-07B1802BDB09}"/>
              </a:ext>
            </a:extLst>
          </p:cNvPr>
          <p:cNvSpPr>
            <a:spLocks noGrp="1"/>
          </p:cNvSpPr>
          <p:nvPr/>
        </p:nvSpPr>
        <p:spPr>
          <a:xfrm>
            <a:off x="822960" y="6053328"/>
            <a:ext cx="10637215" cy="381000"/>
          </a:xfrm>
          <a:prstGeom prst="rect">
            <a:avLst/>
          </a:prstGeom>
          <a:noFill/>
        </p:spPr>
        <p:txBody>
          <a:bodyPr wrap="square" lIns="0" tIns="0" rIns="0" bIns="0" anchor="ctr"/>
          <a:lstStyle/>
          <a:p>
            <a:pPr marL="0" indent="0">
              <a:buNone/>
            </a:pPr>
            <a:r>
              <a:rPr sz="1300" b="1">
                <a:solidFill>
                  <a:srgbClr val="0F766E"/>
                </a:solidFill>
                <a:latin typeface="Calibri"/>
                <a:ea typeface="Calibri"/>
                <a:cs typeface="Calibri"/>
              </a:rPr>
              <a:t>One governed foundation, two complementary answer modes—so the system uses the right evidence for the question.</a:t>
            </a:r>
          </a:p>
        </p:txBody>
      </p:sp>
      <p:sp>
        <p:nvSpPr>
          <p:cNvPr id="47" name="Text 45">
            <a:extLst>
              <a:ext uri="{FF2B5EF4-FFF2-40B4-BE49-F238E27FC236}">
                <a16:creationId xmlns:a16="http://schemas.microsoft.com/office/drawing/2014/main" id="{00D79526-8A7F-47ED-B387-97EE7E50B35C}"/>
              </a:ext>
            </a:extLst>
          </p:cNvPr>
          <p:cNvSpPr>
            <a:spLocks noGrp="1"/>
          </p:cNvSpPr>
          <p:nvPr/>
        </p:nvSpPr>
        <p:spPr>
          <a:xfrm>
            <a:off x="548640" y="6473952"/>
            <a:ext cx="8229600" cy="256032"/>
          </a:xfrm>
          <a:prstGeom prst="rect">
            <a:avLst/>
          </a:prstGeom>
          <a:noFill/>
        </p:spPr>
        <p:txBody>
          <a:bodyPr wrap="square" lIns="0" tIns="0" rIns="0" bIns="0" anchor="ctr"/>
          <a:lstStyle/>
          <a:p>
            <a:pPr marL="0" indent="0">
              <a:buNone/>
            </a:pPr>
            <a:r>
              <a:rPr sz="800" b="1">
                <a:solidFill>
                  <a:srgbClr val="64748B"/>
                </a:solidFill>
                <a:latin typeface="Calibri"/>
                <a:ea typeface="Calibri"/>
                <a:cs typeface="Calibri"/>
              </a:rPr>
              <a:t>Contract Intelligence Platform  ·  Confidential — Internal</a:t>
            </a:r>
          </a:p>
        </p:txBody>
      </p:sp>
      <p:sp>
        <p:nvSpPr>
          <p:cNvPr id="48" name="Text 46">
            <a:extLst>
              <a:ext uri="{FF2B5EF4-FFF2-40B4-BE49-F238E27FC236}">
                <a16:creationId xmlns:a16="http://schemas.microsoft.com/office/drawing/2014/main" id="{8F0DED3D-A433-49BD-A26D-AA3E927AF7E1}"/>
              </a:ext>
            </a:extLst>
          </p:cNvPr>
          <p:cNvSpPr>
            <a:spLocks noGrp="1"/>
          </p:cNvSpPr>
          <p:nvPr/>
        </p:nvSpPr>
        <p:spPr>
          <a:xfrm>
            <a:off x="10728655" y="6473952"/>
            <a:ext cx="914400" cy="256032"/>
          </a:xfrm>
          <a:prstGeom prst="rect">
            <a:avLst/>
          </a:prstGeom>
          <a:noFill/>
        </p:spPr>
        <p:txBody>
          <a:bodyPr wrap="square" lIns="0" tIns="0" rIns="0" bIns="0" anchor="ctr"/>
          <a:lstStyle/>
          <a:p>
            <a:pPr marL="0" indent="0" algn="r">
              <a:buNone/>
            </a:pPr>
            <a:r>
              <a:rPr sz="900">
                <a:solidFill>
                  <a:srgbClr val="64748B"/>
                </a:solidFill>
                <a:latin typeface="Calibri"/>
                <a:ea typeface="Calibri"/>
                <a:cs typeface="Calibri"/>
              </a:rPr>
              <a:t>07</a:t>
            </a:r>
          </a:p>
        </p:txBody>
      </p:sp>
    </p:spTree>
    <p:extLst>
      <p:ext uri="{BB962C8B-B14F-4D97-AF65-F5344CB8AC3E}">
        <p14:creationId xmlns:p14="http://schemas.microsoft.com/office/powerpoint/2010/main" val="142630361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0568C19F-5E88-4CB8-AA8D-759352EA6BB2}"/>
              </a:ext>
            </a:extLst>
          </p:cNvPr>
          <p:cNvSpPr>
            <a:spLocks noGrp="1"/>
          </p:cNvSpPr>
          <p:nvPr/>
        </p:nvSpPr>
        <p:spPr>
          <a:xfrm>
            <a:off x="548640" y="457200"/>
            <a:ext cx="11094415" cy="256032"/>
          </a:xfrm>
          <a:prstGeom prst="rect">
            <a:avLst/>
          </a:prstGeom>
          <a:noFill/>
        </p:spPr>
        <p:txBody>
          <a:bodyPr wrap="square" lIns="0" tIns="0" rIns="0" bIns="0" anchor="ctr"/>
          <a:lstStyle/>
          <a:p>
            <a:pPr marL="0" indent="0">
              <a:buNone/>
            </a:pPr>
            <a:r>
              <a:rPr sz="1100" b="1">
                <a:solidFill>
                  <a:srgbClr val="0F766E"/>
                </a:solidFill>
                <a:latin typeface="Calibri"/>
                <a:ea typeface="Calibri"/>
                <a:cs typeface="Calibri"/>
              </a:rPr>
              <a:t>SECTION 07 · REUSABLE DATA PIPELINE</a:t>
            </a:r>
          </a:p>
        </p:txBody>
      </p:sp>
      <p:sp>
        <p:nvSpPr>
          <p:cNvPr id="3" name="Text 1">
            <a:extLst>
              <a:ext uri="{FF2B5EF4-FFF2-40B4-BE49-F238E27FC236}">
                <a16:creationId xmlns:a16="http://schemas.microsoft.com/office/drawing/2014/main" id="{594BAD46-4F59-49DA-A718-791F38ADCCE5}"/>
              </a:ext>
            </a:extLst>
          </p:cNvPr>
          <p:cNvSpPr>
            <a:spLocks noGrp="1"/>
          </p:cNvSpPr>
          <p:nvPr/>
        </p:nvSpPr>
        <p:spPr>
          <a:xfrm>
            <a:off x="548640" y="804672"/>
            <a:ext cx="11094466" cy="635000"/>
          </a:xfrm>
          <a:prstGeom prst="rect">
            <a:avLst/>
          </a:prstGeom>
          <a:noFill/>
        </p:spPr>
        <p:txBody>
          <a:bodyPr wrap="square" lIns="0" tIns="0" rIns="0" bIns="0" anchor="t">
            <a:normAutofit/>
          </a:bodyPr>
          <a:lstStyle/>
          <a:p>
            <a:pPr marL="0" indent="0">
              <a:lnSpc>
                <a:spcPts val="3080"/>
              </a:lnSpc>
              <a:buNone/>
            </a:pPr>
            <a:r>
              <a:rPr sz="2800" b="1">
                <a:solidFill>
                  <a:srgbClr val="0B1B2E"/>
                </a:solidFill>
                <a:latin typeface="Georgia"/>
                <a:ea typeface="Georgia"/>
                <a:cs typeface="Georgia"/>
              </a:rPr>
              <a:t>A controlled path from document to intelligence</a:t>
            </a:r>
          </a:p>
        </p:txBody>
      </p:sp>
      <p:sp>
        <p:nvSpPr>
          <p:cNvPr id="4" name="Text 2">
            <a:extLst>
              <a:ext uri="{FF2B5EF4-FFF2-40B4-BE49-F238E27FC236}">
                <a16:creationId xmlns:a16="http://schemas.microsoft.com/office/drawing/2014/main" id="{5235267B-8C6C-4A30-98CA-016830F297E3}"/>
              </a:ext>
            </a:extLst>
          </p:cNvPr>
          <p:cNvSpPr>
            <a:spLocks noGrp="1"/>
          </p:cNvSpPr>
          <p:nvPr/>
        </p:nvSpPr>
        <p:spPr>
          <a:xfrm>
            <a:off x="548640" y="1481328"/>
            <a:ext cx="11094415" cy="228600"/>
          </a:xfrm>
          <a:prstGeom prst="rect">
            <a:avLst/>
          </a:prstGeom>
          <a:noFill/>
        </p:spPr>
        <p:txBody>
          <a:bodyPr wrap="square" lIns="0" tIns="0" rIns="0" bIns="0" anchor="ctr"/>
          <a:lstStyle/>
          <a:p>
            <a:pPr marL="0" indent="0">
              <a:buNone/>
            </a:pPr>
            <a:r>
              <a:rPr sz="1250" i="1">
                <a:solidFill>
                  <a:srgbClr val="0F766E"/>
                </a:solidFill>
                <a:latin typeface="Calibri"/>
                <a:ea typeface="Calibri"/>
                <a:cs typeface="Calibri"/>
              </a:rPr>
              <a:t>Unstructured PDF enters on the left — governed, validated intelligence exits on the right.</a:t>
            </a:r>
          </a:p>
        </p:txBody>
      </p:sp>
      <p:sp>
        <p:nvSpPr>
          <p:cNvPr id="5" name="Shape 3">
            <a:extLst>
              <a:ext uri="{FF2B5EF4-FFF2-40B4-BE49-F238E27FC236}">
                <a16:creationId xmlns:a16="http://schemas.microsoft.com/office/drawing/2014/main" id="{345187E1-C913-4254-90FD-CD861E833F4B}"/>
              </a:ext>
            </a:extLst>
          </p:cNvPr>
          <p:cNvSpPr>
            <a:spLocks noGrp="1"/>
          </p:cNvSpPr>
          <p:nvPr/>
        </p:nvSpPr>
        <p:spPr>
          <a:xfrm>
            <a:off x="609600" y="1905000"/>
            <a:ext cx="1600200" cy="1193800"/>
          </a:xfrm>
          <a:prstGeom prst="roundRect">
            <a:avLst>
              <a:gd name="adj" fmla="val 6780"/>
            </a:avLst>
          </a:prstGeom>
          <a:solidFill>
            <a:srgbClr val="F8FAFC"/>
          </a:solidFill>
          <a:ln w="12700">
            <a:solidFill>
              <a:srgbClr val="E3E9F0"/>
            </a:solidFill>
            <a:prstDash val="solid"/>
          </a:ln>
          <a:effectLst>
            <a:outerShdw blurRad="101600" dist="25400" dir="8100000" algn="bl" rotWithShape="0">
              <a:srgbClr val="1E293B">
                <a:alpha val="11000"/>
              </a:srgbClr>
            </a:outerShdw>
          </a:effectLst>
        </p:spPr>
        <p:txBody>
          <a:bodyPr/>
          <a:lstStyle/>
          <a:p>
            <a:endParaRPr/>
          </a:p>
        </p:txBody>
      </p:sp>
      <p:sp>
        <p:nvSpPr>
          <p:cNvPr id="6" name="Shape 4">
            <a:extLst>
              <a:ext uri="{FF2B5EF4-FFF2-40B4-BE49-F238E27FC236}">
                <a16:creationId xmlns:a16="http://schemas.microsoft.com/office/drawing/2014/main" id="{94E2DD85-61D9-4F1B-AF69-6277B63FBACC}"/>
              </a:ext>
            </a:extLst>
          </p:cNvPr>
          <p:cNvSpPr>
            <a:spLocks noGrp="1"/>
          </p:cNvSpPr>
          <p:nvPr/>
        </p:nvSpPr>
        <p:spPr>
          <a:xfrm>
            <a:off x="1231900" y="1727200"/>
            <a:ext cx="355600" cy="355600"/>
          </a:xfrm>
          <a:prstGeom prst="ellipse">
            <a:avLst/>
          </a:prstGeom>
          <a:solidFill>
            <a:srgbClr val="64748B"/>
          </a:solidFill>
          <a:ln w="19050">
            <a:solidFill>
              <a:srgbClr val="FFFFFF"/>
            </a:solidFill>
            <a:prstDash val="solid"/>
          </a:ln>
        </p:spPr>
        <p:txBody>
          <a:bodyPr/>
          <a:lstStyle/>
          <a:p>
            <a:endParaRPr/>
          </a:p>
        </p:txBody>
      </p:sp>
      <p:sp>
        <p:nvSpPr>
          <p:cNvPr id="7" name="Text 5">
            <a:extLst>
              <a:ext uri="{FF2B5EF4-FFF2-40B4-BE49-F238E27FC236}">
                <a16:creationId xmlns:a16="http://schemas.microsoft.com/office/drawing/2014/main" id="{9FF297D7-AA61-4A3C-AE5B-19E4B1D8EBD2}"/>
              </a:ext>
            </a:extLst>
          </p:cNvPr>
          <p:cNvSpPr>
            <a:spLocks noGrp="1"/>
          </p:cNvSpPr>
          <p:nvPr/>
        </p:nvSpPr>
        <p:spPr>
          <a:xfrm>
            <a:off x="1231900" y="1727200"/>
            <a:ext cx="355600" cy="355600"/>
          </a:xfrm>
          <a:prstGeom prst="rect">
            <a:avLst/>
          </a:prstGeom>
          <a:noFill/>
        </p:spPr>
        <p:txBody>
          <a:bodyPr wrap="square" lIns="0" tIns="0" rIns="0" bIns="0" anchor="ctr"/>
          <a:lstStyle/>
          <a:p>
            <a:pPr marL="0" indent="0" algn="ctr">
              <a:buNone/>
            </a:pPr>
            <a:r>
              <a:rPr lang="en-IN" sz="1100" b="1">
                <a:solidFill>
                  <a:srgbClr val="FFFFFF"/>
                </a:solidFill>
                <a:latin typeface="Calibri"/>
                <a:ea typeface="Calibri"/>
                <a:cs typeface="Calibri"/>
              </a:rPr>
              <a:t>1</a:t>
            </a:r>
            <a:endParaRPr sz="1100" b="1">
              <a:solidFill>
                <a:srgbClr val="FFFFFF"/>
              </a:solidFill>
              <a:latin typeface="Calibri"/>
              <a:ea typeface="Calibri"/>
              <a:cs typeface="Calibri"/>
            </a:endParaRPr>
          </a:p>
        </p:txBody>
      </p:sp>
      <p:sp>
        <p:nvSpPr>
          <p:cNvPr id="8" name="Text 6">
            <a:extLst>
              <a:ext uri="{FF2B5EF4-FFF2-40B4-BE49-F238E27FC236}">
                <a16:creationId xmlns:a16="http://schemas.microsoft.com/office/drawing/2014/main" id="{A003E615-9F4C-4751-B05F-48DF1560021A}"/>
              </a:ext>
            </a:extLst>
          </p:cNvPr>
          <p:cNvSpPr>
            <a:spLocks noGrp="1"/>
          </p:cNvSpPr>
          <p:nvPr/>
        </p:nvSpPr>
        <p:spPr>
          <a:xfrm>
            <a:off x="711200" y="2133600"/>
            <a:ext cx="1397000" cy="355600"/>
          </a:xfrm>
          <a:prstGeom prst="rect">
            <a:avLst/>
          </a:prstGeom>
          <a:noFill/>
        </p:spPr>
        <p:txBody>
          <a:bodyPr wrap="square" lIns="0" tIns="0" rIns="0" bIns="0" anchor="ctr"/>
          <a:lstStyle/>
          <a:p>
            <a:pPr marL="0" indent="0" algn="ctr">
              <a:lnSpc>
                <a:spcPts val="1200"/>
              </a:lnSpc>
              <a:buNone/>
            </a:pPr>
            <a:r>
              <a:rPr lang="en-IN" sz="1050" b="1">
                <a:solidFill>
                  <a:srgbClr val="0B1B2E"/>
                </a:solidFill>
                <a:latin typeface="Calibri"/>
                <a:ea typeface="Calibri"/>
                <a:cs typeface="Calibri"/>
              </a:rPr>
              <a:t>INGEST</a:t>
            </a:r>
            <a:endParaRPr sz="1050" b="1">
              <a:solidFill>
                <a:srgbClr val="0B1B2E"/>
              </a:solidFill>
              <a:latin typeface="Calibri"/>
              <a:ea typeface="Calibri"/>
              <a:cs typeface="Calibri"/>
            </a:endParaRPr>
          </a:p>
        </p:txBody>
      </p:sp>
      <p:sp>
        <p:nvSpPr>
          <p:cNvPr id="9" name="Text 7">
            <a:extLst>
              <a:ext uri="{FF2B5EF4-FFF2-40B4-BE49-F238E27FC236}">
                <a16:creationId xmlns:a16="http://schemas.microsoft.com/office/drawing/2014/main" id="{BFCB4A0A-5AC2-4601-942D-B7749E000BB8}"/>
              </a:ext>
            </a:extLst>
          </p:cNvPr>
          <p:cNvSpPr>
            <a:spLocks noGrp="1"/>
          </p:cNvSpPr>
          <p:nvPr/>
        </p:nvSpPr>
        <p:spPr>
          <a:xfrm>
            <a:off x="698500" y="2565400"/>
            <a:ext cx="1422400" cy="431800"/>
          </a:xfrm>
          <a:prstGeom prst="rect">
            <a:avLst/>
          </a:prstGeom>
          <a:noFill/>
        </p:spPr>
        <p:txBody>
          <a:bodyPr wrap="square" lIns="0" tIns="0" rIns="0" bIns="0" anchor="ctr"/>
          <a:lstStyle/>
          <a:p>
            <a:pPr marL="0" indent="0" algn="ctr">
              <a:buNone/>
            </a:pPr>
            <a:r>
              <a:rPr lang="en-IN" sz="850">
                <a:solidFill>
                  <a:srgbClr val="64748B"/>
                </a:solidFill>
                <a:latin typeface="Calibri"/>
                <a:ea typeface="Calibri"/>
                <a:cs typeface="Calibri"/>
              </a:rPr>
              <a:t>Files, OCR and text</a:t>
            </a:r>
            <a:endParaRPr sz="850">
              <a:solidFill>
                <a:srgbClr val="64748B"/>
              </a:solidFill>
              <a:latin typeface="Calibri"/>
              <a:ea typeface="Calibri"/>
              <a:cs typeface="Calibri"/>
            </a:endParaRPr>
          </a:p>
        </p:txBody>
      </p:sp>
      <p:sp>
        <p:nvSpPr>
          <p:cNvPr id="10" name="Shape 8">
            <a:extLst>
              <a:ext uri="{FF2B5EF4-FFF2-40B4-BE49-F238E27FC236}">
                <a16:creationId xmlns:a16="http://schemas.microsoft.com/office/drawing/2014/main" id="{19FA5178-4841-4E9E-B481-BE6560E09A26}"/>
              </a:ext>
            </a:extLst>
          </p:cNvPr>
          <p:cNvSpPr>
            <a:spLocks noGrp="1"/>
          </p:cNvSpPr>
          <p:nvPr/>
        </p:nvSpPr>
        <p:spPr>
          <a:xfrm>
            <a:off x="2222500" y="2501900"/>
            <a:ext cx="228600" cy="0"/>
          </a:xfrm>
          <a:prstGeom prst="line">
            <a:avLst/>
          </a:prstGeom>
          <a:noFill/>
          <a:ln w="22860">
            <a:solidFill>
              <a:srgbClr val="0F766E"/>
            </a:solidFill>
            <a:prstDash val="solid"/>
            <a:tailEnd type="triangle"/>
          </a:ln>
        </p:spPr>
        <p:txBody>
          <a:bodyPr/>
          <a:lstStyle/>
          <a:p>
            <a:endParaRPr/>
          </a:p>
        </p:txBody>
      </p:sp>
      <p:sp>
        <p:nvSpPr>
          <p:cNvPr id="11" name="Shape 9">
            <a:extLst>
              <a:ext uri="{FF2B5EF4-FFF2-40B4-BE49-F238E27FC236}">
                <a16:creationId xmlns:a16="http://schemas.microsoft.com/office/drawing/2014/main" id="{EE580FF9-6338-4213-88F8-A3602B7B0BEF}"/>
              </a:ext>
            </a:extLst>
          </p:cNvPr>
          <p:cNvSpPr>
            <a:spLocks noGrp="1"/>
          </p:cNvSpPr>
          <p:nvPr/>
        </p:nvSpPr>
        <p:spPr>
          <a:xfrm>
            <a:off x="2476500" y="1905000"/>
            <a:ext cx="1600200" cy="1193800"/>
          </a:xfrm>
          <a:prstGeom prst="roundRect">
            <a:avLst>
              <a:gd name="adj" fmla="val 6780"/>
            </a:avLst>
          </a:prstGeom>
          <a:solidFill>
            <a:srgbClr val="0B1B2E"/>
          </a:solidFill>
          <a:ln w="12700">
            <a:solidFill>
              <a:srgbClr val="0B1B2E"/>
            </a:solidFill>
            <a:prstDash val="solid"/>
          </a:ln>
          <a:effectLst>
            <a:outerShdw blurRad="101600" dist="25400" dir="8100000" algn="bl" rotWithShape="0">
              <a:srgbClr val="1E293B">
                <a:alpha val="11000"/>
              </a:srgbClr>
            </a:outerShdw>
          </a:effectLst>
        </p:spPr>
        <p:txBody>
          <a:bodyPr/>
          <a:lstStyle/>
          <a:p>
            <a:endParaRPr/>
          </a:p>
        </p:txBody>
      </p:sp>
      <p:sp>
        <p:nvSpPr>
          <p:cNvPr id="12" name="Shape 10">
            <a:extLst>
              <a:ext uri="{FF2B5EF4-FFF2-40B4-BE49-F238E27FC236}">
                <a16:creationId xmlns:a16="http://schemas.microsoft.com/office/drawing/2014/main" id="{CEE30BD8-2C5F-4DA3-90A1-33E45EC61189}"/>
              </a:ext>
            </a:extLst>
          </p:cNvPr>
          <p:cNvSpPr>
            <a:spLocks noGrp="1"/>
          </p:cNvSpPr>
          <p:nvPr/>
        </p:nvSpPr>
        <p:spPr>
          <a:xfrm>
            <a:off x="3098800" y="1727200"/>
            <a:ext cx="355600" cy="355600"/>
          </a:xfrm>
          <a:prstGeom prst="ellipse">
            <a:avLst/>
          </a:prstGeom>
          <a:solidFill>
            <a:srgbClr val="14B8A6"/>
          </a:solidFill>
          <a:ln w="19050">
            <a:solidFill>
              <a:srgbClr val="FFFFFF"/>
            </a:solidFill>
            <a:prstDash val="solid"/>
          </a:ln>
        </p:spPr>
        <p:txBody>
          <a:bodyPr/>
          <a:lstStyle/>
          <a:p>
            <a:endParaRPr/>
          </a:p>
        </p:txBody>
      </p:sp>
      <p:sp>
        <p:nvSpPr>
          <p:cNvPr id="13" name="Text 11">
            <a:extLst>
              <a:ext uri="{FF2B5EF4-FFF2-40B4-BE49-F238E27FC236}">
                <a16:creationId xmlns:a16="http://schemas.microsoft.com/office/drawing/2014/main" id="{E5580A65-5BF2-4F4D-8BAF-45E64D95FFB3}"/>
              </a:ext>
            </a:extLst>
          </p:cNvPr>
          <p:cNvSpPr>
            <a:spLocks noGrp="1"/>
          </p:cNvSpPr>
          <p:nvPr/>
        </p:nvSpPr>
        <p:spPr>
          <a:xfrm>
            <a:off x="3098800" y="1727200"/>
            <a:ext cx="355600" cy="355600"/>
          </a:xfrm>
          <a:prstGeom prst="rect">
            <a:avLst/>
          </a:prstGeom>
          <a:noFill/>
        </p:spPr>
        <p:txBody>
          <a:bodyPr wrap="square" lIns="0" tIns="0" rIns="0" bIns="0" anchor="ctr"/>
          <a:lstStyle/>
          <a:p>
            <a:pPr marL="0" indent="0" algn="ctr">
              <a:buNone/>
            </a:pPr>
            <a:r>
              <a:rPr lang="en-IN" sz="1100" b="1">
                <a:solidFill>
                  <a:srgbClr val="FFFFFF"/>
                </a:solidFill>
                <a:latin typeface="Calibri"/>
                <a:ea typeface="Calibri"/>
                <a:cs typeface="Calibri"/>
              </a:rPr>
              <a:t>2</a:t>
            </a:r>
            <a:endParaRPr sz="1100" b="1">
              <a:solidFill>
                <a:srgbClr val="FFFFFF"/>
              </a:solidFill>
              <a:latin typeface="Calibri"/>
              <a:ea typeface="Calibri"/>
              <a:cs typeface="Calibri"/>
            </a:endParaRPr>
          </a:p>
        </p:txBody>
      </p:sp>
      <p:sp>
        <p:nvSpPr>
          <p:cNvPr id="14" name="Text 12">
            <a:extLst>
              <a:ext uri="{FF2B5EF4-FFF2-40B4-BE49-F238E27FC236}">
                <a16:creationId xmlns:a16="http://schemas.microsoft.com/office/drawing/2014/main" id="{F656ED43-D5CC-44AC-B873-142FD1D75102}"/>
              </a:ext>
            </a:extLst>
          </p:cNvPr>
          <p:cNvSpPr>
            <a:spLocks noGrp="1"/>
          </p:cNvSpPr>
          <p:nvPr/>
        </p:nvSpPr>
        <p:spPr>
          <a:xfrm>
            <a:off x="2578100" y="2133600"/>
            <a:ext cx="1397000" cy="355600"/>
          </a:xfrm>
          <a:prstGeom prst="rect">
            <a:avLst/>
          </a:prstGeom>
          <a:noFill/>
        </p:spPr>
        <p:txBody>
          <a:bodyPr wrap="square" lIns="0" tIns="0" rIns="0" bIns="0" anchor="ctr"/>
          <a:lstStyle/>
          <a:p>
            <a:pPr marL="0" indent="0" algn="ctr">
              <a:lnSpc>
                <a:spcPts val="1200"/>
              </a:lnSpc>
              <a:buNone/>
            </a:pPr>
            <a:r>
              <a:rPr lang="en-IN" sz="1050" b="1">
                <a:solidFill>
                  <a:srgbClr val="FFFFFF"/>
                </a:solidFill>
                <a:latin typeface="Calibri"/>
                <a:ea typeface="Calibri"/>
                <a:cs typeface="Calibri"/>
              </a:rPr>
              <a:t>CLASSIFY</a:t>
            </a:r>
            <a:endParaRPr sz="1050" b="1">
              <a:solidFill>
                <a:srgbClr val="FFFFFF"/>
              </a:solidFill>
              <a:latin typeface="Calibri"/>
              <a:ea typeface="Calibri"/>
              <a:cs typeface="Calibri"/>
            </a:endParaRPr>
          </a:p>
        </p:txBody>
      </p:sp>
      <p:sp>
        <p:nvSpPr>
          <p:cNvPr id="15" name="Text 13">
            <a:extLst>
              <a:ext uri="{FF2B5EF4-FFF2-40B4-BE49-F238E27FC236}">
                <a16:creationId xmlns:a16="http://schemas.microsoft.com/office/drawing/2014/main" id="{0A761DDB-6C26-499D-B62F-8620B237F623}"/>
              </a:ext>
            </a:extLst>
          </p:cNvPr>
          <p:cNvSpPr>
            <a:spLocks noGrp="1"/>
          </p:cNvSpPr>
          <p:nvPr/>
        </p:nvSpPr>
        <p:spPr>
          <a:xfrm>
            <a:off x="2565400" y="2565400"/>
            <a:ext cx="1422400" cy="431800"/>
          </a:xfrm>
          <a:prstGeom prst="rect">
            <a:avLst/>
          </a:prstGeom>
          <a:noFill/>
        </p:spPr>
        <p:txBody>
          <a:bodyPr wrap="square" lIns="0" tIns="0" rIns="0" bIns="0" anchor="ctr"/>
          <a:lstStyle/>
          <a:p>
            <a:pPr marL="0" indent="0" algn="ctr">
              <a:buNone/>
            </a:pPr>
            <a:r>
              <a:rPr lang="en-IN" sz="850">
                <a:solidFill>
                  <a:srgbClr val="5EEAD4"/>
                </a:solidFill>
                <a:latin typeface="Calibri"/>
                <a:ea typeface="Calibri"/>
                <a:cs typeface="Calibri"/>
              </a:rPr>
              <a:t>Document type and metadata</a:t>
            </a:r>
            <a:endParaRPr sz="850">
              <a:solidFill>
                <a:srgbClr val="5EEAD4"/>
              </a:solidFill>
              <a:latin typeface="Calibri"/>
              <a:ea typeface="Calibri"/>
              <a:cs typeface="Calibri"/>
            </a:endParaRPr>
          </a:p>
        </p:txBody>
      </p:sp>
      <p:sp>
        <p:nvSpPr>
          <p:cNvPr id="16" name="Shape 14">
            <a:extLst>
              <a:ext uri="{FF2B5EF4-FFF2-40B4-BE49-F238E27FC236}">
                <a16:creationId xmlns:a16="http://schemas.microsoft.com/office/drawing/2014/main" id="{8D6A861B-07BD-4138-98FB-E7BAB23E5D6F}"/>
              </a:ext>
            </a:extLst>
          </p:cNvPr>
          <p:cNvSpPr>
            <a:spLocks noGrp="1"/>
          </p:cNvSpPr>
          <p:nvPr/>
        </p:nvSpPr>
        <p:spPr>
          <a:xfrm>
            <a:off x="4089400" y="2501900"/>
            <a:ext cx="228600" cy="0"/>
          </a:xfrm>
          <a:prstGeom prst="line">
            <a:avLst/>
          </a:prstGeom>
          <a:noFill/>
          <a:ln w="22860">
            <a:solidFill>
              <a:srgbClr val="0F766E"/>
            </a:solidFill>
            <a:prstDash val="solid"/>
            <a:tailEnd type="triangle"/>
          </a:ln>
        </p:spPr>
        <p:txBody>
          <a:bodyPr/>
          <a:lstStyle/>
          <a:p>
            <a:endParaRPr/>
          </a:p>
        </p:txBody>
      </p:sp>
      <p:sp>
        <p:nvSpPr>
          <p:cNvPr id="17" name="Shape 15">
            <a:extLst>
              <a:ext uri="{FF2B5EF4-FFF2-40B4-BE49-F238E27FC236}">
                <a16:creationId xmlns:a16="http://schemas.microsoft.com/office/drawing/2014/main" id="{376388B0-89C6-4F0F-9055-EBCF5F58919F}"/>
              </a:ext>
            </a:extLst>
          </p:cNvPr>
          <p:cNvSpPr>
            <a:spLocks noGrp="1"/>
          </p:cNvSpPr>
          <p:nvPr/>
        </p:nvSpPr>
        <p:spPr>
          <a:xfrm>
            <a:off x="4343400" y="1905000"/>
            <a:ext cx="1600200" cy="1193800"/>
          </a:xfrm>
          <a:prstGeom prst="roundRect">
            <a:avLst>
              <a:gd name="adj" fmla="val 6780"/>
            </a:avLst>
          </a:prstGeom>
          <a:solidFill>
            <a:srgbClr val="F8FAFC"/>
          </a:solidFill>
          <a:ln w="12700">
            <a:solidFill>
              <a:srgbClr val="E3E9F0"/>
            </a:solidFill>
            <a:prstDash val="solid"/>
          </a:ln>
          <a:effectLst>
            <a:outerShdw blurRad="101600" dist="25400" dir="8100000" algn="bl" rotWithShape="0">
              <a:srgbClr val="1E293B">
                <a:alpha val="11000"/>
              </a:srgbClr>
            </a:outerShdw>
          </a:effectLst>
        </p:spPr>
        <p:txBody>
          <a:bodyPr/>
          <a:lstStyle/>
          <a:p>
            <a:endParaRPr/>
          </a:p>
        </p:txBody>
      </p:sp>
      <p:sp>
        <p:nvSpPr>
          <p:cNvPr id="18" name="Shape 16">
            <a:extLst>
              <a:ext uri="{FF2B5EF4-FFF2-40B4-BE49-F238E27FC236}">
                <a16:creationId xmlns:a16="http://schemas.microsoft.com/office/drawing/2014/main" id="{087A5946-2BBA-4F70-A1C7-051652FF92F5}"/>
              </a:ext>
            </a:extLst>
          </p:cNvPr>
          <p:cNvSpPr>
            <a:spLocks noGrp="1"/>
          </p:cNvSpPr>
          <p:nvPr/>
        </p:nvSpPr>
        <p:spPr>
          <a:xfrm>
            <a:off x="4965700" y="1727200"/>
            <a:ext cx="355600" cy="355600"/>
          </a:xfrm>
          <a:prstGeom prst="ellipse">
            <a:avLst/>
          </a:prstGeom>
          <a:solidFill>
            <a:srgbClr val="64748B"/>
          </a:solidFill>
          <a:ln w="19050">
            <a:solidFill>
              <a:srgbClr val="FFFFFF"/>
            </a:solidFill>
            <a:prstDash val="solid"/>
          </a:ln>
        </p:spPr>
        <p:txBody>
          <a:bodyPr/>
          <a:lstStyle/>
          <a:p>
            <a:endParaRPr/>
          </a:p>
        </p:txBody>
      </p:sp>
      <p:sp>
        <p:nvSpPr>
          <p:cNvPr id="19" name="Text 17">
            <a:extLst>
              <a:ext uri="{FF2B5EF4-FFF2-40B4-BE49-F238E27FC236}">
                <a16:creationId xmlns:a16="http://schemas.microsoft.com/office/drawing/2014/main" id="{4E0705AC-C7F6-4CC9-BBD7-F47A28DB4853}"/>
              </a:ext>
            </a:extLst>
          </p:cNvPr>
          <p:cNvSpPr>
            <a:spLocks noGrp="1"/>
          </p:cNvSpPr>
          <p:nvPr/>
        </p:nvSpPr>
        <p:spPr>
          <a:xfrm>
            <a:off x="4965700" y="1727200"/>
            <a:ext cx="355600" cy="355600"/>
          </a:xfrm>
          <a:prstGeom prst="rect">
            <a:avLst/>
          </a:prstGeom>
          <a:noFill/>
        </p:spPr>
        <p:txBody>
          <a:bodyPr wrap="square" lIns="0" tIns="0" rIns="0" bIns="0" anchor="ctr"/>
          <a:lstStyle/>
          <a:p>
            <a:pPr marL="0" indent="0" algn="ctr">
              <a:buNone/>
            </a:pPr>
            <a:r>
              <a:rPr lang="en-IN" sz="1100" b="1">
                <a:solidFill>
                  <a:srgbClr val="FFFFFF"/>
                </a:solidFill>
                <a:latin typeface="Calibri"/>
                <a:ea typeface="Calibri"/>
                <a:cs typeface="Calibri"/>
              </a:rPr>
              <a:t>3</a:t>
            </a:r>
            <a:endParaRPr sz="1100" b="1">
              <a:solidFill>
                <a:srgbClr val="FFFFFF"/>
              </a:solidFill>
              <a:latin typeface="Calibri"/>
              <a:ea typeface="Calibri"/>
              <a:cs typeface="Calibri"/>
            </a:endParaRPr>
          </a:p>
        </p:txBody>
      </p:sp>
      <p:sp>
        <p:nvSpPr>
          <p:cNvPr id="20" name="Text 18">
            <a:extLst>
              <a:ext uri="{FF2B5EF4-FFF2-40B4-BE49-F238E27FC236}">
                <a16:creationId xmlns:a16="http://schemas.microsoft.com/office/drawing/2014/main" id="{E6A4A092-CD94-4F31-9082-7342CE71D2BB}"/>
              </a:ext>
            </a:extLst>
          </p:cNvPr>
          <p:cNvSpPr>
            <a:spLocks noGrp="1"/>
          </p:cNvSpPr>
          <p:nvPr/>
        </p:nvSpPr>
        <p:spPr>
          <a:xfrm>
            <a:off x="4445000" y="2133600"/>
            <a:ext cx="1397000" cy="355600"/>
          </a:xfrm>
          <a:prstGeom prst="rect">
            <a:avLst/>
          </a:prstGeom>
          <a:noFill/>
        </p:spPr>
        <p:txBody>
          <a:bodyPr wrap="square" lIns="0" tIns="0" rIns="0" bIns="0" anchor="ctr"/>
          <a:lstStyle/>
          <a:p>
            <a:pPr marL="0" indent="0" algn="ctr">
              <a:lnSpc>
                <a:spcPts val="1200"/>
              </a:lnSpc>
              <a:buNone/>
            </a:pPr>
            <a:r>
              <a:rPr lang="en-IN" sz="1050" b="1">
                <a:solidFill>
                  <a:srgbClr val="0B1B2E"/>
                </a:solidFill>
                <a:latin typeface="Calibri"/>
                <a:ea typeface="Calibri"/>
                <a:cs typeface="Calibri"/>
              </a:rPr>
              <a:t>EXTRACT</a:t>
            </a:r>
            <a:endParaRPr sz="1050" b="1">
              <a:solidFill>
                <a:srgbClr val="0B1B2E"/>
              </a:solidFill>
              <a:latin typeface="Calibri"/>
              <a:ea typeface="Calibri"/>
              <a:cs typeface="Calibri"/>
            </a:endParaRPr>
          </a:p>
        </p:txBody>
      </p:sp>
      <p:sp>
        <p:nvSpPr>
          <p:cNvPr id="21" name="Text 19">
            <a:extLst>
              <a:ext uri="{FF2B5EF4-FFF2-40B4-BE49-F238E27FC236}">
                <a16:creationId xmlns:a16="http://schemas.microsoft.com/office/drawing/2014/main" id="{AF5954AC-2B14-4C25-A01D-5BAFE99F5AA9}"/>
              </a:ext>
            </a:extLst>
          </p:cNvPr>
          <p:cNvSpPr>
            <a:spLocks noGrp="1"/>
          </p:cNvSpPr>
          <p:nvPr/>
        </p:nvSpPr>
        <p:spPr>
          <a:xfrm>
            <a:off x="4432300" y="2565400"/>
            <a:ext cx="1422400" cy="431800"/>
          </a:xfrm>
          <a:prstGeom prst="rect">
            <a:avLst/>
          </a:prstGeom>
          <a:noFill/>
        </p:spPr>
        <p:txBody>
          <a:bodyPr wrap="square" lIns="0" tIns="0" rIns="0" bIns="0" anchor="ctr"/>
          <a:lstStyle/>
          <a:p>
            <a:pPr marL="0" indent="0" algn="ctr">
              <a:buNone/>
            </a:pPr>
            <a:r>
              <a:rPr lang="en-IN" sz="850">
                <a:solidFill>
                  <a:srgbClr val="64748B"/>
                </a:solidFill>
                <a:latin typeface="Calibri"/>
                <a:ea typeface="Calibri"/>
                <a:cs typeface="Calibri"/>
              </a:rPr>
              <a:t>Terms, entities and tables</a:t>
            </a:r>
            <a:endParaRPr sz="850">
              <a:solidFill>
                <a:srgbClr val="64748B"/>
              </a:solidFill>
              <a:latin typeface="Calibri"/>
              <a:ea typeface="Calibri"/>
              <a:cs typeface="Calibri"/>
            </a:endParaRPr>
          </a:p>
        </p:txBody>
      </p:sp>
      <p:sp>
        <p:nvSpPr>
          <p:cNvPr id="22" name="Shape 20">
            <a:extLst>
              <a:ext uri="{FF2B5EF4-FFF2-40B4-BE49-F238E27FC236}">
                <a16:creationId xmlns:a16="http://schemas.microsoft.com/office/drawing/2014/main" id="{1D93B650-CA57-4E52-8B49-3267443D2F30}"/>
              </a:ext>
            </a:extLst>
          </p:cNvPr>
          <p:cNvSpPr>
            <a:spLocks noGrp="1"/>
          </p:cNvSpPr>
          <p:nvPr/>
        </p:nvSpPr>
        <p:spPr>
          <a:xfrm>
            <a:off x="5956300" y="2501900"/>
            <a:ext cx="228600" cy="0"/>
          </a:xfrm>
          <a:prstGeom prst="line">
            <a:avLst/>
          </a:prstGeom>
          <a:noFill/>
          <a:ln w="22860">
            <a:solidFill>
              <a:srgbClr val="0F766E"/>
            </a:solidFill>
            <a:prstDash val="solid"/>
            <a:tailEnd type="triangle"/>
          </a:ln>
        </p:spPr>
        <p:txBody>
          <a:bodyPr/>
          <a:lstStyle/>
          <a:p>
            <a:endParaRPr/>
          </a:p>
        </p:txBody>
      </p:sp>
      <p:sp>
        <p:nvSpPr>
          <p:cNvPr id="23" name="Shape 21">
            <a:extLst>
              <a:ext uri="{FF2B5EF4-FFF2-40B4-BE49-F238E27FC236}">
                <a16:creationId xmlns:a16="http://schemas.microsoft.com/office/drawing/2014/main" id="{687C570A-26B5-4086-8807-B27BB1058FEA}"/>
              </a:ext>
            </a:extLst>
          </p:cNvPr>
          <p:cNvSpPr>
            <a:spLocks noGrp="1"/>
          </p:cNvSpPr>
          <p:nvPr/>
        </p:nvSpPr>
        <p:spPr>
          <a:xfrm>
            <a:off x="6210300" y="1905000"/>
            <a:ext cx="1600200" cy="1193800"/>
          </a:xfrm>
          <a:prstGeom prst="roundRect">
            <a:avLst>
              <a:gd name="adj" fmla="val 6780"/>
            </a:avLst>
          </a:prstGeom>
          <a:solidFill>
            <a:srgbClr val="F8FAFC"/>
          </a:solidFill>
          <a:ln w="12700">
            <a:solidFill>
              <a:srgbClr val="E3E9F0"/>
            </a:solidFill>
            <a:prstDash val="solid"/>
          </a:ln>
          <a:effectLst>
            <a:outerShdw blurRad="101600" dist="25400" dir="8100000" algn="bl" rotWithShape="0">
              <a:srgbClr val="1E293B">
                <a:alpha val="11000"/>
              </a:srgbClr>
            </a:outerShdw>
          </a:effectLst>
        </p:spPr>
        <p:txBody>
          <a:bodyPr/>
          <a:lstStyle/>
          <a:p>
            <a:endParaRPr/>
          </a:p>
        </p:txBody>
      </p:sp>
      <p:sp>
        <p:nvSpPr>
          <p:cNvPr id="24" name="Shape 22">
            <a:extLst>
              <a:ext uri="{FF2B5EF4-FFF2-40B4-BE49-F238E27FC236}">
                <a16:creationId xmlns:a16="http://schemas.microsoft.com/office/drawing/2014/main" id="{044FBAC2-078E-4467-9532-77FD82AA3551}"/>
              </a:ext>
            </a:extLst>
          </p:cNvPr>
          <p:cNvSpPr>
            <a:spLocks noGrp="1"/>
          </p:cNvSpPr>
          <p:nvPr/>
        </p:nvSpPr>
        <p:spPr>
          <a:xfrm>
            <a:off x="6832600" y="1727200"/>
            <a:ext cx="355600" cy="355600"/>
          </a:xfrm>
          <a:prstGeom prst="ellipse">
            <a:avLst/>
          </a:prstGeom>
          <a:solidFill>
            <a:srgbClr val="64748B"/>
          </a:solidFill>
          <a:ln w="19050">
            <a:solidFill>
              <a:srgbClr val="FFFFFF"/>
            </a:solidFill>
            <a:prstDash val="solid"/>
          </a:ln>
        </p:spPr>
        <p:txBody>
          <a:bodyPr/>
          <a:lstStyle/>
          <a:p>
            <a:endParaRPr/>
          </a:p>
        </p:txBody>
      </p:sp>
      <p:sp>
        <p:nvSpPr>
          <p:cNvPr id="25" name="Text 23">
            <a:extLst>
              <a:ext uri="{FF2B5EF4-FFF2-40B4-BE49-F238E27FC236}">
                <a16:creationId xmlns:a16="http://schemas.microsoft.com/office/drawing/2014/main" id="{DE51516C-A086-4E33-9AFE-4A082D683D5F}"/>
              </a:ext>
            </a:extLst>
          </p:cNvPr>
          <p:cNvSpPr>
            <a:spLocks noGrp="1"/>
          </p:cNvSpPr>
          <p:nvPr/>
        </p:nvSpPr>
        <p:spPr>
          <a:xfrm>
            <a:off x="6832600" y="1727200"/>
            <a:ext cx="355600" cy="355600"/>
          </a:xfrm>
          <a:prstGeom prst="rect">
            <a:avLst/>
          </a:prstGeom>
          <a:noFill/>
        </p:spPr>
        <p:txBody>
          <a:bodyPr wrap="square" lIns="0" tIns="0" rIns="0" bIns="0" anchor="ctr"/>
          <a:lstStyle/>
          <a:p>
            <a:pPr marL="0" indent="0" algn="ctr">
              <a:buNone/>
            </a:pPr>
            <a:r>
              <a:rPr lang="en-IN" sz="1100" b="1">
                <a:solidFill>
                  <a:srgbClr val="FFFFFF"/>
                </a:solidFill>
                <a:latin typeface="Calibri"/>
                <a:ea typeface="Calibri"/>
                <a:cs typeface="Calibri"/>
              </a:rPr>
              <a:t>4</a:t>
            </a:r>
            <a:endParaRPr sz="1100" b="1">
              <a:solidFill>
                <a:srgbClr val="FFFFFF"/>
              </a:solidFill>
              <a:latin typeface="Calibri"/>
              <a:ea typeface="Calibri"/>
              <a:cs typeface="Calibri"/>
            </a:endParaRPr>
          </a:p>
        </p:txBody>
      </p:sp>
      <p:sp>
        <p:nvSpPr>
          <p:cNvPr id="26" name="Text 24">
            <a:extLst>
              <a:ext uri="{FF2B5EF4-FFF2-40B4-BE49-F238E27FC236}">
                <a16:creationId xmlns:a16="http://schemas.microsoft.com/office/drawing/2014/main" id="{191CC6BF-AFA6-42AC-8350-A9243DC349E5}"/>
              </a:ext>
            </a:extLst>
          </p:cNvPr>
          <p:cNvSpPr>
            <a:spLocks noGrp="1"/>
          </p:cNvSpPr>
          <p:nvPr/>
        </p:nvSpPr>
        <p:spPr>
          <a:xfrm>
            <a:off x="6311900" y="2133600"/>
            <a:ext cx="1397000" cy="355600"/>
          </a:xfrm>
          <a:prstGeom prst="rect">
            <a:avLst/>
          </a:prstGeom>
          <a:noFill/>
        </p:spPr>
        <p:txBody>
          <a:bodyPr wrap="square" lIns="0" tIns="0" rIns="0" bIns="0" anchor="ctr"/>
          <a:lstStyle/>
          <a:p>
            <a:pPr marL="0" indent="0" algn="ctr">
              <a:lnSpc>
                <a:spcPts val="1200"/>
              </a:lnSpc>
              <a:buNone/>
            </a:pPr>
            <a:r>
              <a:rPr lang="en-IN" sz="1050" b="1">
                <a:solidFill>
                  <a:srgbClr val="0B1B2E"/>
                </a:solidFill>
                <a:latin typeface="Calibri"/>
                <a:ea typeface="Calibri"/>
                <a:cs typeface="Calibri"/>
              </a:rPr>
              <a:t>RESOLVE</a:t>
            </a:r>
            <a:endParaRPr sz="1050" b="1">
              <a:solidFill>
                <a:srgbClr val="0B1B2E"/>
              </a:solidFill>
              <a:latin typeface="Calibri"/>
              <a:ea typeface="Calibri"/>
              <a:cs typeface="Calibri"/>
            </a:endParaRPr>
          </a:p>
        </p:txBody>
      </p:sp>
      <p:sp>
        <p:nvSpPr>
          <p:cNvPr id="27" name="Text 25">
            <a:extLst>
              <a:ext uri="{FF2B5EF4-FFF2-40B4-BE49-F238E27FC236}">
                <a16:creationId xmlns:a16="http://schemas.microsoft.com/office/drawing/2014/main" id="{219B8B9E-23C7-453D-B3A7-AF9BB199B07F}"/>
              </a:ext>
            </a:extLst>
          </p:cNvPr>
          <p:cNvSpPr>
            <a:spLocks noGrp="1"/>
          </p:cNvSpPr>
          <p:nvPr/>
        </p:nvSpPr>
        <p:spPr>
          <a:xfrm>
            <a:off x="6299200" y="2565400"/>
            <a:ext cx="1422400" cy="431800"/>
          </a:xfrm>
          <a:prstGeom prst="rect">
            <a:avLst/>
          </a:prstGeom>
          <a:noFill/>
        </p:spPr>
        <p:txBody>
          <a:bodyPr wrap="square" lIns="0" tIns="0" rIns="0" bIns="0" anchor="ctr"/>
          <a:lstStyle/>
          <a:p>
            <a:pPr marL="0" indent="0" algn="ctr">
              <a:buNone/>
            </a:pPr>
            <a:r>
              <a:rPr lang="en-IN" sz="850">
                <a:solidFill>
                  <a:srgbClr val="64748B"/>
                </a:solidFill>
                <a:latin typeface="Calibri"/>
                <a:ea typeface="Calibri"/>
                <a:cs typeface="Calibri"/>
              </a:rPr>
              <a:t>Amendment-aware current state</a:t>
            </a:r>
            <a:endParaRPr sz="850">
              <a:solidFill>
                <a:srgbClr val="64748B"/>
              </a:solidFill>
              <a:latin typeface="Calibri"/>
              <a:ea typeface="Calibri"/>
              <a:cs typeface="Calibri"/>
            </a:endParaRPr>
          </a:p>
        </p:txBody>
      </p:sp>
      <p:sp>
        <p:nvSpPr>
          <p:cNvPr id="28" name="Shape 26">
            <a:extLst>
              <a:ext uri="{FF2B5EF4-FFF2-40B4-BE49-F238E27FC236}">
                <a16:creationId xmlns:a16="http://schemas.microsoft.com/office/drawing/2014/main" id="{AB2D3CE4-2570-413A-BDFC-1BEB22784808}"/>
              </a:ext>
            </a:extLst>
          </p:cNvPr>
          <p:cNvSpPr>
            <a:spLocks noGrp="1"/>
          </p:cNvSpPr>
          <p:nvPr/>
        </p:nvSpPr>
        <p:spPr>
          <a:xfrm>
            <a:off x="7823200" y="2501900"/>
            <a:ext cx="228600" cy="0"/>
          </a:xfrm>
          <a:prstGeom prst="line">
            <a:avLst/>
          </a:prstGeom>
          <a:noFill/>
          <a:ln w="22860">
            <a:solidFill>
              <a:srgbClr val="0F766E"/>
            </a:solidFill>
            <a:prstDash val="solid"/>
            <a:tailEnd type="triangle"/>
          </a:ln>
        </p:spPr>
        <p:txBody>
          <a:bodyPr/>
          <a:lstStyle/>
          <a:p>
            <a:endParaRPr/>
          </a:p>
        </p:txBody>
      </p:sp>
      <p:sp>
        <p:nvSpPr>
          <p:cNvPr id="29" name="Shape 27">
            <a:extLst>
              <a:ext uri="{FF2B5EF4-FFF2-40B4-BE49-F238E27FC236}">
                <a16:creationId xmlns:a16="http://schemas.microsoft.com/office/drawing/2014/main" id="{C3B401F7-D0EB-40CC-9CCF-E08447B9B58E}"/>
              </a:ext>
            </a:extLst>
          </p:cNvPr>
          <p:cNvSpPr>
            <a:spLocks noGrp="1"/>
          </p:cNvSpPr>
          <p:nvPr/>
        </p:nvSpPr>
        <p:spPr>
          <a:xfrm>
            <a:off x="8077200" y="1905000"/>
            <a:ext cx="1600200" cy="1193800"/>
          </a:xfrm>
          <a:prstGeom prst="roundRect">
            <a:avLst>
              <a:gd name="adj" fmla="val 6780"/>
            </a:avLst>
          </a:prstGeom>
          <a:solidFill>
            <a:srgbClr val="0B1B2E"/>
          </a:solidFill>
          <a:ln w="12700">
            <a:solidFill>
              <a:srgbClr val="0B1B2E"/>
            </a:solidFill>
            <a:prstDash val="solid"/>
          </a:ln>
          <a:effectLst>
            <a:outerShdw blurRad="101600" dist="25400" dir="8100000" algn="bl" rotWithShape="0">
              <a:srgbClr val="1E293B">
                <a:alpha val="11000"/>
              </a:srgbClr>
            </a:outerShdw>
          </a:effectLst>
        </p:spPr>
        <p:txBody>
          <a:bodyPr/>
          <a:lstStyle/>
          <a:p>
            <a:endParaRPr/>
          </a:p>
        </p:txBody>
      </p:sp>
      <p:sp>
        <p:nvSpPr>
          <p:cNvPr id="30" name="Shape 28">
            <a:extLst>
              <a:ext uri="{FF2B5EF4-FFF2-40B4-BE49-F238E27FC236}">
                <a16:creationId xmlns:a16="http://schemas.microsoft.com/office/drawing/2014/main" id="{29AEB4CA-DEC1-4758-98F3-B4C57666DF24}"/>
              </a:ext>
            </a:extLst>
          </p:cNvPr>
          <p:cNvSpPr>
            <a:spLocks noGrp="1"/>
          </p:cNvSpPr>
          <p:nvPr/>
        </p:nvSpPr>
        <p:spPr>
          <a:xfrm>
            <a:off x="8699500" y="1727200"/>
            <a:ext cx="355600" cy="355600"/>
          </a:xfrm>
          <a:prstGeom prst="ellipse">
            <a:avLst/>
          </a:prstGeom>
          <a:solidFill>
            <a:srgbClr val="14B8A6"/>
          </a:solidFill>
          <a:ln w="19050">
            <a:solidFill>
              <a:srgbClr val="FFFFFF"/>
            </a:solidFill>
            <a:prstDash val="solid"/>
          </a:ln>
        </p:spPr>
        <p:txBody>
          <a:bodyPr/>
          <a:lstStyle/>
          <a:p>
            <a:endParaRPr/>
          </a:p>
        </p:txBody>
      </p:sp>
      <p:sp>
        <p:nvSpPr>
          <p:cNvPr id="31" name="Text 29">
            <a:extLst>
              <a:ext uri="{FF2B5EF4-FFF2-40B4-BE49-F238E27FC236}">
                <a16:creationId xmlns:a16="http://schemas.microsoft.com/office/drawing/2014/main" id="{E1B08F63-8C8C-48F0-BBE6-611422D48EC1}"/>
              </a:ext>
            </a:extLst>
          </p:cNvPr>
          <p:cNvSpPr>
            <a:spLocks noGrp="1"/>
          </p:cNvSpPr>
          <p:nvPr/>
        </p:nvSpPr>
        <p:spPr>
          <a:xfrm>
            <a:off x="8699500" y="1727200"/>
            <a:ext cx="355600" cy="355600"/>
          </a:xfrm>
          <a:prstGeom prst="rect">
            <a:avLst/>
          </a:prstGeom>
          <a:noFill/>
        </p:spPr>
        <p:txBody>
          <a:bodyPr wrap="square" lIns="0" tIns="0" rIns="0" bIns="0" anchor="ctr"/>
          <a:lstStyle/>
          <a:p>
            <a:pPr marL="0" indent="0" algn="ctr">
              <a:buNone/>
            </a:pPr>
            <a:r>
              <a:rPr lang="en-IN" sz="1100" b="1">
                <a:solidFill>
                  <a:srgbClr val="FFFFFF"/>
                </a:solidFill>
                <a:latin typeface="Calibri"/>
                <a:ea typeface="Calibri"/>
                <a:cs typeface="Calibri"/>
              </a:rPr>
              <a:t>5</a:t>
            </a:r>
            <a:endParaRPr sz="1100" b="1">
              <a:solidFill>
                <a:srgbClr val="FFFFFF"/>
              </a:solidFill>
              <a:latin typeface="Calibri"/>
              <a:ea typeface="Calibri"/>
              <a:cs typeface="Calibri"/>
            </a:endParaRPr>
          </a:p>
        </p:txBody>
      </p:sp>
      <p:sp>
        <p:nvSpPr>
          <p:cNvPr id="32" name="Text 30">
            <a:extLst>
              <a:ext uri="{FF2B5EF4-FFF2-40B4-BE49-F238E27FC236}">
                <a16:creationId xmlns:a16="http://schemas.microsoft.com/office/drawing/2014/main" id="{4C51917A-6BDE-4631-B79D-A08F0CEF6418}"/>
              </a:ext>
            </a:extLst>
          </p:cNvPr>
          <p:cNvSpPr>
            <a:spLocks noGrp="1"/>
          </p:cNvSpPr>
          <p:nvPr/>
        </p:nvSpPr>
        <p:spPr>
          <a:xfrm>
            <a:off x="8178800" y="2133600"/>
            <a:ext cx="1397000" cy="355600"/>
          </a:xfrm>
          <a:prstGeom prst="rect">
            <a:avLst/>
          </a:prstGeom>
          <a:noFill/>
        </p:spPr>
        <p:txBody>
          <a:bodyPr wrap="square" lIns="0" tIns="0" rIns="0" bIns="0" anchor="ctr"/>
          <a:lstStyle/>
          <a:p>
            <a:pPr marL="0" indent="0" algn="ctr">
              <a:lnSpc>
                <a:spcPts val="1200"/>
              </a:lnSpc>
              <a:buNone/>
            </a:pPr>
            <a:r>
              <a:rPr lang="en-IN" sz="1050" b="1">
                <a:solidFill>
                  <a:srgbClr val="FFFFFF"/>
                </a:solidFill>
                <a:latin typeface="Calibri"/>
                <a:ea typeface="Calibri"/>
                <a:cs typeface="Calibri"/>
              </a:rPr>
              <a:t>INDEX</a:t>
            </a:r>
            <a:endParaRPr sz="1050" b="1">
              <a:solidFill>
                <a:srgbClr val="FFFFFF"/>
              </a:solidFill>
              <a:latin typeface="Calibri"/>
              <a:ea typeface="Calibri"/>
              <a:cs typeface="Calibri"/>
            </a:endParaRPr>
          </a:p>
        </p:txBody>
      </p:sp>
      <p:sp>
        <p:nvSpPr>
          <p:cNvPr id="33" name="Text 31">
            <a:extLst>
              <a:ext uri="{FF2B5EF4-FFF2-40B4-BE49-F238E27FC236}">
                <a16:creationId xmlns:a16="http://schemas.microsoft.com/office/drawing/2014/main" id="{94E24AB8-BFA7-4C7E-AD96-23685BD4FC01}"/>
              </a:ext>
            </a:extLst>
          </p:cNvPr>
          <p:cNvSpPr>
            <a:spLocks noGrp="1"/>
          </p:cNvSpPr>
          <p:nvPr/>
        </p:nvSpPr>
        <p:spPr>
          <a:xfrm>
            <a:off x="8166100" y="2565400"/>
            <a:ext cx="1422400" cy="431800"/>
          </a:xfrm>
          <a:prstGeom prst="rect">
            <a:avLst/>
          </a:prstGeom>
          <a:noFill/>
        </p:spPr>
        <p:txBody>
          <a:bodyPr wrap="square" lIns="0" tIns="0" rIns="0" bIns="0" anchor="ctr"/>
          <a:lstStyle/>
          <a:p>
            <a:pPr marL="0" indent="0" algn="ctr">
              <a:buNone/>
            </a:pPr>
            <a:r>
              <a:rPr lang="en-IN" sz="850">
                <a:solidFill>
                  <a:srgbClr val="5EEAD4"/>
                </a:solidFill>
                <a:latin typeface="Calibri"/>
                <a:ea typeface="Calibri"/>
                <a:cs typeface="Calibri"/>
              </a:rPr>
              <a:t>Evidence retrieval and citations</a:t>
            </a:r>
            <a:endParaRPr sz="850">
              <a:solidFill>
                <a:srgbClr val="5EEAD4"/>
              </a:solidFill>
              <a:latin typeface="Calibri"/>
              <a:ea typeface="Calibri"/>
              <a:cs typeface="Calibri"/>
            </a:endParaRPr>
          </a:p>
        </p:txBody>
      </p:sp>
      <p:sp>
        <p:nvSpPr>
          <p:cNvPr id="34" name="Shape 32">
            <a:extLst>
              <a:ext uri="{FF2B5EF4-FFF2-40B4-BE49-F238E27FC236}">
                <a16:creationId xmlns:a16="http://schemas.microsoft.com/office/drawing/2014/main" id="{176155F2-23FE-4CEF-88F8-29C7C4EBE688}"/>
              </a:ext>
            </a:extLst>
          </p:cNvPr>
          <p:cNvSpPr>
            <a:spLocks noGrp="1"/>
          </p:cNvSpPr>
          <p:nvPr/>
        </p:nvSpPr>
        <p:spPr>
          <a:xfrm>
            <a:off x="9690100" y="2501900"/>
            <a:ext cx="228600" cy="0"/>
          </a:xfrm>
          <a:prstGeom prst="line">
            <a:avLst/>
          </a:prstGeom>
          <a:noFill/>
          <a:ln w="22860">
            <a:solidFill>
              <a:srgbClr val="0F766E"/>
            </a:solidFill>
            <a:prstDash val="solid"/>
            <a:tailEnd type="triangle"/>
          </a:ln>
        </p:spPr>
        <p:txBody>
          <a:bodyPr/>
          <a:lstStyle/>
          <a:p>
            <a:endParaRPr/>
          </a:p>
        </p:txBody>
      </p:sp>
      <p:sp>
        <p:nvSpPr>
          <p:cNvPr id="35" name="Shape 33">
            <a:extLst>
              <a:ext uri="{FF2B5EF4-FFF2-40B4-BE49-F238E27FC236}">
                <a16:creationId xmlns:a16="http://schemas.microsoft.com/office/drawing/2014/main" id="{954D1C4B-E00C-4DDC-8781-BE46D5C5C478}"/>
              </a:ext>
            </a:extLst>
          </p:cNvPr>
          <p:cNvSpPr>
            <a:spLocks noGrp="1"/>
          </p:cNvSpPr>
          <p:nvPr/>
        </p:nvSpPr>
        <p:spPr>
          <a:xfrm>
            <a:off x="9944100" y="1905000"/>
            <a:ext cx="1600200" cy="1193800"/>
          </a:xfrm>
          <a:prstGeom prst="roundRect">
            <a:avLst>
              <a:gd name="adj" fmla="val 6780"/>
            </a:avLst>
          </a:prstGeom>
          <a:solidFill>
            <a:srgbClr val="F8FAFC"/>
          </a:solidFill>
          <a:ln w="12700">
            <a:solidFill>
              <a:srgbClr val="E3E9F0"/>
            </a:solidFill>
            <a:prstDash val="solid"/>
          </a:ln>
          <a:effectLst>
            <a:outerShdw blurRad="101600" dist="25400" dir="8100000" algn="bl" rotWithShape="0">
              <a:srgbClr val="1E293B">
                <a:alpha val="11000"/>
              </a:srgbClr>
            </a:outerShdw>
          </a:effectLst>
        </p:spPr>
        <p:txBody>
          <a:bodyPr/>
          <a:lstStyle/>
          <a:p>
            <a:endParaRPr/>
          </a:p>
        </p:txBody>
      </p:sp>
      <p:sp>
        <p:nvSpPr>
          <p:cNvPr id="36" name="Shape 34">
            <a:extLst>
              <a:ext uri="{FF2B5EF4-FFF2-40B4-BE49-F238E27FC236}">
                <a16:creationId xmlns:a16="http://schemas.microsoft.com/office/drawing/2014/main" id="{79967FF5-E43E-40BF-8B1A-8932ACD0C80B}"/>
              </a:ext>
            </a:extLst>
          </p:cNvPr>
          <p:cNvSpPr>
            <a:spLocks noGrp="1"/>
          </p:cNvSpPr>
          <p:nvPr/>
        </p:nvSpPr>
        <p:spPr>
          <a:xfrm>
            <a:off x="10566400" y="1727200"/>
            <a:ext cx="355600" cy="355600"/>
          </a:xfrm>
          <a:prstGeom prst="ellipse">
            <a:avLst/>
          </a:prstGeom>
          <a:solidFill>
            <a:srgbClr val="64748B"/>
          </a:solidFill>
          <a:ln w="19050">
            <a:solidFill>
              <a:srgbClr val="FFFFFF"/>
            </a:solidFill>
            <a:prstDash val="solid"/>
          </a:ln>
        </p:spPr>
        <p:txBody>
          <a:bodyPr/>
          <a:lstStyle/>
          <a:p>
            <a:endParaRPr/>
          </a:p>
        </p:txBody>
      </p:sp>
      <p:sp>
        <p:nvSpPr>
          <p:cNvPr id="37" name="Text 35">
            <a:extLst>
              <a:ext uri="{FF2B5EF4-FFF2-40B4-BE49-F238E27FC236}">
                <a16:creationId xmlns:a16="http://schemas.microsoft.com/office/drawing/2014/main" id="{854AC818-FEA3-4E8C-AAF2-59385630325C}"/>
              </a:ext>
            </a:extLst>
          </p:cNvPr>
          <p:cNvSpPr>
            <a:spLocks noGrp="1"/>
          </p:cNvSpPr>
          <p:nvPr/>
        </p:nvSpPr>
        <p:spPr>
          <a:xfrm>
            <a:off x="10566400" y="1727200"/>
            <a:ext cx="355600" cy="355600"/>
          </a:xfrm>
          <a:prstGeom prst="rect">
            <a:avLst/>
          </a:prstGeom>
          <a:noFill/>
        </p:spPr>
        <p:txBody>
          <a:bodyPr wrap="square" lIns="0" tIns="0" rIns="0" bIns="0" anchor="ctr"/>
          <a:lstStyle/>
          <a:p>
            <a:pPr marL="0" indent="0" algn="ctr">
              <a:buNone/>
            </a:pPr>
            <a:r>
              <a:rPr lang="en-IN" sz="1100" b="1">
                <a:solidFill>
                  <a:srgbClr val="FFFFFF"/>
                </a:solidFill>
                <a:latin typeface="Calibri"/>
                <a:ea typeface="Calibri"/>
                <a:cs typeface="Calibri"/>
              </a:rPr>
              <a:t>6</a:t>
            </a:r>
            <a:endParaRPr sz="1100" b="1">
              <a:solidFill>
                <a:srgbClr val="FFFFFF"/>
              </a:solidFill>
              <a:latin typeface="Calibri"/>
              <a:ea typeface="Calibri"/>
              <a:cs typeface="Calibri"/>
            </a:endParaRPr>
          </a:p>
        </p:txBody>
      </p:sp>
      <p:sp>
        <p:nvSpPr>
          <p:cNvPr id="38" name="Text 36">
            <a:extLst>
              <a:ext uri="{FF2B5EF4-FFF2-40B4-BE49-F238E27FC236}">
                <a16:creationId xmlns:a16="http://schemas.microsoft.com/office/drawing/2014/main" id="{924BD901-087B-4484-ABC4-DAD21CD89C00}"/>
              </a:ext>
            </a:extLst>
          </p:cNvPr>
          <p:cNvSpPr>
            <a:spLocks noGrp="1"/>
          </p:cNvSpPr>
          <p:nvPr/>
        </p:nvSpPr>
        <p:spPr>
          <a:xfrm>
            <a:off x="10045700" y="2133600"/>
            <a:ext cx="1397000" cy="355600"/>
          </a:xfrm>
          <a:prstGeom prst="rect">
            <a:avLst/>
          </a:prstGeom>
          <a:noFill/>
        </p:spPr>
        <p:txBody>
          <a:bodyPr wrap="square" lIns="0" tIns="0" rIns="0" bIns="0" anchor="ctr"/>
          <a:lstStyle/>
          <a:p>
            <a:pPr marL="0" indent="0" algn="ctr">
              <a:lnSpc>
                <a:spcPts val="1200"/>
              </a:lnSpc>
              <a:buNone/>
            </a:pPr>
            <a:r>
              <a:rPr lang="en-IN" sz="1050" b="1">
                <a:solidFill>
                  <a:srgbClr val="0B1B2E"/>
                </a:solidFill>
                <a:latin typeface="Calibri"/>
                <a:ea typeface="Calibri"/>
                <a:cs typeface="Calibri"/>
              </a:rPr>
              <a:t>SERVE</a:t>
            </a:r>
            <a:endParaRPr sz="1050" b="1">
              <a:solidFill>
                <a:srgbClr val="0B1B2E"/>
              </a:solidFill>
              <a:latin typeface="Calibri"/>
              <a:ea typeface="Calibri"/>
              <a:cs typeface="Calibri"/>
            </a:endParaRPr>
          </a:p>
        </p:txBody>
      </p:sp>
      <p:sp>
        <p:nvSpPr>
          <p:cNvPr id="39" name="Text 37">
            <a:extLst>
              <a:ext uri="{FF2B5EF4-FFF2-40B4-BE49-F238E27FC236}">
                <a16:creationId xmlns:a16="http://schemas.microsoft.com/office/drawing/2014/main" id="{483CDDB8-8D5B-41B6-B221-57EB6AA51752}"/>
              </a:ext>
            </a:extLst>
          </p:cNvPr>
          <p:cNvSpPr>
            <a:spLocks noGrp="1"/>
          </p:cNvSpPr>
          <p:nvPr/>
        </p:nvSpPr>
        <p:spPr>
          <a:xfrm>
            <a:off x="10033000" y="2565400"/>
            <a:ext cx="1422400" cy="431800"/>
          </a:xfrm>
          <a:prstGeom prst="rect">
            <a:avLst/>
          </a:prstGeom>
          <a:noFill/>
        </p:spPr>
        <p:txBody>
          <a:bodyPr wrap="square" lIns="0" tIns="0" rIns="0" bIns="0" anchor="ctr"/>
          <a:lstStyle/>
          <a:p>
            <a:pPr marL="0" indent="0" algn="ctr">
              <a:buNone/>
            </a:pPr>
            <a:r>
              <a:rPr lang="en-IN" sz="850">
                <a:solidFill>
                  <a:srgbClr val="64748B"/>
                </a:solidFill>
                <a:latin typeface="Calibri"/>
                <a:ea typeface="Calibri"/>
                <a:cs typeface="Calibri"/>
              </a:rPr>
              <a:t>Governed products and feedback</a:t>
            </a:r>
            <a:endParaRPr sz="850">
              <a:solidFill>
                <a:srgbClr val="64748B"/>
              </a:solidFill>
              <a:latin typeface="Calibri"/>
              <a:ea typeface="Calibri"/>
              <a:cs typeface="Calibri"/>
            </a:endParaRPr>
          </a:p>
        </p:txBody>
      </p:sp>
      <p:sp>
        <p:nvSpPr>
          <p:cNvPr id="59" name="Text 57">
            <a:extLst>
              <a:ext uri="{FF2B5EF4-FFF2-40B4-BE49-F238E27FC236}">
                <a16:creationId xmlns:a16="http://schemas.microsoft.com/office/drawing/2014/main" id="{1AAD6EF5-C7D1-480A-A6E7-183F81A03DC9}"/>
              </a:ext>
            </a:extLst>
          </p:cNvPr>
          <p:cNvSpPr>
            <a:spLocks noGrp="1"/>
          </p:cNvSpPr>
          <p:nvPr/>
        </p:nvSpPr>
        <p:spPr>
          <a:xfrm>
            <a:off x="548640" y="3352800"/>
            <a:ext cx="2159000" cy="256032"/>
          </a:xfrm>
          <a:prstGeom prst="rect">
            <a:avLst/>
          </a:prstGeom>
          <a:noFill/>
        </p:spPr>
        <p:txBody>
          <a:bodyPr wrap="square" lIns="0" tIns="0" rIns="0" bIns="0" anchor="ctr"/>
          <a:lstStyle/>
          <a:p>
            <a:pPr marL="0" indent="0">
              <a:buNone/>
            </a:pPr>
            <a:r>
              <a:rPr lang="en-IN" sz="1100" b="1">
                <a:solidFill>
                  <a:srgbClr val="33415A"/>
                </a:solidFill>
                <a:latin typeface="Calibri"/>
                <a:ea typeface="Calibri"/>
                <a:cs typeface="Calibri"/>
              </a:rPr>
              <a:t>PRODUCTION CONTROLS</a:t>
            </a:r>
            <a:endParaRPr sz="1100" b="1">
              <a:solidFill>
                <a:srgbClr val="33415A"/>
              </a:solidFill>
              <a:latin typeface="Calibri"/>
              <a:ea typeface="Calibri"/>
              <a:cs typeface="Calibri"/>
            </a:endParaRPr>
          </a:p>
        </p:txBody>
      </p:sp>
      <p:sp>
        <p:nvSpPr>
          <p:cNvPr id="61" name="Text 59">
            <a:extLst>
              <a:ext uri="{FF2B5EF4-FFF2-40B4-BE49-F238E27FC236}">
                <a16:creationId xmlns:a16="http://schemas.microsoft.com/office/drawing/2014/main" id="{8DFB1220-C784-402B-BCA1-AF8FD027D4E0}"/>
              </a:ext>
            </a:extLst>
          </p:cNvPr>
          <p:cNvSpPr>
            <a:spLocks noGrp="1"/>
          </p:cNvSpPr>
          <p:nvPr/>
        </p:nvSpPr>
        <p:spPr>
          <a:xfrm>
            <a:off x="2794000" y="3352800"/>
            <a:ext cx="7112000" cy="256032"/>
          </a:xfrm>
          <a:prstGeom prst="rect">
            <a:avLst/>
          </a:prstGeom>
          <a:noFill/>
        </p:spPr>
        <p:txBody>
          <a:bodyPr wrap="square" lIns="0" tIns="0" rIns="0" bIns="0" anchor="ctr"/>
          <a:lstStyle/>
          <a:p>
            <a:pPr marL="0" indent="0">
              <a:buNone/>
            </a:pPr>
            <a:r>
              <a:rPr lang="en-US" sz="1100" b="1">
                <a:solidFill>
                  <a:srgbClr val="33415A"/>
                </a:solidFill>
                <a:latin typeface="Calibri"/>
                <a:ea typeface="Calibri"/>
                <a:cs typeface="Calibri"/>
              </a:rPr>
              <a:t>Model assistance is bounded by deterministic checks at every stage.</a:t>
            </a:r>
            <a:endParaRPr sz="1100" b="1">
              <a:solidFill>
                <a:srgbClr val="33415A"/>
              </a:solidFill>
              <a:latin typeface="Calibri"/>
              <a:ea typeface="Calibri"/>
              <a:cs typeface="Calibri"/>
            </a:endParaRPr>
          </a:p>
        </p:txBody>
      </p:sp>
      <p:sp>
        <p:nvSpPr>
          <p:cNvPr id="62" name="Shape 60">
            <a:extLst>
              <a:ext uri="{FF2B5EF4-FFF2-40B4-BE49-F238E27FC236}">
                <a16:creationId xmlns:a16="http://schemas.microsoft.com/office/drawing/2014/main" id="{94D0A285-E718-4686-997A-8743C4C66A93}"/>
              </a:ext>
            </a:extLst>
          </p:cNvPr>
          <p:cNvSpPr>
            <a:spLocks noGrp="1"/>
          </p:cNvSpPr>
          <p:nvPr/>
        </p:nvSpPr>
        <p:spPr>
          <a:xfrm>
            <a:off x="548640" y="3886200"/>
            <a:ext cx="3545738" cy="1261872"/>
          </a:xfrm>
          <a:prstGeom prst="rect">
            <a:avLst/>
          </a:prstGeom>
          <a:solidFill>
            <a:srgbClr val="F8FAFC"/>
          </a:solidFill>
          <a:effectLst>
            <a:outerShdw blurRad="101600" dist="25400" dir="8100000" algn="bl" rotWithShape="0">
              <a:srgbClr val="1E293B">
                <a:alpha val="11000"/>
              </a:srgbClr>
            </a:outerShdw>
          </a:effectLst>
        </p:spPr>
        <p:txBody>
          <a:bodyPr/>
          <a:lstStyle/>
          <a:p>
            <a:endParaRPr/>
          </a:p>
        </p:txBody>
      </p:sp>
      <p:sp>
        <p:nvSpPr>
          <p:cNvPr id="63" name="Shape 61">
            <a:extLst>
              <a:ext uri="{FF2B5EF4-FFF2-40B4-BE49-F238E27FC236}">
                <a16:creationId xmlns:a16="http://schemas.microsoft.com/office/drawing/2014/main" id="{A743D27D-1707-4BE7-9326-49B7E94C9C1C}"/>
              </a:ext>
            </a:extLst>
          </p:cNvPr>
          <p:cNvSpPr>
            <a:spLocks noGrp="1"/>
          </p:cNvSpPr>
          <p:nvPr/>
        </p:nvSpPr>
        <p:spPr>
          <a:xfrm>
            <a:off x="548640" y="3886200"/>
            <a:ext cx="82296" cy="1261872"/>
          </a:xfrm>
          <a:prstGeom prst="rect">
            <a:avLst/>
          </a:prstGeom>
          <a:solidFill>
            <a:srgbClr val="F26A4B"/>
          </a:solidFill>
        </p:spPr>
        <p:txBody>
          <a:bodyPr/>
          <a:lstStyle/>
          <a:p>
            <a:endParaRPr/>
          </a:p>
        </p:txBody>
      </p:sp>
      <p:sp>
        <p:nvSpPr>
          <p:cNvPr id="64" name="Text 62">
            <a:extLst>
              <a:ext uri="{FF2B5EF4-FFF2-40B4-BE49-F238E27FC236}">
                <a16:creationId xmlns:a16="http://schemas.microsoft.com/office/drawing/2014/main" id="{472F9B4E-4B9B-401C-80AF-E5F2BCEEE854}"/>
              </a:ext>
            </a:extLst>
          </p:cNvPr>
          <p:cNvSpPr>
            <a:spLocks noGrp="1"/>
          </p:cNvSpPr>
          <p:nvPr/>
        </p:nvSpPr>
        <p:spPr>
          <a:xfrm>
            <a:off x="777240" y="4041648"/>
            <a:ext cx="3198266" cy="347472"/>
          </a:xfrm>
          <a:prstGeom prst="rect">
            <a:avLst/>
          </a:prstGeom>
          <a:noFill/>
        </p:spPr>
        <p:txBody>
          <a:bodyPr wrap="square" lIns="0" tIns="0" rIns="0" bIns="0" anchor="ctr"/>
          <a:lstStyle/>
          <a:p>
            <a:pPr marL="0" indent="0">
              <a:buNone/>
            </a:pPr>
            <a:r>
              <a:rPr sz="1300" b="1">
                <a:solidFill>
                  <a:srgbClr val="0B1B2E"/>
                </a:solidFill>
                <a:latin typeface="Calibri"/>
                <a:ea typeface="Calibri"/>
                <a:cs typeface="Calibri"/>
              </a:rPr>
              <a:t>Per-document isolation</a:t>
            </a:r>
          </a:p>
        </p:txBody>
      </p:sp>
      <p:sp>
        <p:nvSpPr>
          <p:cNvPr id="65" name="Text 63">
            <a:extLst>
              <a:ext uri="{FF2B5EF4-FFF2-40B4-BE49-F238E27FC236}">
                <a16:creationId xmlns:a16="http://schemas.microsoft.com/office/drawing/2014/main" id="{84D14351-E973-4D09-87F7-D4AE42CD4A70}"/>
              </a:ext>
            </a:extLst>
          </p:cNvPr>
          <p:cNvSpPr>
            <a:spLocks noGrp="1"/>
          </p:cNvSpPr>
          <p:nvPr/>
        </p:nvSpPr>
        <p:spPr>
          <a:xfrm>
            <a:off x="777240" y="4407408"/>
            <a:ext cx="3198266" cy="658368"/>
          </a:xfrm>
          <a:prstGeom prst="rect">
            <a:avLst/>
          </a:prstGeom>
          <a:noFill/>
        </p:spPr>
        <p:txBody>
          <a:bodyPr wrap="square" lIns="0" tIns="0" rIns="0" bIns="0" anchor="t"/>
          <a:lstStyle/>
          <a:p>
            <a:pPr marL="0" indent="0">
              <a:lnSpc>
                <a:spcPts val="1500"/>
              </a:lnSpc>
              <a:buNone/>
            </a:pPr>
            <a:r>
              <a:rPr sz="1100">
                <a:solidFill>
                  <a:srgbClr val="33415A"/>
                </a:solidFill>
                <a:latin typeface="Calibri"/>
                <a:ea typeface="Calibri"/>
                <a:cs typeface="Calibri"/>
              </a:rPr>
              <a:t>Failures are contained and can be retried without compromising completed records.</a:t>
            </a:r>
          </a:p>
        </p:txBody>
      </p:sp>
      <p:sp>
        <p:nvSpPr>
          <p:cNvPr id="66" name="Shape 64">
            <a:extLst>
              <a:ext uri="{FF2B5EF4-FFF2-40B4-BE49-F238E27FC236}">
                <a16:creationId xmlns:a16="http://schemas.microsoft.com/office/drawing/2014/main" id="{316F1850-53F1-439F-8E1A-9826F0B15232}"/>
              </a:ext>
            </a:extLst>
          </p:cNvPr>
          <p:cNvSpPr>
            <a:spLocks noGrp="1"/>
          </p:cNvSpPr>
          <p:nvPr/>
        </p:nvSpPr>
        <p:spPr>
          <a:xfrm>
            <a:off x="4322978" y="3886200"/>
            <a:ext cx="3545738" cy="1261872"/>
          </a:xfrm>
          <a:prstGeom prst="rect">
            <a:avLst/>
          </a:prstGeom>
          <a:solidFill>
            <a:srgbClr val="F8FAFC"/>
          </a:solidFill>
          <a:effectLst>
            <a:outerShdw blurRad="101600" dist="25400" dir="8100000" algn="bl" rotWithShape="0">
              <a:srgbClr val="1E293B">
                <a:alpha val="11000"/>
              </a:srgbClr>
            </a:outerShdw>
          </a:effectLst>
        </p:spPr>
        <p:txBody>
          <a:bodyPr/>
          <a:lstStyle/>
          <a:p>
            <a:endParaRPr/>
          </a:p>
        </p:txBody>
      </p:sp>
      <p:sp>
        <p:nvSpPr>
          <p:cNvPr id="67" name="Shape 65">
            <a:extLst>
              <a:ext uri="{FF2B5EF4-FFF2-40B4-BE49-F238E27FC236}">
                <a16:creationId xmlns:a16="http://schemas.microsoft.com/office/drawing/2014/main" id="{8CA6F53F-A1C7-4D7D-AFC5-9B365EDE9FE3}"/>
              </a:ext>
            </a:extLst>
          </p:cNvPr>
          <p:cNvSpPr>
            <a:spLocks noGrp="1"/>
          </p:cNvSpPr>
          <p:nvPr/>
        </p:nvSpPr>
        <p:spPr>
          <a:xfrm>
            <a:off x="4322978" y="3886200"/>
            <a:ext cx="82296" cy="1261872"/>
          </a:xfrm>
          <a:prstGeom prst="rect">
            <a:avLst/>
          </a:prstGeom>
          <a:solidFill>
            <a:srgbClr val="F26A4B"/>
          </a:solidFill>
        </p:spPr>
        <p:txBody>
          <a:bodyPr/>
          <a:lstStyle/>
          <a:p>
            <a:endParaRPr/>
          </a:p>
        </p:txBody>
      </p:sp>
      <p:sp>
        <p:nvSpPr>
          <p:cNvPr id="68" name="Text 66">
            <a:extLst>
              <a:ext uri="{FF2B5EF4-FFF2-40B4-BE49-F238E27FC236}">
                <a16:creationId xmlns:a16="http://schemas.microsoft.com/office/drawing/2014/main" id="{8D6CFCB1-9C2B-48FD-A11D-A4E41DE90A8C}"/>
              </a:ext>
            </a:extLst>
          </p:cNvPr>
          <p:cNvSpPr>
            <a:spLocks noGrp="1"/>
          </p:cNvSpPr>
          <p:nvPr/>
        </p:nvSpPr>
        <p:spPr>
          <a:xfrm>
            <a:off x="4551578" y="4041648"/>
            <a:ext cx="3198266" cy="347472"/>
          </a:xfrm>
          <a:prstGeom prst="rect">
            <a:avLst/>
          </a:prstGeom>
          <a:noFill/>
        </p:spPr>
        <p:txBody>
          <a:bodyPr wrap="square" lIns="0" tIns="0" rIns="0" bIns="0" anchor="ctr"/>
          <a:lstStyle/>
          <a:p>
            <a:pPr marL="0" indent="0">
              <a:buNone/>
            </a:pPr>
            <a:r>
              <a:rPr sz="1300" b="1">
                <a:solidFill>
                  <a:srgbClr val="0B1B2E"/>
                </a:solidFill>
                <a:latin typeface="Calibri"/>
                <a:ea typeface="Calibri"/>
                <a:cs typeface="Calibri"/>
              </a:rPr>
              <a:t>Checkpoint and rerun</a:t>
            </a:r>
          </a:p>
        </p:txBody>
      </p:sp>
      <p:sp>
        <p:nvSpPr>
          <p:cNvPr id="69" name="Text 67">
            <a:extLst>
              <a:ext uri="{FF2B5EF4-FFF2-40B4-BE49-F238E27FC236}">
                <a16:creationId xmlns:a16="http://schemas.microsoft.com/office/drawing/2014/main" id="{2A9C97B3-2C5E-41C3-81B0-7DDB945B84A4}"/>
              </a:ext>
            </a:extLst>
          </p:cNvPr>
          <p:cNvSpPr>
            <a:spLocks noGrp="1"/>
          </p:cNvSpPr>
          <p:nvPr/>
        </p:nvSpPr>
        <p:spPr>
          <a:xfrm>
            <a:off x="4551578" y="4407408"/>
            <a:ext cx="3198266" cy="658368"/>
          </a:xfrm>
          <a:prstGeom prst="rect">
            <a:avLst/>
          </a:prstGeom>
          <a:noFill/>
        </p:spPr>
        <p:txBody>
          <a:bodyPr wrap="square" lIns="0" tIns="0" rIns="0" bIns="0" anchor="t"/>
          <a:lstStyle/>
          <a:p>
            <a:pPr marL="0" indent="0">
              <a:lnSpc>
                <a:spcPts val="1500"/>
              </a:lnSpc>
              <a:buNone/>
            </a:pPr>
            <a:r>
              <a:rPr sz="1100">
                <a:solidFill>
                  <a:srgbClr val="33415A"/>
                </a:solidFill>
                <a:latin typeface="Calibri"/>
                <a:ea typeface="Calibri"/>
                <a:cs typeface="Calibri"/>
              </a:rPr>
              <a:t>Progress and provenance are retained to support controlled reprocessing.</a:t>
            </a:r>
          </a:p>
        </p:txBody>
      </p:sp>
      <p:sp>
        <p:nvSpPr>
          <p:cNvPr id="70" name="Shape 68">
            <a:extLst>
              <a:ext uri="{FF2B5EF4-FFF2-40B4-BE49-F238E27FC236}">
                <a16:creationId xmlns:a16="http://schemas.microsoft.com/office/drawing/2014/main" id="{CCAF88B7-1B42-4F5B-875F-DE0F47E28342}"/>
              </a:ext>
            </a:extLst>
          </p:cNvPr>
          <p:cNvSpPr>
            <a:spLocks noGrp="1"/>
          </p:cNvSpPr>
          <p:nvPr/>
        </p:nvSpPr>
        <p:spPr>
          <a:xfrm>
            <a:off x="8097317" y="3886200"/>
            <a:ext cx="3545738" cy="1261872"/>
          </a:xfrm>
          <a:prstGeom prst="rect">
            <a:avLst/>
          </a:prstGeom>
          <a:solidFill>
            <a:srgbClr val="F8FAFC"/>
          </a:solidFill>
          <a:effectLst>
            <a:outerShdw blurRad="101600" dist="25400" dir="8100000" algn="bl" rotWithShape="0">
              <a:srgbClr val="1E293B">
                <a:alpha val="11000"/>
              </a:srgbClr>
            </a:outerShdw>
          </a:effectLst>
        </p:spPr>
        <p:txBody>
          <a:bodyPr/>
          <a:lstStyle/>
          <a:p>
            <a:endParaRPr/>
          </a:p>
        </p:txBody>
      </p:sp>
      <p:sp>
        <p:nvSpPr>
          <p:cNvPr id="71" name="Shape 69">
            <a:extLst>
              <a:ext uri="{FF2B5EF4-FFF2-40B4-BE49-F238E27FC236}">
                <a16:creationId xmlns:a16="http://schemas.microsoft.com/office/drawing/2014/main" id="{11401810-C5F4-4F45-A4BC-8354069E9162}"/>
              </a:ext>
            </a:extLst>
          </p:cNvPr>
          <p:cNvSpPr>
            <a:spLocks noGrp="1"/>
          </p:cNvSpPr>
          <p:nvPr/>
        </p:nvSpPr>
        <p:spPr>
          <a:xfrm>
            <a:off x="8097317" y="3886200"/>
            <a:ext cx="82296" cy="1261872"/>
          </a:xfrm>
          <a:prstGeom prst="rect">
            <a:avLst/>
          </a:prstGeom>
          <a:solidFill>
            <a:srgbClr val="F26A4B"/>
          </a:solidFill>
        </p:spPr>
        <p:txBody>
          <a:bodyPr/>
          <a:lstStyle/>
          <a:p>
            <a:endParaRPr/>
          </a:p>
        </p:txBody>
      </p:sp>
      <p:sp>
        <p:nvSpPr>
          <p:cNvPr id="72" name="Text 70">
            <a:extLst>
              <a:ext uri="{FF2B5EF4-FFF2-40B4-BE49-F238E27FC236}">
                <a16:creationId xmlns:a16="http://schemas.microsoft.com/office/drawing/2014/main" id="{8A63A450-9E8F-4C63-9A00-528C026642BD}"/>
              </a:ext>
            </a:extLst>
          </p:cNvPr>
          <p:cNvSpPr>
            <a:spLocks noGrp="1"/>
          </p:cNvSpPr>
          <p:nvPr/>
        </p:nvSpPr>
        <p:spPr>
          <a:xfrm>
            <a:off x="8325917" y="4041648"/>
            <a:ext cx="3198266" cy="347472"/>
          </a:xfrm>
          <a:prstGeom prst="rect">
            <a:avLst/>
          </a:prstGeom>
          <a:noFill/>
        </p:spPr>
        <p:txBody>
          <a:bodyPr wrap="square" lIns="0" tIns="0" rIns="0" bIns="0" anchor="ctr"/>
          <a:lstStyle/>
          <a:p>
            <a:pPr marL="0" indent="0">
              <a:buNone/>
            </a:pPr>
            <a:r>
              <a:rPr sz="1300" b="1">
                <a:solidFill>
                  <a:srgbClr val="0B1B2E"/>
                </a:solidFill>
                <a:latin typeface="Calibri"/>
                <a:ea typeface="Calibri"/>
                <a:cs typeface="Calibri"/>
              </a:rPr>
              <a:t>Parameterized reuse</a:t>
            </a:r>
          </a:p>
        </p:txBody>
      </p:sp>
      <p:sp>
        <p:nvSpPr>
          <p:cNvPr id="73" name="Text 71">
            <a:extLst>
              <a:ext uri="{FF2B5EF4-FFF2-40B4-BE49-F238E27FC236}">
                <a16:creationId xmlns:a16="http://schemas.microsoft.com/office/drawing/2014/main" id="{BE116D2A-3DA3-40D2-9533-AD782083A654}"/>
              </a:ext>
            </a:extLst>
          </p:cNvPr>
          <p:cNvSpPr>
            <a:spLocks noGrp="1"/>
          </p:cNvSpPr>
          <p:nvPr/>
        </p:nvSpPr>
        <p:spPr>
          <a:xfrm>
            <a:off x="8325917" y="4407408"/>
            <a:ext cx="3198266" cy="658368"/>
          </a:xfrm>
          <a:prstGeom prst="rect">
            <a:avLst/>
          </a:prstGeom>
          <a:noFill/>
        </p:spPr>
        <p:txBody>
          <a:bodyPr wrap="square" lIns="0" tIns="0" rIns="0" bIns="0" anchor="t"/>
          <a:lstStyle/>
          <a:p>
            <a:pPr marL="0" indent="0">
              <a:lnSpc>
                <a:spcPts val="1500"/>
              </a:lnSpc>
              <a:buNone/>
            </a:pPr>
            <a:r>
              <a:rPr sz="1100">
                <a:solidFill>
                  <a:srgbClr val="33415A"/>
                </a:solidFill>
                <a:latin typeface="Calibri"/>
                <a:ea typeface="Calibri"/>
                <a:cs typeface="Calibri"/>
              </a:rPr>
              <a:t>The same pipeline can be configured for future contract populations and onboarding waves.</a:t>
            </a:r>
          </a:p>
        </p:txBody>
      </p:sp>
      <p:sp>
        <p:nvSpPr>
          <p:cNvPr id="74" name="Text 72">
            <a:extLst>
              <a:ext uri="{FF2B5EF4-FFF2-40B4-BE49-F238E27FC236}">
                <a16:creationId xmlns:a16="http://schemas.microsoft.com/office/drawing/2014/main" id="{D96623CC-F79D-48F7-83A9-44F22C40915D}"/>
              </a:ext>
            </a:extLst>
          </p:cNvPr>
          <p:cNvSpPr>
            <a:spLocks noGrp="1"/>
          </p:cNvSpPr>
          <p:nvPr/>
        </p:nvSpPr>
        <p:spPr>
          <a:xfrm>
            <a:off x="548640" y="5321808"/>
            <a:ext cx="11094415" cy="347472"/>
          </a:xfrm>
          <a:prstGeom prst="rect">
            <a:avLst/>
          </a:prstGeom>
          <a:noFill/>
        </p:spPr>
        <p:txBody>
          <a:bodyPr wrap="square" lIns="0" tIns="0" rIns="0" bIns="0" anchor="ctr"/>
          <a:lstStyle/>
          <a:p>
            <a:pPr marL="0" indent="0">
              <a:buNone/>
            </a:pPr>
            <a:r>
              <a:rPr sz="1250" i="1">
                <a:solidFill>
                  <a:srgbClr val="0F766E"/>
                </a:solidFill>
                <a:latin typeface="Calibri"/>
                <a:ea typeface="Calibri"/>
                <a:cs typeface="Calibri"/>
              </a:rPr>
              <a:t>Validation is embedded throughout the pipeline—rather than added at the end.</a:t>
            </a:r>
          </a:p>
        </p:txBody>
      </p:sp>
      <p:sp>
        <p:nvSpPr>
          <p:cNvPr id="75" name="Text 73">
            <a:extLst>
              <a:ext uri="{FF2B5EF4-FFF2-40B4-BE49-F238E27FC236}">
                <a16:creationId xmlns:a16="http://schemas.microsoft.com/office/drawing/2014/main" id="{CDDC13A6-CFD3-46D2-A12B-37A46C3F367D}"/>
              </a:ext>
            </a:extLst>
          </p:cNvPr>
          <p:cNvSpPr>
            <a:spLocks noGrp="1"/>
          </p:cNvSpPr>
          <p:nvPr/>
        </p:nvSpPr>
        <p:spPr>
          <a:xfrm>
            <a:off x="548640" y="6473952"/>
            <a:ext cx="8229600" cy="256032"/>
          </a:xfrm>
          <a:prstGeom prst="rect">
            <a:avLst/>
          </a:prstGeom>
          <a:noFill/>
        </p:spPr>
        <p:txBody>
          <a:bodyPr wrap="square" lIns="0" tIns="0" rIns="0" bIns="0" anchor="ctr"/>
          <a:lstStyle/>
          <a:p>
            <a:pPr marL="0" indent="0">
              <a:buNone/>
            </a:pPr>
            <a:r>
              <a:rPr sz="800" b="1">
                <a:solidFill>
                  <a:srgbClr val="64748B"/>
                </a:solidFill>
                <a:latin typeface="Calibri"/>
                <a:ea typeface="Calibri"/>
                <a:cs typeface="Calibri"/>
              </a:rPr>
              <a:t>Contract Intelligence Platform  ·  Confidential — Internal</a:t>
            </a:r>
          </a:p>
        </p:txBody>
      </p:sp>
      <p:sp>
        <p:nvSpPr>
          <p:cNvPr id="76" name="Text 74">
            <a:extLst>
              <a:ext uri="{FF2B5EF4-FFF2-40B4-BE49-F238E27FC236}">
                <a16:creationId xmlns:a16="http://schemas.microsoft.com/office/drawing/2014/main" id="{D37DD95F-B7EA-4CEC-879C-B63674B5709A}"/>
              </a:ext>
            </a:extLst>
          </p:cNvPr>
          <p:cNvSpPr>
            <a:spLocks noGrp="1"/>
          </p:cNvSpPr>
          <p:nvPr/>
        </p:nvSpPr>
        <p:spPr>
          <a:xfrm>
            <a:off x="10728655" y="6473952"/>
            <a:ext cx="914400" cy="256032"/>
          </a:xfrm>
          <a:prstGeom prst="rect">
            <a:avLst/>
          </a:prstGeom>
          <a:noFill/>
        </p:spPr>
        <p:txBody>
          <a:bodyPr wrap="square" lIns="0" tIns="0" rIns="0" bIns="0" anchor="ctr"/>
          <a:lstStyle/>
          <a:p>
            <a:pPr marL="0" indent="0" algn="r">
              <a:buNone/>
            </a:pPr>
            <a:r>
              <a:rPr sz="900">
                <a:solidFill>
                  <a:srgbClr val="64748B"/>
                </a:solidFill>
                <a:latin typeface="Calibri"/>
                <a:ea typeface="Calibri"/>
                <a:cs typeface="Calibri"/>
              </a:rPr>
              <a:t>08</a:t>
            </a:r>
          </a:p>
        </p:txBody>
      </p:sp>
    </p:spTree>
    <p:extLst>
      <p:ext uri="{BB962C8B-B14F-4D97-AF65-F5344CB8AC3E}">
        <p14:creationId xmlns:p14="http://schemas.microsoft.com/office/powerpoint/2010/main" val="25413948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F224B2D3-779E-4A20-95E7-F890BED10681}"/>
              </a:ext>
            </a:extLst>
          </p:cNvPr>
          <p:cNvSpPr>
            <a:spLocks noGrp="1"/>
          </p:cNvSpPr>
          <p:nvPr/>
        </p:nvSpPr>
        <p:spPr>
          <a:xfrm>
            <a:off x="548640" y="457200"/>
            <a:ext cx="11094415" cy="256032"/>
          </a:xfrm>
          <a:prstGeom prst="rect">
            <a:avLst/>
          </a:prstGeom>
          <a:noFill/>
        </p:spPr>
        <p:txBody>
          <a:bodyPr wrap="square" lIns="0" tIns="0" rIns="0" bIns="0" anchor="ctr"/>
          <a:lstStyle/>
          <a:p>
            <a:pPr marL="0" indent="0">
              <a:buNone/>
            </a:pPr>
            <a:r>
              <a:rPr sz="1100" b="1">
                <a:solidFill>
                  <a:srgbClr val="0F766E"/>
                </a:solidFill>
                <a:latin typeface="Calibri"/>
                <a:ea typeface="Calibri"/>
                <a:cs typeface="Calibri"/>
              </a:rPr>
              <a:t>SECTION 08 · AMENDMENT INTELLIGENCE</a:t>
            </a:r>
          </a:p>
        </p:txBody>
      </p:sp>
      <p:sp>
        <p:nvSpPr>
          <p:cNvPr id="3" name="Text 1">
            <a:extLst>
              <a:ext uri="{FF2B5EF4-FFF2-40B4-BE49-F238E27FC236}">
                <a16:creationId xmlns:a16="http://schemas.microsoft.com/office/drawing/2014/main" id="{D64B174B-50B8-44F0-B8A3-392AA3F1D0AB}"/>
              </a:ext>
            </a:extLst>
          </p:cNvPr>
          <p:cNvSpPr>
            <a:spLocks noGrp="1"/>
          </p:cNvSpPr>
          <p:nvPr/>
        </p:nvSpPr>
        <p:spPr>
          <a:xfrm>
            <a:off x="548640" y="804672"/>
            <a:ext cx="11094466" cy="1005840"/>
          </a:xfrm>
          <a:prstGeom prst="rect">
            <a:avLst/>
          </a:prstGeom>
          <a:noFill/>
        </p:spPr>
        <p:txBody>
          <a:bodyPr wrap="square" lIns="0" tIns="0" rIns="0" bIns="0" anchor="t">
            <a:normAutofit/>
          </a:bodyPr>
          <a:lstStyle/>
          <a:p>
            <a:pPr marL="0" indent="0">
              <a:lnSpc>
                <a:spcPts val="3080"/>
              </a:lnSpc>
              <a:buNone/>
            </a:pPr>
            <a:r>
              <a:rPr sz="2800" b="1">
                <a:solidFill>
                  <a:srgbClr val="0B1B2E"/>
                </a:solidFill>
                <a:latin typeface="Georgia"/>
                <a:ea typeface="Georgia"/>
                <a:cs typeface="Georgia"/>
              </a:rPr>
              <a:t>A trustworthy answer must distinguish current terms from superseded history</a:t>
            </a:r>
          </a:p>
        </p:txBody>
      </p:sp>
      <p:sp>
        <p:nvSpPr>
          <p:cNvPr id="4" name="Text 2">
            <a:extLst>
              <a:ext uri="{FF2B5EF4-FFF2-40B4-BE49-F238E27FC236}">
                <a16:creationId xmlns:a16="http://schemas.microsoft.com/office/drawing/2014/main" id="{7592FA39-AC28-47D5-AF7B-8FA3CB081D6C}"/>
              </a:ext>
            </a:extLst>
          </p:cNvPr>
          <p:cNvSpPr>
            <a:spLocks noGrp="1"/>
          </p:cNvSpPr>
          <p:nvPr/>
        </p:nvSpPr>
        <p:spPr>
          <a:xfrm>
            <a:off x="548640" y="1874520"/>
            <a:ext cx="11094466" cy="787400"/>
          </a:xfrm>
          <a:prstGeom prst="rect">
            <a:avLst/>
          </a:prstGeom>
          <a:noFill/>
        </p:spPr>
        <p:txBody>
          <a:bodyPr wrap="square" lIns="0" tIns="0" rIns="0" bIns="0" anchor="t"/>
          <a:lstStyle/>
          <a:p>
            <a:pPr marL="0" indent="0">
              <a:lnSpc>
                <a:spcPts val="1800"/>
              </a:lnSpc>
              <a:buNone/>
            </a:pPr>
            <a:r>
              <a:rPr sz="1250">
                <a:solidFill>
                  <a:srgbClr val="33415A"/>
                </a:solidFill>
                <a:latin typeface="Calibri"/>
                <a:ea typeface="Calibri"/>
                <a:cs typeface="Calibri"/>
              </a:rPr>
              <a:t>Contracts are living records: base agreements, exhibits and amendments must be interpreted together before a term is presented as current.</a:t>
            </a:r>
          </a:p>
        </p:txBody>
      </p:sp>
      <p:sp>
        <p:nvSpPr>
          <p:cNvPr id="5" name="Shape 3">
            <a:extLst>
              <a:ext uri="{FF2B5EF4-FFF2-40B4-BE49-F238E27FC236}">
                <a16:creationId xmlns:a16="http://schemas.microsoft.com/office/drawing/2014/main" id="{9C8F1C80-10AC-4951-A954-DFCACC4DB680}"/>
              </a:ext>
            </a:extLst>
          </p:cNvPr>
          <p:cNvSpPr>
            <a:spLocks noGrp="1"/>
          </p:cNvSpPr>
          <p:nvPr/>
        </p:nvSpPr>
        <p:spPr>
          <a:xfrm>
            <a:off x="548640" y="3154680"/>
            <a:ext cx="2029968" cy="1170432"/>
          </a:xfrm>
          <a:prstGeom prst="rect">
            <a:avLst/>
          </a:prstGeom>
          <a:solidFill>
            <a:srgbClr val="F8FAFC"/>
          </a:solidFill>
          <a:ln w="12700">
            <a:solidFill>
              <a:srgbClr val="E3E9F0"/>
            </a:solidFill>
            <a:prstDash val="solid"/>
          </a:ln>
          <a:effectLst>
            <a:outerShdw blurRad="101600" dist="25400" dir="8100000" algn="bl" rotWithShape="0">
              <a:srgbClr val="1E293B">
                <a:alpha val="11000"/>
              </a:srgbClr>
            </a:outerShdw>
          </a:effectLst>
        </p:spPr>
        <p:txBody>
          <a:bodyPr/>
          <a:lstStyle/>
          <a:p>
            <a:endParaRPr/>
          </a:p>
        </p:txBody>
      </p:sp>
      <p:sp>
        <p:nvSpPr>
          <p:cNvPr id="6" name="Shape 4">
            <a:extLst>
              <a:ext uri="{FF2B5EF4-FFF2-40B4-BE49-F238E27FC236}">
                <a16:creationId xmlns:a16="http://schemas.microsoft.com/office/drawing/2014/main" id="{2568ACA5-FC1F-4DA5-845B-89A4B1523851}"/>
              </a:ext>
            </a:extLst>
          </p:cNvPr>
          <p:cNvSpPr>
            <a:spLocks noGrp="1"/>
          </p:cNvSpPr>
          <p:nvPr/>
        </p:nvSpPr>
        <p:spPr>
          <a:xfrm>
            <a:off x="548640" y="3154680"/>
            <a:ext cx="2029968" cy="73152"/>
          </a:xfrm>
          <a:prstGeom prst="rect">
            <a:avLst/>
          </a:prstGeom>
          <a:solidFill>
            <a:srgbClr val="64748B"/>
          </a:solidFill>
        </p:spPr>
        <p:txBody>
          <a:bodyPr/>
          <a:lstStyle/>
          <a:p>
            <a:endParaRPr/>
          </a:p>
        </p:txBody>
      </p:sp>
      <p:sp>
        <p:nvSpPr>
          <p:cNvPr id="7" name="Text 5">
            <a:extLst>
              <a:ext uri="{FF2B5EF4-FFF2-40B4-BE49-F238E27FC236}">
                <a16:creationId xmlns:a16="http://schemas.microsoft.com/office/drawing/2014/main" id="{0DC88F93-419D-4CAF-B050-7F13EF14C024}"/>
              </a:ext>
            </a:extLst>
          </p:cNvPr>
          <p:cNvSpPr>
            <a:spLocks noGrp="1"/>
          </p:cNvSpPr>
          <p:nvPr/>
        </p:nvSpPr>
        <p:spPr>
          <a:xfrm>
            <a:off x="731520" y="3337560"/>
            <a:ext cx="1709928" cy="566928"/>
          </a:xfrm>
          <a:prstGeom prst="rect">
            <a:avLst/>
          </a:prstGeom>
          <a:noFill/>
        </p:spPr>
        <p:txBody>
          <a:bodyPr wrap="square" lIns="0" tIns="0" rIns="0" bIns="0" anchor="ctr"/>
          <a:lstStyle/>
          <a:p>
            <a:pPr marL="0" indent="0">
              <a:lnSpc>
                <a:spcPts val="1400"/>
              </a:lnSpc>
              <a:buNone/>
            </a:pPr>
            <a:r>
              <a:rPr sz="1250" b="1">
                <a:solidFill>
                  <a:srgbClr val="33415A"/>
                </a:solidFill>
                <a:latin typeface="Calibri"/>
                <a:ea typeface="Calibri"/>
                <a:cs typeface="Calibri"/>
              </a:rPr>
              <a:t>BASE</a:t>
            </a:r>
          </a:p>
          <a:p>
            <a:pPr marL="0" indent="0">
              <a:lnSpc>
                <a:spcPts val="1400"/>
              </a:lnSpc>
              <a:buNone/>
            </a:pPr>
            <a:r>
              <a:rPr sz="1250" b="1">
                <a:solidFill>
                  <a:srgbClr val="33415A"/>
                </a:solidFill>
                <a:latin typeface="Calibri"/>
                <a:ea typeface="Calibri"/>
                <a:cs typeface="Calibri"/>
              </a:rPr>
              <a:t>AGREEMENT</a:t>
            </a:r>
          </a:p>
        </p:txBody>
      </p:sp>
      <p:sp>
        <p:nvSpPr>
          <p:cNvPr id="8" name="Text 6">
            <a:extLst>
              <a:ext uri="{FF2B5EF4-FFF2-40B4-BE49-F238E27FC236}">
                <a16:creationId xmlns:a16="http://schemas.microsoft.com/office/drawing/2014/main" id="{59197730-098A-4A66-B725-B2F49101C4F1}"/>
              </a:ext>
            </a:extLst>
          </p:cNvPr>
          <p:cNvSpPr>
            <a:spLocks noGrp="1"/>
          </p:cNvSpPr>
          <p:nvPr/>
        </p:nvSpPr>
        <p:spPr>
          <a:xfrm>
            <a:off x="731520" y="3941064"/>
            <a:ext cx="1709928" cy="320040"/>
          </a:xfrm>
          <a:prstGeom prst="rect">
            <a:avLst/>
          </a:prstGeom>
          <a:noFill/>
        </p:spPr>
        <p:txBody>
          <a:bodyPr wrap="square" lIns="0" tIns="0" rIns="0" bIns="0" anchor="ctr"/>
          <a:lstStyle/>
          <a:p>
            <a:pPr marL="0" indent="0">
              <a:buNone/>
            </a:pPr>
            <a:r>
              <a:rPr sz="1000">
                <a:solidFill>
                  <a:srgbClr val="64748B"/>
                </a:solidFill>
                <a:latin typeface="Calibri"/>
                <a:ea typeface="Calibri"/>
                <a:cs typeface="Calibri"/>
              </a:rPr>
              <a:t>Original terms</a:t>
            </a:r>
          </a:p>
        </p:txBody>
      </p:sp>
      <p:sp>
        <p:nvSpPr>
          <p:cNvPr id="9" name="Shape 7">
            <a:extLst>
              <a:ext uri="{FF2B5EF4-FFF2-40B4-BE49-F238E27FC236}">
                <a16:creationId xmlns:a16="http://schemas.microsoft.com/office/drawing/2014/main" id="{B8CE5C34-B7B8-46AF-B6C2-71E8908AFFE1}"/>
              </a:ext>
            </a:extLst>
          </p:cNvPr>
          <p:cNvSpPr>
            <a:spLocks noGrp="1"/>
          </p:cNvSpPr>
          <p:nvPr/>
        </p:nvSpPr>
        <p:spPr>
          <a:xfrm>
            <a:off x="2606040" y="3739896"/>
            <a:ext cx="201168" cy="0"/>
          </a:xfrm>
          <a:prstGeom prst="line">
            <a:avLst/>
          </a:prstGeom>
          <a:noFill/>
          <a:ln w="22860">
            <a:solidFill>
              <a:srgbClr val="0F766E"/>
            </a:solidFill>
            <a:prstDash val="solid"/>
            <a:tailEnd type="triangle"/>
          </a:ln>
        </p:spPr>
        <p:txBody>
          <a:bodyPr/>
          <a:lstStyle/>
          <a:p>
            <a:endParaRPr/>
          </a:p>
        </p:txBody>
      </p:sp>
      <p:sp>
        <p:nvSpPr>
          <p:cNvPr id="10" name="Shape 8">
            <a:extLst>
              <a:ext uri="{FF2B5EF4-FFF2-40B4-BE49-F238E27FC236}">
                <a16:creationId xmlns:a16="http://schemas.microsoft.com/office/drawing/2014/main" id="{8C928D65-2660-4B5D-86B4-2AA7B8C82045}"/>
              </a:ext>
            </a:extLst>
          </p:cNvPr>
          <p:cNvSpPr>
            <a:spLocks noGrp="1"/>
          </p:cNvSpPr>
          <p:nvPr/>
        </p:nvSpPr>
        <p:spPr>
          <a:xfrm>
            <a:off x="2834640" y="3154680"/>
            <a:ext cx="2029968" cy="1170432"/>
          </a:xfrm>
          <a:prstGeom prst="rect">
            <a:avLst/>
          </a:prstGeom>
          <a:solidFill>
            <a:srgbClr val="F8FAFC"/>
          </a:solidFill>
          <a:ln w="12700">
            <a:solidFill>
              <a:srgbClr val="E3E9F0"/>
            </a:solidFill>
            <a:prstDash val="solid"/>
          </a:ln>
          <a:effectLst>
            <a:outerShdw blurRad="101600" dist="25400" dir="8100000" algn="bl" rotWithShape="0">
              <a:srgbClr val="1E293B">
                <a:alpha val="11000"/>
              </a:srgbClr>
            </a:outerShdw>
          </a:effectLst>
        </p:spPr>
        <p:txBody>
          <a:bodyPr/>
          <a:lstStyle/>
          <a:p>
            <a:endParaRPr/>
          </a:p>
        </p:txBody>
      </p:sp>
      <p:sp>
        <p:nvSpPr>
          <p:cNvPr id="11" name="Shape 9">
            <a:extLst>
              <a:ext uri="{FF2B5EF4-FFF2-40B4-BE49-F238E27FC236}">
                <a16:creationId xmlns:a16="http://schemas.microsoft.com/office/drawing/2014/main" id="{E2A75083-97BC-4FB3-A1D1-62A22F48D83E}"/>
              </a:ext>
            </a:extLst>
          </p:cNvPr>
          <p:cNvSpPr>
            <a:spLocks noGrp="1"/>
          </p:cNvSpPr>
          <p:nvPr/>
        </p:nvSpPr>
        <p:spPr>
          <a:xfrm>
            <a:off x="2834640" y="3154680"/>
            <a:ext cx="2029968" cy="73152"/>
          </a:xfrm>
          <a:prstGeom prst="rect">
            <a:avLst/>
          </a:prstGeom>
          <a:solidFill>
            <a:srgbClr val="64748B"/>
          </a:solidFill>
        </p:spPr>
        <p:txBody>
          <a:bodyPr/>
          <a:lstStyle/>
          <a:p>
            <a:endParaRPr/>
          </a:p>
        </p:txBody>
      </p:sp>
      <p:sp>
        <p:nvSpPr>
          <p:cNvPr id="12" name="Text 10">
            <a:extLst>
              <a:ext uri="{FF2B5EF4-FFF2-40B4-BE49-F238E27FC236}">
                <a16:creationId xmlns:a16="http://schemas.microsoft.com/office/drawing/2014/main" id="{B539A339-2313-47A0-AFAB-3CFEDBAE68BF}"/>
              </a:ext>
            </a:extLst>
          </p:cNvPr>
          <p:cNvSpPr>
            <a:spLocks noGrp="1"/>
          </p:cNvSpPr>
          <p:nvPr/>
        </p:nvSpPr>
        <p:spPr>
          <a:xfrm>
            <a:off x="3017520" y="3337560"/>
            <a:ext cx="1709928" cy="566928"/>
          </a:xfrm>
          <a:prstGeom prst="rect">
            <a:avLst/>
          </a:prstGeom>
          <a:noFill/>
        </p:spPr>
        <p:txBody>
          <a:bodyPr wrap="square" lIns="0" tIns="0" rIns="0" bIns="0" anchor="ctr"/>
          <a:lstStyle/>
          <a:p>
            <a:pPr marL="0" indent="0">
              <a:lnSpc>
                <a:spcPts val="1400"/>
              </a:lnSpc>
              <a:buNone/>
            </a:pPr>
            <a:r>
              <a:rPr sz="1250" b="1">
                <a:solidFill>
                  <a:srgbClr val="33415A"/>
                </a:solidFill>
                <a:latin typeface="Calibri"/>
                <a:ea typeface="Calibri"/>
                <a:cs typeface="Calibri"/>
              </a:rPr>
              <a:t>AMENDMENT</a:t>
            </a:r>
          </a:p>
          <a:p>
            <a:pPr marL="0" indent="0">
              <a:lnSpc>
                <a:spcPts val="1400"/>
              </a:lnSpc>
              <a:buNone/>
            </a:pPr>
            <a:r>
              <a:rPr sz="1250" b="1">
                <a:solidFill>
                  <a:srgbClr val="33415A"/>
                </a:solidFill>
                <a:latin typeface="Calibri"/>
                <a:ea typeface="Calibri"/>
                <a:cs typeface="Calibri"/>
              </a:rPr>
              <a:t>1</a:t>
            </a:r>
          </a:p>
        </p:txBody>
      </p:sp>
      <p:sp>
        <p:nvSpPr>
          <p:cNvPr id="13" name="Text 11">
            <a:extLst>
              <a:ext uri="{FF2B5EF4-FFF2-40B4-BE49-F238E27FC236}">
                <a16:creationId xmlns:a16="http://schemas.microsoft.com/office/drawing/2014/main" id="{A6889FEE-DF6E-459A-8D30-BBAB807A7924}"/>
              </a:ext>
            </a:extLst>
          </p:cNvPr>
          <p:cNvSpPr>
            <a:spLocks noGrp="1"/>
          </p:cNvSpPr>
          <p:nvPr/>
        </p:nvSpPr>
        <p:spPr>
          <a:xfrm>
            <a:off x="3017520" y="3941064"/>
            <a:ext cx="1709928" cy="320040"/>
          </a:xfrm>
          <a:prstGeom prst="rect">
            <a:avLst/>
          </a:prstGeom>
          <a:noFill/>
        </p:spPr>
        <p:txBody>
          <a:bodyPr wrap="square" lIns="0" tIns="0" rIns="0" bIns="0" anchor="ctr"/>
          <a:lstStyle/>
          <a:p>
            <a:pPr marL="0" indent="0">
              <a:buNone/>
            </a:pPr>
            <a:r>
              <a:rPr sz="1000">
                <a:solidFill>
                  <a:srgbClr val="64748B"/>
                </a:solidFill>
                <a:latin typeface="Calibri"/>
                <a:ea typeface="Calibri"/>
                <a:cs typeface="Calibri"/>
              </a:rPr>
              <a:t>Rate or language update</a:t>
            </a:r>
          </a:p>
        </p:txBody>
      </p:sp>
      <p:sp>
        <p:nvSpPr>
          <p:cNvPr id="14" name="Shape 12">
            <a:extLst>
              <a:ext uri="{FF2B5EF4-FFF2-40B4-BE49-F238E27FC236}">
                <a16:creationId xmlns:a16="http://schemas.microsoft.com/office/drawing/2014/main" id="{5FBC5BA8-0BAD-4019-806C-B56D770CEDE0}"/>
              </a:ext>
            </a:extLst>
          </p:cNvPr>
          <p:cNvSpPr>
            <a:spLocks noGrp="1"/>
          </p:cNvSpPr>
          <p:nvPr/>
        </p:nvSpPr>
        <p:spPr>
          <a:xfrm>
            <a:off x="4892040" y="3739896"/>
            <a:ext cx="201168" cy="0"/>
          </a:xfrm>
          <a:prstGeom prst="line">
            <a:avLst/>
          </a:prstGeom>
          <a:noFill/>
          <a:ln w="22860">
            <a:solidFill>
              <a:srgbClr val="0F766E"/>
            </a:solidFill>
            <a:prstDash val="solid"/>
            <a:tailEnd type="triangle"/>
          </a:ln>
        </p:spPr>
        <p:txBody>
          <a:bodyPr/>
          <a:lstStyle/>
          <a:p>
            <a:endParaRPr/>
          </a:p>
        </p:txBody>
      </p:sp>
      <p:sp>
        <p:nvSpPr>
          <p:cNvPr id="15" name="Shape 13">
            <a:extLst>
              <a:ext uri="{FF2B5EF4-FFF2-40B4-BE49-F238E27FC236}">
                <a16:creationId xmlns:a16="http://schemas.microsoft.com/office/drawing/2014/main" id="{7EC9929F-82FF-4EEE-BC03-FA15E2E4638A}"/>
              </a:ext>
            </a:extLst>
          </p:cNvPr>
          <p:cNvSpPr>
            <a:spLocks noGrp="1"/>
          </p:cNvSpPr>
          <p:nvPr/>
        </p:nvSpPr>
        <p:spPr>
          <a:xfrm>
            <a:off x="5120640" y="3154680"/>
            <a:ext cx="2029968" cy="1170432"/>
          </a:xfrm>
          <a:prstGeom prst="rect">
            <a:avLst/>
          </a:prstGeom>
          <a:solidFill>
            <a:srgbClr val="F8FAFC"/>
          </a:solidFill>
          <a:ln w="12700">
            <a:solidFill>
              <a:srgbClr val="E3E9F0"/>
            </a:solidFill>
            <a:prstDash val="solid"/>
          </a:ln>
          <a:effectLst>
            <a:outerShdw blurRad="101600" dist="25400" dir="8100000" algn="bl" rotWithShape="0">
              <a:srgbClr val="1E293B">
                <a:alpha val="11000"/>
              </a:srgbClr>
            </a:outerShdw>
          </a:effectLst>
        </p:spPr>
        <p:txBody>
          <a:bodyPr/>
          <a:lstStyle/>
          <a:p>
            <a:endParaRPr/>
          </a:p>
        </p:txBody>
      </p:sp>
      <p:sp>
        <p:nvSpPr>
          <p:cNvPr id="16" name="Shape 14">
            <a:extLst>
              <a:ext uri="{FF2B5EF4-FFF2-40B4-BE49-F238E27FC236}">
                <a16:creationId xmlns:a16="http://schemas.microsoft.com/office/drawing/2014/main" id="{DC76F3C2-4295-43C5-9B2D-1F0B9A73B14A}"/>
              </a:ext>
            </a:extLst>
          </p:cNvPr>
          <p:cNvSpPr>
            <a:spLocks noGrp="1"/>
          </p:cNvSpPr>
          <p:nvPr/>
        </p:nvSpPr>
        <p:spPr>
          <a:xfrm>
            <a:off x="5120640" y="3154680"/>
            <a:ext cx="2029968" cy="73152"/>
          </a:xfrm>
          <a:prstGeom prst="rect">
            <a:avLst/>
          </a:prstGeom>
          <a:solidFill>
            <a:srgbClr val="64748B"/>
          </a:solidFill>
        </p:spPr>
        <p:txBody>
          <a:bodyPr/>
          <a:lstStyle/>
          <a:p>
            <a:endParaRPr/>
          </a:p>
        </p:txBody>
      </p:sp>
      <p:sp>
        <p:nvSpPr>
          <p:cNvPr id="17" name="Text 15">
            <a:extLst>
              <a:ext uri="{FF2B5EF4-FFF2-40B4-BE49-F238E27FC236}">
                <a16:creationId xmlns:a16="http://schemas.microsoft.com/office/drawing/2014/main" id="{A71F0178-8A04-4924-81F2-17969255CDBF}"/>
              </a:ext>
            </a:extLst>
          </p:cNvPr>
          <p:cNvSpPr>
            <a:spLocks noGrp="1"/>
          </p:cNvSpPr>
          <p:nvPr/>
        </p:nvSpPr>
        <p:spPr>
          <a:xfrm>
            <a:off x="5303520" y="3337560"/>
            <a:ext cx="1709928" cy="566928"/>
          </a:xfrm>
          <a:prstGeom prst="rect">
            <a:avLst/>
          </a:prstGeom>
          <a:noFill/>
        </p:spPr>
        <p:txBody>
          <a:bodyPr wrap="square" lIns="0" tIns="0" rIns="0" bIns="0" anchor="ctr"/>
          <a:lstStyle/>
          <a:p>
            <a:pPr marL="0" indent="0">
              <a:lnSpc>
                <a:spcPts val="1400"/>
              </a:lnSpc>
              <a:buNone/>
            </a:pPr>
            <a:r>
              <a:rPr sz="1250" b="1">
                <a:solidFill>
                  <a:srgbClr val="33415A"/>
                </a:solidFill>
                <a:latin typeface="Calibri"/>
                <a:ea typeface="Calibri"/>
                <a:cs typeface="Calibri"/>
              </a:rPr>
              <a:t>AMENDMENT</a:t>
            </a:r>
          </a:p>
          <a:p>
            <a:pPr marL="0" indent="0">
              <a:lnSpc>
                <a:spcPts val="1400"/>
              </a:lnSpc>
              <a:buNone/>
            </a:pPr>
            <a:r>
              <a:rPr sz="1250" b="1">
                <a:solidFill>
                  <a:srgbClr val="33415A"/>
                </a:solidFill>
                <a:latin typeface="Calibri"/>
                <a:ea typeface="Calibri"/>
                <a:cs typeface="Calibri"/>
              </a:rPr>
              <a:t>2</a:t>
            </a:r>
          </a:p>
        </p:txBody>
      </p:sp>
      <p:sp>
        <p:nvSpPr>
          <p:cNvPr id="18" name="Text 16">
            <a:extLst>
              <a:ext uri="{FF2B5EF4-FFF2-40B4-BE49-F238E27FC236}">
                <a16:creationId xmlns:a16="http://schemas.microsoft.com/office/drawing/2014/main" id="{6B01DC19-D146-442D-8AC3-43547E6189CD}"/>
              </a:ext>
            </a:extLst>
          </p:cNvPr>
          <p:cNvSpPr>
            <a:spLocks noGrp="1"/>
          </p:cNvSpPr>
          <p:nvPr/>
        </p:nvSpPr>
        <p:spPr>
          <a:xfrm>
            <a:off x="5303520" y="3941064"/>
            <a:ext cx="1709928" cy="320040"/>
          </a:xfrm>
          <a:prstGeom prst="rect">
            <a:avLst/>
          </a:prstGeom>
          <a:noFill/>
        </p:spPr>
        <p:txBody>
          <a:bodyPr wrap="square" lIns="0" tIns="0" rIns="0" bIns="0" anchor="ctr"/>
          <a:lstStyle/>
          <a:p>
            <a:pPr marL="0" indent="0">
              <a:buNone/>
            </a:pPr>
            <a:r>
              <a:rPr sz="1000">
                <a:solidFill>
                  <a:srgbClr val="64748B"/>
                </a:solidFill>
                <a:latin typeface="Calibri"/>
                <a:ea typeface="Calibri"/>
                <a:cs typeface="Calibri"/>
              </a:rPr>
              <a:t>Targeted revision</a:t>
            </a:r>
          </a:p>
        </p:txBody>
      </p:sp>
      <p:sp>
        <p:nvSpPr>
          <p:cNvPr id="19" name="Shape 17">
            <a:extLst>
              <a:ext uri="{FF2B5EF4-FFF2-40B4-BE49-F238E27FC236}">
                <a16:creationId xmlns:a16="http://schemas.microsoft.com/office/drawing/2014/main" id="{B209DE54-5BE1-4987-9A34-627DCD631CBC}"/>
              </a:ext>
            </a:extLst>
          </p:cNvPr>
          <p:cNvSpPr>
            <a:spLocks noGrp="1"/>
          </p:cNvSpPr>
          <p:nvPr/>
        </p:nvSpPr>
        <p:spPr>
          <a:xfrm>
            <a:off x="7178040" y="3739896"/>
            <a:ext cx="201168" cy="0"/>
          </a:xfrm>
          <a:prstGeom prst="line">
            <a:avLst/>
          </a:prstGeom>
          <a:noFill/>
          <a:ln w="22860">
            <a:solidFill>
              <a:srgbClr val="0F766E"/>
            </a:solidFill>
            <a:prstDash val="solid"/>
            <a:tailEnd type="triangle"/>
          </a:ln>
        </p:spPr>
        <p:txBody>
          <a:bodyPr/>
          <a:lstStyle/>
          <a:p>
            <a:endParaRPr/>
          </a:p>
        </p:txBody>
      </p:sp>
      <p:sp>
        <p:nvSpPr>
          <p:cNvPr id="20" name="Shape 18">
            <a:extLst>
              <a:ext uri="{FF2B5EF4-FFF2-40B4-BE49-F238E27FC236}">
                <a16:creationId xmlns:a16="http://schemas.microsoft.com/office/drawing/2014/main" id="{A37A10A1-82F9-4473-A4FA-9AB813640FA9}"/>
              </a:ext>
            </a:extLst>
          </p:cNvPr>
          <p:cNvSpPr>
            <a:spLocks noGrp="1"/>
          </p:cNvSpPr>
          <p:nvPr/>
        </p:nvSpPr>
        <p:spPr>
          <a:xfrm>
            <a:off x="7406640" y="3154680"/>
            <a:ext cx="2029968" cy="1170432"/>
          </a:xfrm>
          <a:prstGeom prst="rect">
            <a:avLst/>
          </a:prstGeom>
          <a:solidFill>
            <a:srgbClr val="F8FAFC"/>
          </a:solidFill>
          <a:ln w="12700">
            <a:solidFill>
              <a:srgbClr val="E3E9F0"/>
            </a:solidFill>
            <a:prstDash val="solid"/>
          </a:ln>
          <a:effectLst>
            <a:outerShdw blurRad="101600" dist="25400" dir="8100000" algn="bl" rotWithShape="0">
              <a:srgbClr val="1E293B">
                <a:alpha val="11000"/>
              </a:srgbClr>
            </a:outerShdw>
          </a:effectLst>
        </p:spPr>
        <p:txBody>
          <a:bodyPr/>
          <a:lstStyle/>
          <a:p>
            <a:endParaRPr/>
          </a:p>
        </p:txBody>
      </p:sp>
      <p:sp>
        <p:nvSpPr>
          <p:cNvPr id="21" name="Shape 19">
            <a:extLst>
              <a:ext uri="{FF2B5EF4-FFF2-40B4-BE49-F238E27FC236}">
                <a16:creationId xmlns:a16="http://schemas.microsoft.com/office/drawing/2014/main" id="{369A31FA-EFF4-41BA-ACF5-2804DD76B0B3}"/>
              </a:ext>
            </a:extLst>
          </p:cNvPr>
          <p:cNvSpPr>
            <a:spLocks noGrp="1"/>
          </p:cNvSpPr>
          <p:nvPr/>
        </p:nvSpPr>
        <p:spPr>
          <a:xfrm>
            <a:off x="7406640" y="3154680"/>
            <a:ext cx="2029968" cy="73152"/>
          </a:xfrm>
          <a:prstGeom prst="rect">
            <a:avLst/>
          </a:prstGeom>
          <a:solidFill>
            <a:srgbClr val="64748B"/>
          </a:solidFill>
        </p:spPr>
        <p:txBody>
          <a:bodyPr/>
          <a:lstStyle/>
          <a:p>
            <a:endParaRPr/>
          </a:p>
        </p:txBody>
      </p:sp>
      <p:sp>
        <p:nvSpPr>
          <p:cNvPr id="22" name="Text 20">
            <a:extLst>
              <a:ext uri="{FF2B5EF4-FFF2-40B4-BE49-F238E27FC236}">
                <a16:creationId xmlns:a16="http://schemas.microsoft.com/office/drawing/2014/main" id="{DC47979A-2842-49BF-BC7E-B0411A09115E}"/>
              </a:ext>
            </a:extLst>
          </p:cNvPr>
          <p:cNvSpPr>
            <a:spLocks noGrp="1"/>
          </p:cNvSpPr>
          <p:nvPr/>
        </p:nvSpPr>
        <p:spPr>
          <a:xfrm>
            <a:off x="7589520" y="3337560"/>
            <a:ext cx="1709928" cy="566928"/>
          </a:xfrm>
          <a:prstGeom prst="rect">
            <a:avLst/>
          </a:prstGeom>
          <a:noFill/>
        </p:spPr>
        <p:txBody>
          <a:bodyPr wrap="square" lIns="0" tIns="0" rIns="0" bIns="0" anchor="ctr"/>
          <a:lstStyle/>
          <a:p>
            <a:pPr marL="0" indent="0">
              <a:lnSpc>
                <a:spcPts val="1400"/>
              </a:lnSpc>
              <a:buNone/>
            </a:pPr>
            <a:r>
              <a:rPr sz="1250" b="1">
                <a:solidFill>
                  <a:srgbClr val="33415A"/>
                </a:solidFill>
                <a:latin typeface="Calibri"/>
                <a:ea typeface="Calibri"/>
                <a:cs typeface="Calibri"/>
              </a:rPr>
              <a:t>AMENDMENT</a:t>
            </a:r>
          </a:p>
          <a:p>
            <a:pPr marL="0" indent="0">
              <a:lnSpc>
                <a:spcPts val="1400"/>
              </a:lnSpc>
              <a:buNone/>
            </a:pPr>
            <a:r>
              <a:rPr sz="1250" b="1">
                <a:solidFill>
                  <a:srgbClr val="33415A"/>
                </a:solidFill>
                <a:latin typeface="Calibri"/>
                <a:ea typeface="Calibri"/>
                <a:cs typeface="Calibri"/>
              </a:rPr>
              <a:t>3</a:t>
            </a:r>
          </a:p>
        </p:txBody>
      </p:sp>
      <p:sp>
        <p:nvSpPr>
          <p:cNvPr id="23" name="Text 21">
            <a:extLst>
              <a:ext uri="{FF2B5EF4-FFF2-40B4-BE49-F238E27FC236}">
                <a16:creationId xmlns:a16="http://schemas.microsoft.com/office/drawing/2014/main" id="{4AC69517-438D-4EF6-8F01-0F3C8DE66B36}"/>
              </a:ext>
            </a:extLst>
          </p:cNvPr>
          <p:cNvSpPr>
            <a:spLocks noGrp="1"/>
          </p:cNvSpPr>
          <p:nvPr/>
        </p:nvSpPr>
        <p:spPr>
          <a:xfrm>
            <a:off x="7589520" y="3941064"/>
            <a:ext cx="1709928" cy="320040"/>
          </a:xfrm>
          <a:prstGeom prst="rect">
            <a:avLst/>
          </a:prstGeom>
          <a:noFill/>
        </p:spPr>
        <p:txBody>
          <a:bodyPr wrap="square" lIns="0" tIns="0" rIns="0" bIns="0" anchor="ctr"/>
          <a:lstStyle/>
          <a:p>
            <a:pPr marL="0" indent="0">
              <a:buNone/>
            </a:pPr>
            <a:r>
              <a:rPr sz="1000">
                <a:solidFill>
                  <a:srgbClr val="64748B"/>
                </a:solidFill>
                <a:latin typeface="Calibri"/>
                <a:ea typeface="Calibri"/>
                <a:cs typeface="Calibri"/>
              </a:rPr>
              <a:t>Exhibit replacement</a:t>
            </a:r>
          </a:p>
        </p:txBody>
      </p:sp>
      <p:sp>
        <p:nvSpPr>
          <p:cNvPr id="24" name="Shape 22">
            <a:extLst>
              <a:ext uri="{FF2B5EF4-FFF2-40B4-BE49-F238E27FC236}">
                <a16:creationId xmlns:a16="http://schemas.microsoft.com/office/drawing/2014/main" id="{64B8B9C5-AD99-4307-812C-EA6A18ACF961}"/>
              </a:ext>
            </a:extLst>
          </p:cNvPr>
          <p:cNvSpPr>
            <a:spLocks noGrp="1"/>
          </p:cNvSpPr>
          <p:nvPr/>
        </p:nvSpPr>
        <p:spPr>
          <a:xfrm>
            <a:off x="9464040" y="3739896"/>
            <a:ext cx="201168" cy="0"/>
          </a:xfrm>
          <a:prstGeom prst="line">
            <a:avLst/>
          </a:prstGeom>
          <a:noFill/>
          <a:ln w="22860">
            <a:solidFill>
              <a:srgbClr val="0F766E"/>
            </a:solidFill>
            <a:prstDash val="solid"/>
            <a:tailEnd type="triangle"/>
          </a:ln>
        </p:spPr>
        <p:txBody>
          <a:bodyPr/>
          <a:lstStyle/>
          <a:p>
            <a:endParaRPr/>
          </a:p>
        </p:txBody>
      </p:sp>
      <p:sp>
        <p:nvSpPr>
          <p:cNvPr id="25" name="Shape 23">
            <a:extLst>
              <a:ext uri="{FF2B5EF4-FFF2-40B4-BE49-F238E27FC236}">
                <a16:creationId xmlns:a16="http://schemas.microsoft.com/office/drawing/2014/main" id="{1B152678-0496-4FCE-855C-A8E43FC0F098}"/>
              </a:ext>
            </a:extLst>
          </p:cNvPr>
          <p:cNvSpPr>
            <a:spLocks noGrp="1"/>
          </p:cNvSpPr>
          <p:nvPr/>
        </p:nvSpPr>
        <p:spPr>
          <a:xfrm>
            <a:off x="9692640" y="3154680"/>
            <a:ext cx="2029968" cy="1170432"/>
          </a:xfrm>
          <a:prstGeom prst="rect">
            <a:avLst/>
          </a:prstGeom>
          <a:solidFill>
            <a:srgbClr val="0B1B2E"/>
          </a:solidFill>
          <a:ln w="12700">
            <a:solidFill>
              <a:srgbClr val="0B1B2E"/>
            </a:solidFill>
            <a:prstDash val="solid"/>
          </a:ln>
          <a:effectLst>
            <a:outerShdw blurRad="177800" dist="50800" dir="8100000" algn="bl" rotWithShape="0">
              <a:srgbClr val="000000">
                <a:alpha val="22000"/>
              </a:srgbClr>
            </a:outerShdw>
          </a:effectLst>
        </p:spPr>
        <p:txBody>
          <a:bodyPr/>
          <a:lstStyle/>
          <a:p>
            <a:endParaRPr/>
          </a:p>
        </p:txBody>
      </p:sp>
      <p:sp>
        <p:nvSpPr>
          <p:cNvPr id="26" name="Shape 24">
            <a:extLst>
              <a:ext uri="{FF2B5EF4-FFF2-40B4-BE49-F238E27FC236}">
                <a16:creationId xmlns:a16="http://schemas.microsoft.com/office/drawing/2014/main" id="{023F2528-BD63-4898-9308-4DD7AF1A1E4D}"/>
              </a:ext>
            </a:extLst>
          </p:cNvPr>
          <p:cNvSpPr>
            <a:spLocks noGrp="1"/>
          </p:cNvSpPr>
          <p:nvPr/>
        </p:nvSpPr>
        <p:spPr>
          <a:xfrm>
            <a:off x="9692640" y="3154680"/>
            <a:ext cx="2029968" cy="73152"/>
          </a:xfrm>
          <a:prstGeom prst="rect">
            <a:avLst/>
          </a:prstGeom>
          <a:solidFill>
            <a:srgbClr val="14B8A6"/>
          </a:solidFill>
        </p:spPr>
        <p:txBody>
          <a:bodyPr/>
          <a:lstStyle/>
          <a:p>
            <a:endParaRPr/>
          </a:p>
        </p:txBody>
      </p:sp>
      <p:sp>
        <p:nvSpPr>
          <p:cNvPr id="27" name="Text 25">
            <a:extLst>
              <a:ext uri="{FF2B5EF4-FFF2-40B4-BE49-F238E27FC236}">
                <a16:creationId xmlns:a16="http://schemas.microsoft.com/office/drawing/2014/main" id="{5985F2C8-F0FC-415E-BE4C-69D288CFB308}"/>
              </a:ext>
            </a:extLst>
          </p:cNvPr>
          <p:cNvSpPr>
            <a:spLocks noGrp="1"/>
          </p:cNvSpPr>
          <p:nvPr/>
        </p:nvSpPr>
        <p:spPr>
          <a:xfrm>
            <a:off x="9875520" y="3337560"/>
            <a:ext cx="1709928" cy="566928"/>
          </a:xfrm>
          <a:prstGeom prst="rect">
            <a:avLst/>
          </a:prstGeom>
          <a:noFill/>
        </p:spPr>
        <p:txBody>
          <a:bodyPr wrap="square" lIns="0" tIns="0" rIns="0" bIns="0" anchor="ctr"/>
          <a:lstStyle/>
          <a:p>
            <a:pPr marL="0" indent="0">
              <a:lnSpc>
                <a:spcPts val="1400"/>
              </a:lnSpc>
              <a:buNone/>
            </a:pPr>
            <a:r>
              <a:rPr lang="en-IN" sz="1250" b="1">
                <a:solidFill>
                  <a:srgbClr val="5EEAD4"/>
                </a:solidFill>
                <a:latin typeface="Calibri"/>
                <a:ea typeface="Calibri"/>
                <a:cs typeface="Calibri"/>
              </a:rPr>
              <a:t>RESOLVED
CURRENT STATE</a:t>
            </a:r>
            <a:endParaRPr sz="1250" b="1">
              <a:solidFill>
                <a:srgbClr val="5EEAD4"/>
              </a:solidFill>
              <a:latin typeface="Calibri"/>
              <a:ea typeface="Calibri"/>
              <a:cs typeface="Calibri"/>
            </a:endParaRPr>
          </a:p>
        </p:txBody>
      </p:sp>
      <p:sp>
        <p:nvSpPr>
          <p:cNvPr id="28" name="Text 26">
            <a:extLst>
              <a:ext uri="{FF2B5EF4-FFF2-40B4-BE49-F238E27FC236}">
                <a16:creationId xmlns:a16="http://schemas.microsoft.com/office/drawing/2014/main" id="{6617E692-08DC-4FBF-A849-BF32596BC428}"/>
              </a:ext>
            </a:extLst>
          </p:cNvPr>
          <p:cNvSpPr>
            <a:spLocks noGrp="1"/>
          </p:cNvSpPr>
          <p:nvPr/>
        </p:nvSpPr>
        <p:spPr>
          <a:xfrm>
            <a:off x="9875520" y="3941064"/>
            <a:ext cx="1709928" cy="320040"/>
          </a:xfrm>
          <a:prstGeom prst="rect">
            <a:avLst/>
          </a:prstGeom>
          <a:noFill/>
        </p:spPr>
        <p:txBody>
          <a:bodyPr wrap="square" lIns="0" tIns="0" rIns="0" bIns="0" anchor="ctr"/>
          <a:lstStyle/>
          <a:p>
            <a:pPr marL="0" indent="0">
              <a:buNone/>
            </a:pPr>
            <a:r>
              <a:rPr lang="en-IN" sz="1000">
                <a:solidFill>
                  <a:srgbClr val="F26A4B"/>
                </a:solidFill>
                <a:latin typeface="Calibri"/>
                <a:ea typeface="Calibri"/>
                <a:cs typeface="Calibri"/>
              </a:rPr>
              <a:t>Scope-aware terms in force</a:t>
            </a:r>
            <a:endParaRPr sz="1000">
              <a:solidFill>
                <a:srgbClr val="F26A4B"/>
              </a:solidFill>
              <a:latin typeface="Calibri"/>
              <a:ea typeface="Calibri"/>
              <a:cs typeface="Calibri"/>
            </a:endParaRPr>
          </a:p>
        </p:txBody>
      </p:sp>
      <p:sp>
        <p:nvSpPr>
          <p:cNvPr id="30" name="Text 28">
            <a:extLst>
              <a:ext uri="{FF2B5EF4-FFF2-40B4-BE49-F238E27FC236}">
                <a16:creationId xmlns:a16="http://schemas.microsoft.com/office/drawing/2014/main" id="{C1B0C357-D3DD-4F8D-8AD0-E73B76E69D02}"/>
              </a:ext>
            </a:extLst>
          </p:cNvPr>
          <p:cNvSpPr>
            <a:spLocks noGrp="1"/>
          </p:cNvSpPr>
          <p:nvPr/>
        </p:nvSpPr>
        <p:spPr>
          <a:xfrm>
            <a:off x="548640" y="4480560"/>
            <a:ext cx="11094415" cy="292608"/>
          </a:xfrm>
          <a:prstGeom prst="rect">
            <a:avLst/>
          </a:prstGeom>
          <a:noFill/>
        </p:spPr>
        <p:txBody>
          <a:bodyPr wrap="square" lIns="0" tIns="0" rIns="0" bIns="0" anchor="ctr"/>
          <a:lstStyle/>
          <a:p>
            <a:pPr marL="0" indent="0" algn="ctr">
              <a:buNone/>
            </a:pPr>
            <a:r>
              <a:rPr lang="en-US" sz="950" b="1">
                <a:solidFill>
                  <a:srgbClr val="F26A4B"/>
                </a:solidFill>
                <a:latin typeface="Calibri"/>
                <a:ea typeface="Calibri"/>
                <a:cs typeface="Calibri"/>
              </a:rPr>
              <a:t>BASE + AMENDMENTS → RESOLVED CURRENT TERMS</a:t>
            </a:r>
            <a:endParaRPr sz="950" b="1">
              <a:solidFill>
                <a:srgbClr val="F26A4B"/>
              </a:solidFill>
              <a:latin typeface="Calibri"/>
              <a:ea typeface="Calibri"/>
              <a:cs typeface="Calibri"/>
            </a:endParaRPr>
          </a:p>
        </p:txBody>
      </p:sp>
      <p:sp>
        <p:nvSpPr>
          <p:cNvPr id="31" name="Text 29">
            <a:extLst>
              <a:ext uri="{FF2B5EF4-FFF2-40B4-BE49-F238E27FC236}">
                <a16:creationId xmlns:a16="http://schemas.microsoft.com/office/drawing/2014/main" id="{06C7AAF4-24ED-4AE3-B06F-4B555BAA8B08}"/>
              </a:ext>
            </a:extLst>
          </p:cNvPr>
          <p:cNvSpPr>
            <a:spLocks noGrp="1"/>
          </p:cNvSpPr>
          <p:nvPr/>
        </p:nvSpPr>
        <p:spPr>
          <a:xfrm>
            <a:off x="548640" y="4846320"/>
            <a:ext cx="5486400" cy="256032"/>
          </a:xfrm>
          <a:prstGeom prst="rect">
            <a:avLst/>
          </a:prstGeom>
          <a:noFill/>
        </p:spPr>
        <p:txBody>
          <a:bodyPr wrap="square" lIns="0" tIns="0" rIns="0" bIns="0" anchor="ctr"/>
          <a:lstStyle/>
          <a:p>
            <a:pPr marL="0" indent="0">
              <a:buNone/>
            </a:pPr>
            <a:r>
              <a:rPr sz="950" b="1">
                <a:solidFill>
                  <a:srgbClr val="14B8A6"/>
                </a:solidFill>
                <a:latin typeface="Calibri"/>
                <a:ea typeface="Calibri"/>
                <a:cs typeface="Calibri"/>
              </a:rPr>
              <a:t>AMENDMENT SCOPE TYPES</a:t>
            </a:r>
          </a:p>
        </p:txBody>
      </p:sp>
      <p:sp>
        <p:nvSpPr>
          <p:cNvPr id="32" name="Shape 30">
            <a:extLst>
              <a:ext uri="{FF2B5EF4-FFF2-40B4-BE49-F238E27FC236}">
                <a16:creationId xmlns:a16="http://schemas.microsoft.com/office/drawing/2014/main" id="{A37D58A7-E7C6-4D2B-8B18-C26FC0DEDE6A}"/>
              </a:ext>
            </a:extLst>
          </p:cNvPr>
          <p:cNvSpPr>
            <a:spLocks noGrp="1"/>
          </p:cNvSpPr>
          <p:nvPr/>
        </p:nvSpPr>
        <p:spPr>
          <a:xfrm>
            <a:off x="548640" y="5166360"/>
            <a:ext cx="1938528" cy="1024128"/>
          </a:xfrm>
          <a:prstGeom prst="rect">
            <a:avLst/>
          </a:prstGeom>
          <a:solidFill>
            <a:srgbClr val="F8FAFC"/>
          </a:solidFill>
          <a:effectLst>
            <a:outerShdw blurRad="101600" dist="25400" dir="8100000" algn="bl" rotWithShape="0">
              <a:srgbClr val="1E293B">
                <a:alpha val="11000"/>
              </a:srgbClr>
            </a:outerShdw>
          </a:effectLst>
        </p:spPr>
        <p:txBody>
          <a:bodyPr/>
          <a:lstStyle/>
          <a:p>
            <a:endParaRPr/>
          </a:p>
        </p:txBody>
      </p:sp>
      <p:sp>
        <p:nvSpPr>
          <p:cNvPr id="33" name="Shape 31">
            <a:extLst>
              <a:ext uri="{FF2B5EF4-FFF2-40B4-BE49-F238E27FC236}">
                <a16:creationId xmlns:a16="http://schemas.microsoft.com/office/drawing/2014/main" id="{CF28A657-E743-42D6-9C4F-A2F3257EEAB0}"/>
              </a:ext>
            </a:extLst>
          </p:cNvPr>
          <p:cNvSpPr>
            <a:spLocks noGrp="1"/>
          </p:cNvSpPr>
          <p:nvPr/>
        </p:nvSpPr>
        <p:spPr>
          <a:xfrm>
            <a:off x="548640" y="5166360"/>
            <a:ext cx="82296" cy="1024128"/>
          </a:xfrm>
          <a:prstGeom prst="rect">
            <a:avLst/>
          </a:prstGeom>
          <a:solidFill>
            <a:srgbClr val="14B8A6"/>
          </a:solidFill>
        </p:spPr>
        <p:txBody>
          <a:bodyPr/>
          <a:lstStyle/>
          <a:p>
            <a:endParaRPr/>
          </a:p>
        </p:txBody>
      </p:sp>
      <p:sp>
        <p:nvSpPr>
          <p:cNvPr id="34" name="Text 32">
            <a:extLst>
              <a:ext uri="{FF2B5EF4-FFF2-40B4-BE49-F238E27FC236}">
                <a16:creationId xmlns:a16="http://schemas.microsoft.com/office/drawing/2014/main" id="{AA98BD5E-7ECD-49CF-B47D-18DF5AC96C5E}"/>
              </a:ext>
            </a:extLst>
          </p:cNvPr>
          <p:cNvSpPr>
            <a:spLocks noGrp="1"/>
          </p:cNvSpPr>
          <p:nvPr/>
        </p:nvSpPr>
        <p:spPr>
          <a:xfrm>
            <a:off x="768096" y="5321808"/>
            <a:ext cx="1591056" cy="347472"/>
          </a:xfrm>
          <a:prstGeom prst="rect">
            <a:avLst/>
          </a:prstGeom>
          <a:noFill/>
        </p:spPr>
        <p:txBody>
          <a:bodyPr wrap="square" lIns="0" tIns="0" rIns="0" bIns="0" anchor="ctr"/>
          <a:lstStyle/>
          <a:p>
            <a:pPr marL="0" indent="0">
              <a:buNone/>
            </a:pPr>
            <a:r>
              <a:rPr sz="1250" b="1">
                <a:solidFill>
                  <a:srgbClr val="0B1B2E"/>
                </a:solidFill>
                <a:latin typeface="Calibri"/>
                <a:ea typeface="Calibri"/>
                <a:cs typeface="Calibri"/>
              </a:rPr>
              <a:t>Full replacement</a:t>
            </a:r>
          </a:p>
        </p:txBody>
      </p:sp>
      <p:sp>
        <p:nvSpPr>
          <p:cNvPr id="35" name="Text 33">
            <a:extLst>
              <a:ext uri="{FF2B5EF4-FFF2-40B4-BE49-F238E27FC236}">
                <a16:creationId xmlns:a16="http://schemas.microsoft.com/office/drawing/2014/main" id="{D0FBD735-4F96-4B15-8648-3FC8B421B030}"/>
              </a:ext>
            </a:extLst>
          </p:cNvPr>
          <p:cNvSpPr>
            <a:spLocks noGrp="1"/>
          </p:cNvSpPr>
          <p:nvPr/>
        </p:nvSpPr>
        <p:spPr>
          <a:xfrm>
            <a:off x="768096" y="5687568"/>
            <a:ext cx="1591056" cy="438912"/>
          </a:xfrm>
          <a:prstGeom prst="rect">
            <a:avLst/>
          </a:prstGeom>
          <a:noFill/>
        </p:spPr>
        <p:txBody>
          <a:bodyPr wrap="square" lIns="0" tIns="0" rIns="0" bIns="0" anchor="ctr"/>
          <a:lstStyle/>
          <a:p>
            <a:pPr marL="0" indent="0">
              <a:lnSpc>
                <a:spcPts val="1400"/>
              </a:lnSpc>
              <a:buNone/>
            </a:pPr>
            <a:r>
              <a:rPr sz="1050">
                <a:solidFill>
                  <a:srgbClr val="64748B"/>
                </a:solidFill>
                <a:latin typeface="Calibri"/>
                <a:ea typeface="Calibri"/>
                <a:cs typeface="Calibri"/>
              </a:rPr>
              <a:t>Replaces an earlier rate schedule or section</a:t>
            </a:r>
          </a:p>
        </p:txBody>
      </p:sp>
      <p:sp>
        <p:nvSpPr>
          <p:cNvPr id="36" name="Shape 34">
            <a:extLst>
              <a:ext uri="{FF2B5EF4-FFF2-40B4-BE49-F238E27FC236}">
                <a16:creationId xmlns:a16="http://schemas.microsoft.com/office/drawing/2014/main" id="{D11217A9-3234-4C8F-82D4-485B6F760324}"/>
              </a:ext>
            </a:extLst>
          </p:cNvPr>
          <p:cNvSpPr>
            <a:spLocks noGrp="1"/>
          </p:cNvSpPr>
          <p:nvPr/>
        </p:nvSpPr>
        <p:spPr>
          <a:xfrm>
            <a:off x="2651760" y="5166360"/>
            <a:ext cx="1938528" cy="1024128"/>
          </a:xfrm>
          <a:prstGeom prst="rect">
            <a:avLst/>
          </a:prstGeom>
          <a:solidFill>
            <a:srgbClr val="F8FAFC"/>
          </a:solidFill>
          <a:effectLst>
            <a:outerShdw blurRad="101600" dist="25400" dir="8100000" algn="bl" rotWithShape="0">
              <a:srgbClr val="1E293B">
                <a:alpha val="11000"/>
              </a:srgbClr>
            </a:outerShdw>
          </a:effectLst>
        </p:spPr>
        <p:txBody>
          <a:bodyPr/>
          <a:lstStyle/>
          <a:p>
            <a:endParaRPr/>
          </a:p>
        </p:txBody>
      </p:sp>
      <p:sp>
        <p:nvSpPr>
          <p:cNvPr id="37" name="Shape 35">
            <a:extLst>
              <a:ext uri="{FF2B5EF4-FFF2-40B4-BE49-F238E27FC236}">
                <a16:creationId xmlns:a16="http://schemas.microsoft.com/office/drawing/2014/main" id="{3C6847E1-2F5F-4B25-8B7D-4C9BBCF93C4D}"/>
              </a:ext>
            </a:extLst>
          </p:cNvPr>
          <p:cNvSpPr>
            <a:spLocks noGrp="1"/>
          </p:cNvSpPr>
          <p:nvPr/>
        </p:nvSpPr>
        <p:spPr>
          <a:xfrm>
            <a:off x="2651760" y="5166360"/>
            <a:ext cx="82296" cy="1024128"/>
          </a:xfrm>
          <a:prstGeom prst="rect">
            <a:avLst/>
          </a:prstGeom>
          <a:solidFill>
            <a:srgbClr val="14B8A6"/>
          </a:solidFill>
        </p:spPr>
        <p:txBody>
          <a:bodyPr/>
          <a:lstStyle/>
          <a:p>
            <a:endParaRPr/>
          </a:p>
        </p:txBody>
      </p:sp>
      <p:sp>
        <p:nvSpPr>
          <p:cNvPr id="38" name="Text 36">
            <a:extLst>
              <a:ext uri="{FF2B5EF4-FFF2-40B4-BE49-F238E27FC236}">
                <a16:creationId xmlns:a16="http://schemas.microsoft.com/office/drawing/2014/main" id="{29622F47-1493-4B27-96CF-B2BECA4BD221}"/>
              </a:ext>
            </a:extLst>
          </p:cNvPr>
          <p:cNvSpPr>
            <a:spLocks noGrp="1"/>
          </p:cNvSpPr>
          <p:nvPr/>
        </p:nvSpPr>
        <p:spPr>
          <a:xfrm>
            <a:off x="2871216" y="5321808"/>
            <a:ext cx="1591056" cy="347472"/>
          </a:xfrm>
          <a:prstGeom prst="rect">
            <a:avLst/>
          </a:prstGeom>
          <a:noFill/>
        </p:spPr>
        <p:txBody>
          <a:bodyPr wrap="square" lIns="0" tIns="0" rIns="0" bIns="0" anchor="ctr"/>
          <a:lstStyle/>
          <a:p>
            <a:pPr marL="0" indent="0">
              <a:buNone/>
            </a:pPr>
            <a:r>
              <a:rPr sz="1250" b="1">
                <a:solidFill>
                  <a:srgbClr val="0B1B2E"/>
                </a:solidFill>
                <a:latin typeface="Calibri"/>
                <a:ea typeface="Calibri"/>
                <a:cs typeface="Calibri"/>
              </a:rPr>
              <a:t>Targeted change</a:t>
            </a:r>
          </a:p>
        </p:txBody>
      </p:sp>
      <p:sp>
        <p:nvSpPr>
          <p:cNvPr id="39" name="Text 37">
            <a:extLst>
              <a:ext uri="{FF2B5EF4-FFF2-40B4-BE49-F238E27FC236}">
                <a16:creationId xmlns:a16="http://schemas.microsoft.com/office/drawing/2014/main" id="{2E94E9EC-4751-4AFE-A99B-87F0E50E2381}"/>
              </a:ext>
            </a:extLst>
          </p:cNvPr>
          <p:cNvSpPr>
            <a:spLocks noGrp="1"/>
          </p:cNvSpPr>
          <p:nvPr/>
        </p:nvSpPr>
        <p:spPr>
          <a:xfrm>
            <a:off x="2871216" y="5687568"/>
            <a:ext cx="1591056" cy="438912"/>
          </a:xfrm>
          <a:prstGeom prst="rect">
            <a:avLst/>
          </a:prstGeom>
          <a:noFill/>
        </p:spPr>
        <p:txBody>
          <a:bodyPr wrap="square" lIns="0" tIns="0" rIns="0" bIns="0" anchor="ctr"/>
          <a:lstStyle/>
          <a:p>
            <a:pPr marL="0" indent="0">
              <a:lnSpc>
                <a:spcPts val="1400"/>
              </a:lnSpc>
              <a:buNone/>
            </a:pPr>
            <a:r>
              <a:rPr sz="1050">
                <a:solidFill>
                  <a:srgbClr val="64748B"/>
                </a:solidFill>
                <a:latin typeface="Calibri"/>
                <a:ea typeface="Calibri"/>
                <a:cs typeface="Calibri"/>
              </a:rPr>
              <a:t>Updates only identified terms or lines</a:t>
            </a:r>
          </a:p>
        </p:txBody>
      </p:sp>
      <p:sp>
        <p:nvSpPr>
          <p:cNvPr id="40" name="Shape 38">
            <a:extLst>
              <a:ext uri="{FF2B5EF4-FFF2-40B4-BE49-F238E27FC236}">
                <a16:creationId xmlns:a16="http://schemas.microsoft.com/office/drawing/2014/main" id="{8FA3F905-56F0-4DAB-96D5-A7EC7C1CE90F}"/>
              </a:ext>
            </a:extLst>
          </p:cNvPr>
          <p:cNvSpPr>
            <a:spLocks noGrp="1"/>
          </p:cNvSpPr>
          <p:nvPr/>
        </p:nvSpPr>
        <p:spPr>
          <a:xfrm>
            <a:off x="4754880" y="5166360"/>
            <a:ext cx="1938528" cy="1024128"/>
          </a:xfrm>
          <a:prstGeom prst="rect">
            <a:avLst/>
          </a:prstGeom>
          <a:solidFill>
            <a:srgbClr val="F8FAFC"/>
          </a:solidFill>
          <a:effectLst>
            <a:outerShdw blurRad="101600" dist="25400" dir="8100000" algn="bl" rotWithShape="0">
              <a:srgbClr val="1E293B">
                <a:alpha val="11000"/>
              </a:srgbClr>
            </a:outerShdw>
          </a:effectLst>
        </p:spPr>
        <p:txBody>
          <a:bodyPr/>
          <a:lstStyle/>
          <a:p>
            <a:endParaRPr/>
          </a:p>
        </p:txBody>
      </p:sp>
      <p:sp>
        <p:nvSpPr>
          <p:cNvPr id="41" name="Shape 39">
            <a:extLst>
              <a:ext uri="{FF2B5EF4-FFF2-40B4-BE49-F238E27FC236}">
                <a16:creationId xmlns:a16="http://schemas.microsoft.com/office/drawing/2014/main" id="{84098B86-E842-4656-AA19-65E4ED446888}"/>
              </a:ext>
            </a:extLst>
          </p:cNvPr>
          <p:cNvSpPr>
            <a:spLocks noGrp="1"/>
          </p:cNvSpPr>
          <p:nvPr/>
        </p:nvSpPr>
        <p:spPr>
          <a:xfrm>
            <a:off x="4754880" y="5166360"/>
            <a:ext cx="82296" cy="1024128"/>
          </a:xfrm>
          <a:prstGeom prst="rect">
            <a:avLst/>
          </a:prstGeom>
          <a:solidFill>
            <a:srgbClr val="14B8A6"/>
          </a:solidFill>
        </p:spPr>
        <p:txBody>
          <a:bodyPr/>
          <a:lstStyle/>
          <a:p>
            <a:endParaRPr/>
          </a:p>
        </p:txBody>
      </p:sp>
      <p:sp>
        <p:nvSpPr>
          <p:cNvPr id="42" name="Text 40">
            <a:extLst>
              <a:ext uri="{FF2B5EF4-FFF2-40B4-BE49-F238E27FC236}">
                <a16:creationId xmlns:a16="http://schemas.microsoft.com/office/drawing/2014/main" id="{4A8D699C-DD40-4950-B5ED-BD3352469771}"/>
              </a:ext>
            </a:extLst>
          </p:cNvPr>
          <p:cNvSpPr>
            <a:spLocks noGrp="1"/>
          </p:cNvSpPr>
          <p:nvPr/>
        </p:nvSpPr>
        <p:spPr>
          <a:xfrm>
            <a:off x="4974336" y="5321808"/>
            <a:ext cx="1591056" cy="347472"/>
          </a:xfrm>
          <a:prstGeom prst="rect">
            <a:avLst/>
          </a:prstGeom>
          <a:noFill/>
        </p:spPr>
        <p:txBody>
          <a:bodyPr wrap="square" lIns="0" tIns="0" rIns="0" bIns="0" anchor="ctr"/>
          <a:lstStyle/>
          <a:p>
            <a:pPr marL="0" indent="0">
              <a:buNone/>
            </a:pPr>
            <a:r>
              <a:rPr sz="1250" b="1">
                <a:solidFill>
                  <a:srgbClr val="0B1B2E"/>
                </a:solidFill>
                <a:latin typeface="Calibri"/>
                <a:ea typeface="Calibri"/>
                <a:cs typeface="Calibri"/>
              </a:rPr>
              <a:t>Term extension</a:t>
            </a:r>
          </a:p>
        </p:txBody>
      </p:sp>
      <p:sp>
        <p:nvSpPr>
          <p:cNvPr id="43" name="Text 41">
            <a:extLst>
              <a:ext uri="{FF2B5EF4-FFF2-40B4-BE49-F238E27FC236}">
                <a16:creationId xmlns:a16="http://schemas.microsoft.com/office/drawing/2014/main" id="{D2C24F57-2420-41B7-940C-D28FA7CEF71D}"/>
              </a:ext>
            </a:extLst>
          </p:cNvPr>
          <p:cNvSpPr>
            <a:spLocks noGrp="1"/>
          </p:cNvSpPr>
          <p:nvPr/>
        </p:nvSpPr>
        <p:spPr>
          <a:xfrm>
            <a:off x="4974336" y="5687568"/>
            <a:ext cx="1591056" cy="438912"/>
          </a:xfrm>
          <a:prstGeom prst="rect">
            <a:avLst/>
          </a:prstGeom>
          <a:noFill/>
        </p:spPr>
        <p:txBody>
          <a:bodyPr wrap="square" lIns="0" tIns="0" rIns="0" bIns="0" anchor="ctr"/>
          <a:lstStyle/>
          <a:p>
            <a:pPr marL="0" indent="0">
              <a:lnSpc>
                <a:spcPts val="1400"/>
              </a:lnSpc>
              <a:buNone/>
            </a:pPr>
            <a:r>
              <a:rPr sz="1050">
                <a:solidFill>
                  <a:srgbClr val="64748B"/>
                </a:solidFill>
                <a:latin typeface="Calibri"/>
                <a:ea typeface="Calibri"/>
                <a:cs typeface="Calibri"/>
              </a:rPr>
              <a:t>Extends a period while retaining applicable terms</a:t>
            </a:r>
          </a:p>
        </p:txBody>
      </p:sp>
      <p:sp>
        <p:nvSpPr>
          <p:cNvPr id="44" name="Shape 42">
            <a:extLst>
              <a:ext uri="{FF2B5EF4-FFF2-40B4-BE49-F238E27FC236}">
                <a16:creationId xmlns:a16="http://schemas.microsoft.com/office/drawing/2014/main" id="{F40BB9C5-4FBA-4F2A-88EA-C92CA24C5B60}"/>
              </a:ext>
            </a:extLst>
          </p:cNvPr>
          <p:cNvSpPr>
            <a:spLocks noGrp="1"/>
          </p:cNvSpPr>
          <p:nvPr/>
        </p:nvSpPr>
        <p:spPr>
          <a:xfrm>
            <a:off x="7516368" y="4846320"/>
            <a:ext cx="4126687" cy="1344168"/>
          </a:xfrm>
          <a:prstGeom prst="rect">
            <a:avLst/>
          </a:prstGeom>
          <a:solidFill>
            <a:srgbClr val="0B1B2E"/>
          </a:solidFill>
          <a:effectLst>
            <a:outerShdw blurRad="177800" dist="50800" dir="8100000" algn="bl" rotWithShape="0">
              <a:srgbClr val="000000">
                <a:alpha val="22000"/>
              </a:srgbClr>
            </a:outerShdw>
          </a:effectLst>
        </p:spPr>
        <p:txBody>
          <a:bodyPr/>
          <a:lstStyle/>
          <a:p>
            <a:endParaRPr/>
          </a:p>
        </p:txBody>
      </p:sp>
      <p:sp>
        <p:nvSpPr>
          <p:cNvPr id="45" name="Shape 43">
            <a:extLst>
              <a:ext uri="{FF2B5EF4-FFF2-40B4-BE49-F238E27FC236}">
                <a16:creationId xmlns:a16="http://schemas.microsoft.com/office/drawing/2014/main" id="{36B0CFE3-9076-46B0-B14E-D0A6881DA766}"/>
              </a:ext>
            </a:extLst>
          </p:cNvPr>
          <p:cNvSpPr>
            <a:spLocks noGrp="1"/>
          </p:cNvSpPr>
          <p:nvPr/>
        </p:nvSpPr>
        <p:spPr>
          <a:xfrm>
            <a:off x="7516368" y="4846320"/>
            <a:ext cx="82296" cy="1344168"/>
          </a:xfrm>
          <a:prstGeom prst="rect">
            <a:avLst/>
          </a:prstGeom>
          <a:solidFill>
            <a:srgbClr val="F26A4B"/>
          </a:solidFill>
        </p:spPr>
        <p:txBody>
          <a:bodyPr/>
          <a:lstStyle/>
          <a:p>
            <a:endParaRPr/>
          </a:p>
        </p:txBody>
      </p:sp>
      <p:sp>
        <p:nvSpPr>
          <p:cNvPr id="46" name="Text 44">
            <a:extLst>
              <a:ext uri="{FF2B5EF4-FFF2-40B4-BE49-F238E27FC236}">
                <a16:creationId xmlns:a16="http://schemas.microsoft.com/office/drawing/2014/main" id="{D637DF0E-BF59-4B57-B1C1-FCA0FBDEBF13}"/>
              </a:ext>
            </a:extLst>
          </p:cNvPr>
          <p:cNvSpPr>
            <a:spLocks noGrp="1"/>
          </p:cNvSpPr>
          <p:nvPr/>
        </p:nvSpPr>
        <p:spPr>
          <a:xfrm>
            <a:off x="7772400" y="4983480"/>
            <a:ext cx="3742639" cy="1133856"/>
          </a:xfrm>
          <a:prstGeom prst="rect">
            <a:avLst/>
          </a:prstGeom>
          <a:noFill/>
        </p:spPr>
        <p:txBody>
          <a:bodyPr wrap="square" lIns="0" tIns="0" rIns="0" bIns="0" anchor="t"/>
          <a:lstStyle/>
          <a:p>
            <a:pPr marL="0" indent="0">
              <a:lnSpc>
                <a:spcPts val="1600"/>
              </a:lnSpc>
              <a:buNone/>
            </a:pPr>
            <a:r>
              <a:rPr sz="1100" b="1">
                <a:solidFill>
                  <a:srgbClr val="F26A4B"/>
                </a:solidFill>
                <a:latin typeface="Calibri"/>
                <a:ea typeface="Calibri"/>
                <a:cs typeface="Calibri"/>
              </a:rPr>
              <a:t>Why it matters
</a:t>
            </a:r>
          </a:p>
          <a:p>
            <a:pPr marL="0" indent="0">
              <a:lnSpc>
                <a:spcPts val="1600"/>
              </a:lnSpc>
              <a:buNone/>
            </a:pPr>
            <a:r>
              <a:rPr sz="1100">
                <a:solidFill>
                  <a:srgbClr val="FFFFFF"/>
                </a:solidFill>
                <a:latin typeface="Calibri"/>
                <a:ea typeface="Calibri"/>
                <a:cs typeface="Calibri"/>
              </a:rPr>
              <a:t>Citing a superseded rate in a negotiation is a real financial and relationship risk. Scope-aware supersession makes the current state automatic and auditable.</a:t>
            </a:r>
          </a:p>
        </p:txBody>
      </p:sp>
      <p:sp>
        <p:nvSpPr>
          <p:cNvPr id="47" name="Text 45">
            <a:extLst>
              <a:ext uri="{FF2B5EF4-FFF2-40B4-BE49-F238E27FC236}">
                <a16:creationId xmlns:a16="http://schemas.microsoft.com/office/drawing/2014/main" id="{AF2A0167-18E2-4B98-93F9-4008C2697CB0}"/>
              </a:ext>
            </a:extLst>
          </p:cNvPr>
          <p:cNvSpPr>
            <a:spLocks noGrp="1"/>
          </p:cNvSpPr>
          <p:nvPr/>
        </p:nvSpPr>
        <p:spPr>
          <a:xfrm>
            <a:off x="548640" y="6473952"/>
            <a:ext cx="8229600" cy="256032"/>
          </a:xfrm>
          <a:prstGeom prst="rect">
            <a:avLst/>
          </a:prstGeom>
          <a:noFill/>
        </p:spPr>
        <p:txBody>
          <a:bodyPr wrap="square" lIns="0" tIns="0" rIns="0" bIns="0" anchor="ctr"/>
          <a:lstStyle/>
          <a:p>
            <a:pPr marL="0" indent="0">
              <a:buNone/>
            </a:pPr>
            <a:r>
              <a:rPr sz="800" b="1">
                <a:solidFill>
                  <a:srgbClr val="64748B"/>
                </a:solidFill>
                <a:latin typeface="Calibri"/>
                <a:ea typeface="Calibri"/>
                <a:cs typeface="Calibri"/>
              </a:rPr>
              <a:t>Contract Intelligence Platform  ·  Confidential — Internal</a:t>
            </a:r>
          </a:p>
        </p:txBody>
      </p:sp>
      <p:sp>
        <p:nvSpPr>
          <p:cNvPr id="48" name="Text 46">
            <a:extLst>
              <a:ext uri="{FF2B5EF4-FFF2-40B4-BE49-F238E27FC236}">
                <a16:creationId xmlns:a16="http://schemas.microsoft.com/office/drawing/2014/main" id="{1775F370-A62E-485B-ABDC-45A992E2413E}"/>
              </a:ext>
            </a:extLst>
          </p:cNvPr>
          <p:cNvSpPr>
            <a:spLocks noGrp="1"/>
          </p:cNvSpPr>
          <p:nvPr/>
        </p:nvSpPr>
        <p:spPr>
          <a:xfrm>
            <a:off x="10728655" y="6473952"/>
            <a:ext cx="914400" cy="256032"/>
          </a:xfrm>
          <a:prstGeom prst="rect">
            <a:avLst/>
          </a:prstGeom>
          <a:noFill/>
        </p:spPr>
        <p:txBody>
          <a:bodyPr wrap="square" lIns="0" tIns="0" rIns="0" bIns="0" anchor="ctr"/>
          <a:lstStyle/>
          <a:p>
            <a:pPr marL="0" indent="0" algn="r">
              <a:buNone/>
            </a:pPr>
            <a:r>
              <a:rPr sz="900">
                <a:solidFill>
                  <a:srgbClr val="64748B"/>
                </a:solidFill>
                <a:latin typeface="Calibri"/>
                <a:ea typeface="Calibri"/>
                <a:cs typeface="Calibri"/>
              </a:rPr>
              <a:t>09</a:t>
            </a:r>
          </a:p>
        </p:txBody>
      </p:sp>
    </p:spTree>
    <p:extLst>
      <p:ext uri="{BB962C8B-B14F-4D97-AF65-F5344CB8AC3E}">
        <p14:creationId xmlns:p14="http://schemas.microsoft.com/office/powerpoint/2010/main" val="211536393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A6A42599-8B7E-409E-9C6D-9B753DBEC9C5}"/>
              </a:ext>
            </a:extLst>
          </p:cNvPr>
          <p:cNvSpPr>
            <a:spLocks noGrp="1"/>
          </p:cNvSpPr>
          <p:nvPr/>
        </p:nvSpPr>
        <p:spPr>
          <a:xfrm>
            <a:off x="548640" y="457200"/>
            <a:ext cx="11094415" cy="256032"/>
          </a:xfrm>
          <a:prstGeom prst="rect">
            <a:avLst/>
          </a:prstGeom>
          <a:noFill/>
        </p:spPr>
        <p:txBody>
          <a:bodyPr wrap="square" lIns="0" tIns="0" rIns="0" bIns="0" anchor="ctr"/>
          <a:lstStyle/>
          <a:p>
            <a:pPr marL="0" indent="0">
              <a:buNone/>
            </a:pPr>
            <a:r>
              <a:rPr sz="1100" b="1">
                <a:solidFill>
                  <a:srgbClr val="0F766E"/>
                </a:solidFill>
                <a:latin typeface="Calibri"/>
                <a:ea typeface="Calibri"/>
                <a:cs typeface="Calibri"/>
              </a:rPr>
              <a:t>SECTION 09 · THE ANSWER JOURNEY</a:t>
            </a:r>
          </a:p>
        </p:txBody>
      </p:sp>
      <p:sp>
        <p:nvSpPr>
          <p:cNvPr id="3" name="Text 1">
            <a:extLst>
              <a:ext uri="{FF2B5EF4-FFF2-40B4-BE49-F238E27FC236}">
                <a16:creationId xmlns:a16="http://schemas.microsoft.com/office/drawing/2014/main" id="{0FB40407-E598-4032-99D5-AC80D29614BF}"/>
              </a:ext>
            </a:extLst>
          </p:cNvPr>
          <p:cNvSpPr>
            <a:spLocks noGrp="1"/>
          </p:cNvSpPr>
          <p:nvPr/>
        </p:nvSpPr>
        <p:spPr>
          <a:xfrm>
            <a:off x="548640" y="804672"/>
            <a:ext cx="11094466" cy="660400"/>
          </a:xfrm>
          <a:prstGeom prst="rect">
            <a:avLst/>
          </a:prstGeom>
          <a:noFill/>
        </p:spPr>
        <p:txBody>
          <a:bodyPr wrap="square" lIns="0" tIns="0" rIns="0" bIns="0" anchor="t">
            <a:normAutofit fontScale="77500" lnSpcReduction="20000"/>
          </a:bodyPr>
          <a:lstStyle/>
          <a:p>
            <a:pPr marL="0" indent="0">
              <a:lnSpc>
                <a:spcPts val="3080"/>
              </a:lnSpc>
              <a:buNone/>
            </a:pPr>
            <a:r>
              <a:rPr sz="2800" b="1">
                <a:solidFill>
                  <a:srgbClr val="0B1B2E"/>
                </a:solidFill>
                <a:latin typeface="Georgia"/>
                <a:ea typeface="Georgia"/>
                <a:cs typeface="Georgia"/>
              </a:rPr>
              <a:t>The application selects and verifies evidence before it generates an answer</a:t>
            </a:r>
          </a:p>
        </p:txBody>
      </p:sp>
      <p:sp>
        <p:nvSpPr>
          <p:cNvPr id="4" name="Text 2">
            <a:extLst>
              <a:ext uri="{FF2B5EF4-FFF2-40B4-BE49-F238E27FC236}">
                <a16:creationId xmlns:a16="http://schemas.microsoft.com/office/drawing/2014/main" id="{048BDD5B-29D9-48C6-93F6-5F71CAA3D9A6}"/>
              </a:ext>
            </a:extLst>
          </p:cNvPr>
          <p:cNvSpPr>
            <a:spLocks noGrp="1"/>
          </p:cNvSpPr>
          <p:nvPr/>
        </p:nvSpPr>
        <p:spPr>
          <a:xfrm>
            <a:off x="548640" y="1508760"/>
            <a:ext cx="11094415" cy="228600"/>
          </a:xfrm>
          <a:prstGeom prst="rect">
            <a:avLst/>
          </a:prstGeom>
          <a:noFill/>
        </p:spPr>
        <p:txBody>
          <a:bodyPr wrap="square" lIns="0" tIns="0" rIns="0" bIns="0" anchor="ctr"/>
          <a:lstStyle/>
          <a:p>
            <a:pPr marL="0" indent="0">
              <a:buNone/>
            </a:pPr>
            <a:r>
              <a:rPr sz="1250" i="1">
                <a:solidFill>
                  <a:srgbClr val="0F766E"/>
                </a:solidFill>
                <a:latin typeface="Calibri"/>
                <a:ea typeface="Calibri"/>
                <a:cs typeface="Calibri"/>
              </a:rPr>
              <a:t>A question is interpreted, routed to the right evidence, checked for grounding and returned with source context.</a:t>
            </a:r>
          </a:p>
        </p:txBody>
      </p:sp>
      <p:sp>
        <p:nvSpPr>
          <p:cNvPr id="5" name="Shape 3">
            <a:extLst>
              <a:ext uri="{FF2B5EF4-FFF2-40B4-BE49-F238E27FC236}">
                <a16:creationId xmlns:a16="http://schemas.microsoft.com/office/drawing/2014/main" id="{43E1C281-092D-4DB2-B5C6-48119D268470}"/>
              </a:ext>
            </a:extLst>
          </p:cNvPr>
          <p:cNvSpPr>
            <a:spLocks noGrp="1"/>
          </p:cNvSpPr>
          <p:nvPr/>
        </p:nvSpPr>
        <p:spPr>
          <a:xfrm>
            <a:off x="546100" y="1917700"/>
            <a:ext cx="1968500" cy="1041400"/>
          </a:xfrm>
          <a:prstGeom prst="roundRect">
            <a:avLst>
              <a:gd name="adj" fmla="val 6667"/>
            </a:avLst>
          </a:prstGeom>
          <a:solidFill>
            <a:srgbClr val="F8FAFC"/>
          </a:solidFill>
          <a:ln w="12700">
            <a:solidFill>
              <a:srgbClr val="E3E9F0"/>
            </a:solidFill>
            <a:prstDash val="solid"/>
          </a:ln>
          <a:effectLst>
            <a:outerShdw blurRad="101600" dist="25400" dir="8100000" algn="bl" rotWithShape="0">
              <a:srgbClr val="1E293B">
                <a:alpha val="11000"/>
              </a:srgbClr>
            </a:outerShdw>
          </a:effectLst>
        </p:spPr>
        <p:txBody>
          <a:bodyPr/>
          <a:lstStyle/>
          <a:p>
            <a:endParaRPr/>
          </a:p>
        </p:txBody>
      </p:sp>
      <p:sp>
        <p:nvSpPr>
          <p:cNvPr id="6" name="Text 4">
            <a:extLst>
              <a:ext uri="{FF2B5EF4-FFF2-40B4-BE49-F238E27FC236}">
                <a16:creationId xmlns:a16="http://schemas.microsoft.com/office/drawing/2014/main" id="{2B139E0B-3A73-4C83-9DD3-DFC84507A89E}"/>
              </a:ext>
            </a:extLst>
          </p:cNvPr>
          <p:cNvSpPr>
            <a:spLocks noGrp="1"/>
          </p:cNvSpPr>
          <p:nvPr/>
        </p:nvSpPr>
        <p:spPr>
          <a:xfrm>
            <a:off x="647700" y="2044700"/>
            <a:ext cx="1765300" cy="431800"/>
          </a:xfrm>
          <a:prstGeom prst="rect">
            <a:avLst/>
          </a:prstGeom>
          <a:noFill/>
        </p:spPr>
        <p:txBody>
          <a:bodyPr wrap="square" lIns="0" tIns="0" rIns="0" bIns="0" anchor="ctr"/>
          <a:lstStyle/>
          <a:p>
            <a:pPr marL="0" indent="0" algn="ctr">
              <a:lnSpc>
                <a:spcPts val="1250"/>
              </a:lnSpc>
              <a:buNone/>
            </a:pPr>
            <a:r>
              <a:rPr lang="en-IN" sz="1050" b="1">
                <a:solidFill>
                  <a:srgbClr val="0B1B2E"/>
                </a:solidFill>
                <a:latin typeface="Calibri"/>
                <a:ea typeface="Calibri"/>
                <a:cs typeface="Calibri"/>
              </a:rPr>
              <a:t>UNDERSTAND</a:t>
            </a:r>
            <a:endParaRPr sz="1050" b="1">
              <a:solidFill>
                <a:srgbClr val="0B1B2E"/>
              </a:solidFill>
              <a:latin typeface="Calibri"/>
              <a:ea typeface="Calibri"/>
              <a:cs typeface="Calibri"/>
            </a:endParaRPr>
          </a:p>
        </p:txBody>
      </p:sp>
      <p:sp>
        <p:nvSpPr>
          <p:cNvPr id="7" name="Text 5">
            <a:extLst>
              <a:ext uri="{FF2B5EF4-FFF2-40B4-BE49-F238E27FC236}">
                <a16:creationId xmlns:a16="http://schemas.microsoft.com/office/drawing/2014/main" id="{F403C6E6-13AE-44FE-B34B-0A904D305689}"/>
              </a:ext>
            </a:extLst>
          </p:cNvPr>
          <p:cNvSpPr>
            <a:spLocks noGrp="1"/>
          </p:cNvSpPr>
          <p:nvPr/>
        </p:nvSpPr>
        <p:spPr>
          <a:xfrm>
            <a:off x="635000" y="2514600"/>
            <a:ext cx="1790700" cy="355600"/>
          </a:xfrm>
          <a:prstGeom prst="rect">
            <a:avLst/>
          </a:prstGeom>
          <a:noFill/>
        </p:spPr>
        <p:txBody>
          <a:bodyPr wrap="square" lIns="0" tIns="0" rIns="0" bIns="0" anchor="ctr"/>
          <a:lstStyle/>
          <a:p>
            <a:pPr marL="0" indent="0" algn="ctr">
              <a:buNone/>
            </a:pPr>
            <a:r>
              <a:rPr lang="en-IN" sz="850">
                <a:solidFill>
                  <a:srgbClr val="64748B"/>
                </a:solidFill>
                <a:latin typeface="Calibri"/>
                <a:ea typeface="Calibri"/>
                <a:cs typeface="Calibri"/>
              </a:rPr>
              <a:t>Intent and entities</a:t>
            </a:r>
            <a:endParaRPr sz="850">
              <a:solidFill>
                <a:srgbClr val="64748B"/>
              </a:solidFill>
              <a:latin typeface="Calibri"/>
              <a:ea typeface="Calibri"/>
              <a:cs typeface="Calibri"/>
            </a:endParaRPr>
          </a:p>
        </p:txBody>
      </p:sp>
      <p:sp>
        <p:nvSpPr>
          <p:cNvPr id="8" name="Shape 6">
            <a:extLst>
              <a:ext uri="{FF2B5EF4-FFF2-40B4-BE49-F238E27FC236}">
                <a16:creationId xmlns:a16="http://schemas.microsoft.com/office/drawing/2014/main" id="{7D9E9541-13D1-452E-8955-44C15F9F8A25}"/>
              </a:ext>
            </a:extLst>
          </p:cNvPr>
          <p:cNvSpPr>
            <a:spLocks noGrp="1"/>
          </p:cNvSpPr>
          <p:nvPr/>
        </p:nvSpPr>
        <p:spPr>
          <a:xfrm>
            <a:off x="2527300" y="2413000"/>
            <a:ext cx="254000" cy="0"/>
          </a:xfrm>
          <a:prstGeom prst="line">
            <a:avLst/>
          </a:prstGeom>
          <a:noFill/>
          <a:ln w="22860">
            <a:solidFill>
              <a:srgbClr val="0F766E"/>
            </a:solidFill>
            <a:prstDash val="solid"/>
            <a:tailEnd type="triangle"/>
          </a:ln>
        </p:spPr>
        <p:txBody>
          <a:bodyPr/>
          <a:lstStyle/>
          <a:p>
            <a:endParaRPr/>
          </a:p>
        </p:txBody>
      </p:sp>
      <p:sp>
        <p:nvSpPr>
          <p:cNvPr id="9" name="Shape 7">
            <a:extLst>
              <a:ext uri="{FF2B5EF4-FFF2-40B4-BE49-F238E27FC236}">
                <a16:creationId xmlns:a16="http://schemas.microsoft.com/office/drawing/2014/main" id="{1C2FA4AE-0CC3-49CD-B512-4BDF88EF3DA6}"/>
              </a:ext>
            </a:extLst>
          </p:cNvPr>
          <p:cNvSpPr>
            <a:spLocks noGrp="1"/>
          </p:cNvSpPr>
          <p:nvPr/>
        </p:nvSpPr>
        <p:spPr>
          <a:xfrm>
            <a:off x="2794000" y="1917700"/>
            <a:ext cx="1968500" cy="1041400"/>
          </a:xfrm>
          <a:prstGeom prst="roundRect">
            <a:avLst>
              <a:gd name="adj" fmla="val 6667"/>
            </a:avLst>
          </a:prstGeom>
          <a:solidFill>
            <a:srgbClr val="0B1B2E"/>
          </a:solidFill>
          <a:ln w="12700">
            <a:solidFill>
              <a:srgbClr val="0B1B2E"/>
            </a:solidFill>
            <a:prstDash val="solid"/>
          </a:ln>
          <a:effectLst>
            <a:outerShdw blurRad="101600" dist="25400" dir="8100000" algn="bl" rotWithShape="0">
              <a:srgbClr val="1E293B">
                <a:alpha val="11000"/>
              </a:srgbClr>
            </a:outerShdw>
          </a:effectLst>
        </p:spPr>
        <p:txBody>
          <a:bodyPr/>
          <a:lstStyle/>
          <a:p>
            <a:endParaRPr/>
          </a:p>
        </p:txBody>
      </p:sp>
      <p:sp>
        <p:nvSpPr>
          <p:cNvPr id="10" name="Text 8">
            <a:extLst>
              <a:ext uri="{FF2B5EF4-FFF2-40B4-BE49-F238E27FC236}">
                <a16:creationId xmlns:a16="http://schemas.microsoft.com/office/drawing/2014/main" id="{EA83F6C5-E121-4B80-B953-87A348E04692}"/>
              </a:ext>
            </a:extLst>
          </p:cNvPr>
          <p:cNvSpPr>
            <a:spLocks noGrp="1"/>
          </p:cNvSpPr>
          <p:nvPr/>
        </p:nvSpPr>
        <p:spPr>
          <a:xfrm>
            <a:off x="2895600" y="2044700"/>
            <a:ext cx="1765300" cy="431800"/>
          </a:xfrm>
          <a:prstGeom prst="rect">
            <a:avLst/>
          </a:prstGeom>
          <a:noFill/>
        </p:spPr>
        <p:txBody>
          <a:bodyPr wrap="square" lIns="0" tIns="0" rIns="0" bIns="0" anchor="ctr"/>
          <a:lstStyle/>
          <a:p>
            <a:pPr marL="0" indent="0" algn="ctr">
              <a:lnSpc>
                <a:spcPts val="1250"/>
              </a:lnSpc>
              <a:buNone/>
            </a:pPr>
            <a:r>
              <a:rPr lang="en-IN" sz="1050" b="1">
                <a:solidFill>
                  <a:srgbClr val="FFFFFF"/>
                </a:solidFill>
                <a:latin typeface="Calibri"/>
                <a:ea typeface="Calibri"/>
                <a:cs typeface="Calibri"/>
              </a:rPr>
              <a:t>RETRIEVE</a:t>
            </a:r>
            <a:endParaRPr sz="1050" b="1">
              <a:solidFill>
                <a:srgbClr val="FFFFFF"/>
              </a:solidFill>
              <a:latin typeface="Calibri"/>
              <a:ea typeface="Calibri"/>
              <a:cs typeface="Calibri"/>
            </a:endParaRPr>
          </a:p>
        </p:txBody>
      </p:sp>
      <p:sp>
        <p:nvSpPr>
          <p:cNvPr id="11" name="Text 9">
            <a:extLst>
              <a:ext uri="{FF2B5EF4-FFF2-40B4-BE49-F238E27FC236}">
                <a16:creationId xmlns:a16="http://schemas.microsoft.com/office/drawing/2014/main" id="{982D1959-5340-47B7-B369-3EB72536CD3B}"/>
              </a:ext>
            </a:extLst>
          </p:cNvPr>
          <p:cNvSpPr>
            <a:spLocks noGrp="1"/>
          </p:cNvSpPr>
          <p:nvPr/>
        </p:nvSpPr>
        <p:spPr>
          <a:xfrm>
            <a:off x="2882900" y="2514600"/>
            <a:ext cx="1790700" cy="355600"/>
          </a:xfrm>
          <a:prstGeom prst="rect">
            <a:avLst/>
          </a:prstGeom>
          <a:noFill/>
        </p:spPr>
        <p:txBody>
          <a:bodyPr wrap="square" lIns="0" tIns="0" rIns="0" bIns="0" anchor="ctr"/>
          <a:lstStyle/>
          <a:p>
            <a:pPr marL="0" indent="0" algn="ctr">
              <a:buNone/>
            </a:pPr>
            <a:r>
              <a:rPr lang="en-IN" sz="850">
                <a:solidFill>
                  <a:srgbClr val="5EEAD4"/>
                </a:solidFill>
                <a:latin typeface="Calibri"/>
                <a:ea typeface="Calibri"/>
                <a:cs typeface="Calibri"/>
              </a:rPr>
              <a:t>Structured + document evidence</a:t>
            </a:r>
            <a:endParaRPr sz="850">
              <a:solidFill>
                <a:srgbClr val="5EEAD4"/>
              </a:solidFill>
              <a:latin typeface="Calibri"/>
              <a:ea typeface="Calibri"/>
              <a:cs typeface="Calibri"/>
            </a:endParaRPr>
          </a:p>
        </p:txBody>
      </p:sp>
      <p:sp>
        <p:nvSpPr>
          <p:cNvPr id="12" name="Shape 10">
            <a:extLst>
              <a:ext uri="{FF2B5EF4-FFF2-40B4-BE49-F238E27FC236}">
                <a16:creationId xmlns:a16="http://schemas.microsoft.com/office/drawing/2014/main" id="{9A2A0F83-491F-4795-845F-15F1624D94B3}"/>
              </a:ext>
            </a:extLst>
          </p:cNvPr>
          <p:cNvSpPr>
            <a:spLocks noGrp="1"/>
          </p:cNvSpPr>
          <p:nvPr/>
        </p:nvSpPr>
        <p:spPr>
          <a:xfrm>
            <a:off x="4775200" y="2413000"/>
            <a:ext cx="254000" cy="0"/>
          </a:xfrm>
          <a:prstGeom prst="line">
            <a:avLst/>
          </a:prstGeom>
          <a:noFill/>
          <a:ln w="22860">
            <a:solidFill>
              <a:srgbClr val="0F766E"/>
            </a:solidFill>
            <a:prstDash val="solid"/>
            <a:tailEnd type="triangle"/>
          </a:ln>
        </p:spPr>
        <p:txBody>
          <a:bodyPr/>
          <a:lstStyle/>
          <a:p>
            <a:endParaRPr/>
          </a:p>
        </p:txBody>
      </p:sp>
      <p:sp>
        <p:nvSpPr>
          <p:cNvPr id="13" name="Shape 11">
            <a:extLst>
              <a:ext uri="{FF2B5EF4-FFF2-40B4-BE49-F238E27FC236}">
                <a16:creationId xmlns:a16="http://schemas.microsoft.com/office/drawing/2014/main" id="{4420CEE8-1BA6-4581-A62A-62340B38C2B3}"/>
              </a:ext>
            </a:extLst>
          </p:cNvPr>
          <p:cNvSpPr>
            <a:spLocks noGrp="1"/>
          </p:cNvSpPr>
          <p:nvPr/>
        </p:nvSpPr>
        <p:spPr>
          <a:xfrm>
            <a:off x="5041900" y="1917700"/>
            <a:ext cx="1968500" cy="1041400"/>
          </a:xfrm>
          <a:prstGeom prst="roundRect">
            <a:avLst>
              <a:gd name="adj" fmla="val 6667"/>
            </a:avLst>
          </a:prstGeom>
          <a:solidFill>
            <a:srgbClr val="F8FAFC"/>
          </a:solidFill>
          <a:ln w="12700">
            <a:solidFill>
              <a:srgbClr val="E3E9F0"/>
            </a:solidFill>
            <a:prstDash val="solid"/>
          </a:ln>
          <a:effectLst>
            <a:outerShdw blurRad="101600" dist="25400" dir="8100000" algn="bl" rotWithShape="0">
              <a:srgbClr val="1E293B">
                <a:alpha val="11000"/>
              </a:srgbClr>
            </a:outerShdw>
          </a:effectLst>
        </p:spPr>
        <p:txBody>
          <a:bodyPr/>
          <a:lstStyle/>
          <a:p>
            <a:endParaRPr/>
          </a:p>
        </p:txBody>
      </p:sp>
      <p:sp>
        <p:nvSpPr>
          <p:cNvPr id="14" name="Text 12">
            <a:extLst>
              <a:ext uri="{FF2B5EF4-FFF2-40B4-BE49-F238E27FC236}">
                <a16:creationId xmlns:a16="http://schemas.microsoft.com/office/drawing/2014/main" id="{06125D0D-AF0D-460B-9709-56185357DC5D}"/>
              </a:ext>
            </a:extLst>
          </p:cNvPr>
          <p:cNvSpPr>
            <a:spLocks noGrp="1"/>
          </p:cNvSpPr>
          <p:nvPr/>
        </p:nvSpPr>
        <p:spPr>
          <a:xfrm>
            <a:off x="5143500" y="2044700"/>
            <a:ext cx="1765300" cy="431800"/>
          </a:xfrm>
          <a:prstGeom prst="rect">
            <a:avLst/>
          </a:prstGeom>
          <a:noFill/>
        </p:spPr>
        <p:txBody>
          <a:bodyPr wrap="square" lIns="0" tIns="0" rIns="0" bIns="0" anchor="ctr"/>
          <a:lstStyle/>
          <a:p>
            <a:pPr marL="0" indent="0" algn="ctr">
              <a:lnSpc>
                <a:spcPts val="1250"/>
              </a:lnSpc>
              <a:buNone/>
            </a:pPr>
            <a:r>
              <a:rPr lang="en-IN" sz="1050" b="1">
                <a:solidFill>
                  <a:srgbClr val="0B1B2E"/>
                </a:solidFill>
                <a:latin typeface="Calibri"/>
                <a:ea typeface="Calibri"/>
                <a:cs typeface="Calibri"/>
              </a:rPr>
              <a:t>RANK</a:t>
            </a:r>
            <a:endParaRPr sz="1050" b="1">
              <a:solidFill>
                <a:srgbClr val="0B1B2E"/>
              </a:solidFill>
              <a:latin typeface="Calibri"/>
              <a:ea typeface="Calibri"/>
              <a:cs typeface="Calibri"/>
            </a:endParaRPr>
          </a:p>
        </p:txBody>
      </p:sp>
      <p:sp>
        <p:nvSpPr>
          <p:cNvPr id="15" name="Text 13">
            <a:extLst>
              <a:ext uri="{FF2B5EF4-FFF2-40B4-BE49-F238E27FC236}">
                <a16:creationId xmlns:a16="http://schemas.microsoft.com/office/drawing/2014/main" id="{2F414643-37E3-498D-869B-D93EE7356E4C}"/>
              </a:ext>
            </a:extLst>
          </p:cNvPr>
          <p:cNvSpPr>
            <a:spLocks noGrp="1"/>
          </p:cNvSpPr>
          <p:nvPr/>
        </p:nvSpPr>
        <p:spPr>
          <a:xfrm>
            <a:off x="5130800" y="2514600"/>
            <a:ext cx="1790700" cy="355600"/>
          </a:xfrm>
          <a:prstGeom prst="rect">
            <a:avLst/>
          </a:prstGeom>
          <a:noFill/>
        </p:spPr>
        <p:txBody>
          <a:bodyPr wrap="square" lIns="0" tIns="0" rIns="0" bIns="0" anchor="ctr"/>
          <a:lstStyle/>
          <a:p>
            <a:pPr marL="0" indent="0" algn="ctr">
              <a:buNone/>
            </a:pPr>
            <a:r>
              <a:rPr lang="en-IN" sz="850">
                <a:solidFill>
                  <a:srgbClr val="64748B"/>
                </a:solidFill>
                <a:latin typeface="Calibri"/>
                <a:ea typeface="Calibri"/>
                <a:cs typeface="Calibri"/>
              </a:rPr>
              <a:t>Prioritize fit and authority</a:t>
            </a:r>
            <a:endParaRPr sz="850">
              <a:solidFill>
                <a:srgbClr val="64748B"/>
              </a:solidFill>
              <a:latin typeface="Calibri"/>
              <a:ea typeface="Calibri"/>
              <a:cs typeface="Calibri"/>
            </a:endParaRPr>
          </a:p>
        </p:txBody>
      </p:sp>
      <p:sp>
        <p:nvSpPr>
          <p:cNvPr id="16" name="Shape 14">
            <a:extLst>
              <a:ext uri="{FF2B5EF4-FFF2-40B4-BE49-F238E27FC236}">
                <a16:creationId xmlns:a16="http://schemas.microsoft.com/office/drawing/2014/main" id="{ADDE0F7A-9D2C-40C5-AD99-F7C5D6830FE6}"/>
              </a:ext>
            </a:extLst>
          </p:cNvPr>
          <p:cNvSpPr>
            <a:spLocks noGrp="1"/>
          </p:cNvSpPr>
          <p:nvPr/>
        </p:nvSpPr>
        <p:spPr>
          <a:xfrm>
            <a:off x="7023100" y="2413000"/>
            <a:ext cx="254000" cy="0"/>
          </a:xfrm>
          <a:prstGeom prst="line">
            <a:avLst/>
          </a:prstGeom>
          <a:noFill/>
          <a:ln w="22860">
            <a:solidFill>
              <a:srgbClr val="0F766E"/>
            </a:solidFill>
            <a:prstDash val="solid"/>
            <a:tailEnd type="triangle"/>
          </a:ln>
        </p:spPr>
        <p:txBody>
          <a:bodyPr/>
          <a:lstStyle/>
          <a:p>
            <a:endParaRPr/>
          </a:p>
        </p:txBody>
      </p:sp>
      <p:sp>
        <p:nvSpPr>
          <p:cNvPr id="17" name="Shape 15">
            <a:extLst>
              <a:ext uri="{FF2B5EF4-FFF2-40B4-BE49-F238E27FC236}">
                <a16:creationId xmlns:a16="http://schemas.microsoft.com/office/drawing/2014/main" id="{6071807A-2E6D-4F3B-AA42-4D85F0BA35F7}"/>
              </a:ext>
            </a:extLst>
          </p:cNvPr>
          <p:cNvSpPr>
            <a:spLocks noGrp="1"/>
          </p:cNvSpPr>
          <p:nvPr/>
        </p:nvSpPr>
        <p:spPr>
          <a:xfrm>
            <a:off x="7289800" y="1917700"/>
            <a:ext cx="1968500" cy="1041400"/>
          </a:xfrm>
          <a:prstGeom prst="roundRect">
            <a:avLst>
              <a:gd name="adj" fmla="val 6667"/>
            </a:avLst>
          </a:prstGeom>
          <a:solidFill>
            <a:srgbClr val="F8FAFC"/>
          </a:solidFill>
          <a:ln w="12700">
            <a:solidFill>
              <a:srgbClr val="E3E9F0"/>
            </a:solidFill>
            <a:prstDash val="solid"/>
          </a:ln>
          <a:effectLst>
            <a:outerShdw blurRad="101600" dist="25400" dir="8100000" algn="bl" rotWithShape="0">
              <a:srgbClr val="1E293B">
                <a:alpha val="11000"/>
              </a:srgbClr>
            </a:outerShdw>
          </a:effectLst>
        </p:spPr>
        <p:txBody>
          <a:bodyPr/>
          <a:lstStyle/>
          <a:p>
            <a:endParaRPr/>
          </a:p>
        </p:txBody>
      </p:sp>
      <p:sp>
        <p:nvSpPr>
          <p:cNvPr id="18" name="Text 16">
            <a:extLst>
              <a:ext uri="{FF2B5EF4-FFF2-40B4-BE49-F238E27FC236}">
                <a16:creationId xmlns:a16="http://schemas.microsoft.com/office/drawing/2014/main" id="{C31C3F4D-1236-4075-939C-6652E5A35E01}"/>
              </a:ext>
            </a:extLst>
          </p:cNvPr>
          <p:cNvSpPr>
            <a:spLocks noGrp="1"/>
          </p:cNvSpPr>
          <p:nvPr/>
        </p:nvSpPr>
        <p:spPr>
          <a:xfrm>
            <a:off x="7391400" y="2044700"/>
            <a:ext cx="1765300" cy="431800"/>
          </a:xfrm>
          <a:prstGeom prst="rect">
            <a:avLst/>
          </a:prstGeom>
          <a:noFill/>
        </p:spPr>
        <p:txBody>
          <a:bodyPr wrap="square" lIns="0" tIns="0" rIns="0" bIns="0" anchor="ctr"/>
          <a:lstStyle/>
          <a:p>
            <a:pPr marL="0" indent="0" algn="ctr">
              <a:lnSpc>
                <a:spcPts val="1250"/>
              </a:lnSpc>
              <a:buNone/>
            </a:pPr>
            <a:r>
              <a:rPr lang="en-IN" sz="1050" b="1">
                <a:solidFill>
                  <a:srgbClr val="0B1B2E"/>
                </a:solidFill>
                <a:latin typeface="Calibri"/>
                <a:ea typeface="Calibri"/>
                <a:cs typeface="Calibri"/>
              </a:rPr>
              <a:t>VALIDATE</a:t>
            </a:r>
            <a:endParaRPr sz="1050" b="1">
              <a:solidFill>
                <a:srgbClr val="0B1B2E"/>
              </a:solidFill>
              <a:latin typeface="Calibri"/>
              <a:ea typeface="Calibri"/>
              <a:cs typeface="Calibri"/>
            </a:endParaRPr>
          </a:p>
        </p:txBody>
      </p:sp>
      <p:sp>
        <p:nvSpPr>
          <p:cNvPr id="19" name="Text 17">
            <a:extLst>
              <a:ext uri="{FF2B5EF4-FFF2-40B4-BE49-F238E27FC236}">
                <a16:creationId xmlns:a16="http://schemas.microsoft.com/office/drawing/2014/main" id="{52DA92D1-A0B9-4935-84DE-C9AB2128931D}"/>
              </a:ext>
            </a:extLst>
          </p:cNvPr>
          <p:cNvSpPr>
            <a:spLocks noGrp="1"/>
          </p:cNvSpPr>
          <p:nvPr/>
        </p:nvSpPr>
        <p:spPr>
          <a:xfrm>
            <a:off x="7378700" y="2514600"/>
            <a:ext cx="1790700" cy="355600"/>
          </a:xfrm>
          <a:prstGeom prst="rect">
            <a:avLst/>
          </a:prstGeom>
          <a:noFill/>
        </p:spPr>
        <p:txBody>
          <a:bodyPr wrap="square" lIns="0" tIns="0" rIns="0" bIns="0" anchor="ctr"/>
          <a:lstStyle/>
          <a:p>
            <a:pPr marL="0" indent="0" algn="ctr">
              <a:buNone/>
            </a:pPr>
            <a:r>
              <a:rPr lang="en-IN" sz="850">
                <a:solidFill>
                  <a:srgbClr val="64748B"/>
                </a:solidFill>
                <a:latin typeface="Calibri"/>
                <a:ea typeface="Calibri"/>
                <a:cs typeface="Calibri"/>
              </a:rPr>
              <a:t>Grounding, scope and consistency</a:t>
            </a:r>
            <a:endParaRPr sz="850">
              <a:solidFill>
                <a:srgbClr val="64748B"/>
              </a:solidFill>
              <a:latin typeface="Calibri"/>
              <a:ea typeface="Calibri"/>
              <a:cs typeface="Calibri"/>
            </a:endParaRPr>
          </a:p>
        </p:txBody>
      </p:sp>
      <p:sp>
        <p:nvSpPr>
          <p:cNvPr id="20" name="Shape 18">
            <a:extLst>
              <a:ext uri="{FF2B5EF4-FFF2-40B4-BE49-F238E27FC236}">
                <a16:creationId xmlns:a16="http://schemas.microsoft.com/office/drawing/2014/main" id="{80F6F7B1-136E-477B-B6C8-1A7E1E3A93C7}"/>
              </a:ext>
            </a:extLst>
          </p:cNvPr>
          <p:cNvSpPr>
            <a:spLocks noGrp="1"/>
          </p:cNvSpPr>
          <p:nvPr/>
        </p:nvSpPr>
        <p:spPr>
          <a:xfrm>
            <a:off x="9271000" y="2413000"/>
            <a:ext cx="254000" cy="0"/>
          </a:xfrm>
          <a:prstGeom prst="line">
            <a:avLst/>
          </a:prstGeom>
          <a:noFill/>
          <a:ln w="22860">
            <a:solidFill>
              <a:srgbClr val="0F766E"/>
            </a:solidFill>
            <a:prstDash val="solid"/>
            <a:tailEnd type="triangle"/>
          </a:ln>
        </p:spPr>
        <p:txBody>
          <a:bodyPr/>
          <a:lstStyle/>
          <a:p>
            <a:endParaRPr/>
          </a:p>
        </p:txBody>
      </p:sp>
      <p:sp>
        <p:nvSpPr>
          <p:cNvPr id="21" name="Shape 19">
            <a:extLst>
              <a:ext uri="{FF2B5EF4-FFF2-40B4-BE49-F238E27FC236}">
                <a16:creationId xmlns:a16="http://schemas.microsoft.com/office/drawing/2014/main" id="{6D06EC4A-D016-4DE2-9A21-FFBBFD9E2A43}"/>
              </a:ext>
            </a:extLst>
          </p:cNvPr>
          <p:cNvSpPr>
            <a:spLocks noGrp="1"/>
          </p:cNvSpPr>
          <p:nvPr/>
        </p:nvSpPr>
        <p:spPr>
          <a:xfrm>
            <a:off x="9537700" y="1917700"/>
            <a:ext cx="1968500" cy="1041400"/>
          </a:xfrm>
          <a:prstGeom prst="roundRect">
            <a:avLst>
              <a:gd name="adj" fmla="val 6667"/>
            </a:avLst>
          </a:prstGeom>
          <a:solidFill>
            <a:srgbClr val="0B1B2E"/>
          </a:solidFill>
          <a:ln w="12700">
            <a:solidFill>
              <a:srgbClr val="0B1B2E"/>
            </a:solidFill>
            <a:prstDash val="solid"/>
          </a:ln>
          <a:effectLst>
            <a:outerShdw blurRad="101600" dist="25400" dir="8100000" algn="bl" rotWithShape="0">
              <a:srgbClr val="1E293B">
                <a:alpha val="11000"/>
              </a:srgbClr>
            </a:outerShdw>
          </a:effectLst>
        </p:spPr>
        <p:txBody>
          <a:bodyPr/>
          <a:lstStyle/>
          <a:p>
            <a:endParaRPr/>
          </a:p>
        </p:txBody>
      </p:sp>
      <p:sp>
        <p:nvSpPr>
          <p:cNvPr id="22" name="Text 20">
            <a:extLst>
              <a:ext uri="{FF2B5EF4-FFF2-40B4-BE49-F238E27FC236}">
                <a16:creationId xmlns:a16="http://schemas.microsoft.com/office/drawing/2014/main" id="{33BEB6E2-683B-4E8A-8E00-BBF065B284AD}"/>
              </a:ext>
            </a:extLst>
          </p:cNvPr>
          <p:cNvSpPr>
            <a:spLocks noGrp="1"/>
          </p:cNvSpPr>
          <p:nvPr/>
        </p:nvSpPr>
        <p:spPr>
          <a:xfrm>
            <a:off x="9639300" y="2044700"/>
            <a:ext cx="1765300" cy="431800"/>
          </a:xfrm>
          <a:prstGeom prst="rect">
            <a:avLst/>
          </a:prstGeom>
          <a:noFill/>
        </p:spPr>
        <p:txBody>
          <a:bodyPr wrap="square" lIns="0" tIns="0" rIns="0" bIns="0" anchor="ctr"/>
          <a:lstStyle/>
          <a:p>
            <a:pPr marL="0" indent="0" algn="ctr">
              <a:lnSpc>
                <a:spcPts val="1250"/>
              </a:lnSpc>
              <a:buNone/>
            </a:pPr>
            <a:r>
              <a:rPr lang="en-IN" sz="1050" b="1">
                <a:solidFill>
                  <a:srgbClr val="FFFFFF"/>
                </a:solidFill>
                <a:latin typeface="Calibri"/>
                <a:ea typeface="Calibri"/>
                <a:cs typeface="Calibri"/>
              </a:rPr>
              <a:t>ANSWER</a:t>
            </a:r>
            <a:endParaRPr sz="1050" b="1">
              <a:solidFill>
                <a:srgbClr val="FFFFFF"/>
              </a:solidFill>
              <a:latin typeface="Calibri"/>
              <a:ea typeface="Calibri"/>
              <a:cs typeface="Calibri"/>
            </a:endParaRPr>
          </a:p>
        </p:txBody>
      </p:sp>
      <p:sp>
        <p:nvSpPr>
          <p:cNvPr id="23" name="Text 21">
            <a:extLst>
              <a:ext uri="{FF2B5EF4-FFF2-40B4-BE49-F238E27FC236}">
                <a16:creationId xmlns:a16="http://schemas.microsoft.com/office/drawing/2014/main" id="{A215D8CB-EA97-406E-B4CA-D4DD0DFFB55D}"/>
              </a:ext>
            </a:extLst>
          </p:cNvPr>
          <p:cNvSpPr>
            <a:spLocks noGrp="1"/>
          </p:cNvSpPr>
          <p:nvPr/>
        </p:nvSpPr>
        <p:spPr>
          <a:xfrm>
            <a:off x="9626600" y="2514600"/>
            <a:ext cx="1790700" cy="355600"/>
          </a:xfrm>
          <a:prstGeom prst="rect">
            <a:avLst/>
          </a:prstGeom>
          <a:noFill/>
        </p:spPr>
        <p:txBody>
          <a:bodyPr wrap="square" lIns="0" tIns="0" rIns="0" bIns="0" anchor="ctr"/>
          <a:lstStyle/>
          <a:p>
            <a:pPr marL="0" indent="0" algn="ctr">
              <a:buNone/>
            </a:pPr>
            <a:r>
              <a:rPr lang="en-IN" sz="850">
                <a:solidFill>
                  <a:srgbClr val="5EEAD4"/>
                </a:solidFill>
                <a:latin typeface="Calibri"/>
                <a:ea typeface="Calibri"/>
                <a:cs typeface="Calibri"/>
              </a:rPr>
              <a:t>Citations + confidence</a:t>
            </a:r>
            <a:endParaRPr sz="850">
              <a:solidFill>
                <a:srgbClr val="5EEAD4"/>
              </a:solidFill>
              <a:latin typeface="Calibri"/>
              <a:ea typeface="Calibri"/>
              <a:cs typeface="Calibri"/>
            </a:endParaRPr>
          </a:p>
        </p:txBody>
      </p:sp>
      <p:sp>
        <p:nvSpPr>
          <p:cNvPr id="32" name="Shape 30">
            <a:extLst>
              <a:ext uri="{FF2B5EF4-FFF2-40B4-BE49-F238E27FC236}">
                <a16:creationId xmlns:a16="http://schemas.microsoft.com/office/drawing/2014/main" id="{8C2263B5-1969-4CC4-960A-F4F2501BDA9B}"/>
              </a:ext>
            </a:extLst>
          </p:cNvPr>
          <p:cNvSpPr>
            <a:spLocks noGrp="1"/>
          </p:cNvSpPr>
          <p:nvPr/>
        </p:nvSpPr>
        <p:spPr>
          <a:xfrm>
            <a:off x="2794000" y="3149600"/>
            <a:ext cx="2222500" cy="2159000"/>
          </a:xfrm>
          <a:prstGeom prst="rect">
            <a:avLst/>
          </a:prstGeom>
          <a:solidFill>
            <a:srgbClr val="E7F6F4"/>
          </a:solidFill>
          <a:ln w="12700">
            <a:solidFill>
              <a:srgbClr val="0F766E"/>
            </a:solidFill>
            <a:prstDash val="solid"/>
          </a:ln>
        </p:spPr>
        <p:txBody>
          <a:bodyPr/>
          <a:lstStyle/>
          <a:p>
            <a:endParaRPr/>
          </a:p>
        </p:txBody>
      </p:sp>
      <p:sp>
        <p:nvSpPr>
          <p:cNvPr id="33" name="Text 31">
            <a:extLst>
              <a:ext uri="{FF2B5EF4-FFF2-40B4-BE49-F238E27FC236}">
                <a16:creationId xmlns:a16="http://schemas.microsoft.com/office/drawing/2014/main" id="{880175B9-0DC5-469C-908F-4E8722059FFA}"/>
              </a:ext>
            </a:extLst>
          </p:cNvPr>
          <p:cNvSpPr>
            <a:spLocks noGrp="1"/>
          </p:cNvSpPr>
          <p:nvPr/>
        </p:nvSpPr>
        <p:spPr>
          <a:xfrm>
            <a:off x="2794000" y="3200400"/>
            <a:ext cx="2222500" cy="256032"/>
          </a:xfrm>
          <a:prstGeom prst="rect">
            <a:avLst/>
          </a:prstGeom>
          <a:noFill/>
        </p:spPr>
        <p:txBody>
          <a:bodyPr wrap="square" lIns="0" tIns="0" rIns="0" bIns="0" anchor="ctr"/>
          <a:lstStyle/>
          <a:p>
            <a:pPr marL="0" indent="0" algn="ctr">
              <a:buNone/>
            </a:pPr>
            <a:r>
              <a:rPr sz="900" b="1">
                <a:solidFill>
                  <a:srgbClr val="0F766E"/>
                </a:solidFill>
                <a:latin typeface="Calibri"/>
                <a:ea typeface="Calibri"/>
                <a:cs typeface="Calibri"/>
              </a:rPr>
              <a:t>EVIDENCE PATHS</a:t>
            </a:r>
          </a:p>
        </p:txBody>
      </p:sp>
      <p:sp>
        <p:nvSpPr>
          <p:cNvPr id="34" name="Shape 32">
            <a:extLst>
              <a:ext uri="{FF2B5EF4-FFF2-40B4-BE49-F238E27FC236}">
                <a16:creationId xmlns:a16="http://schemas.microsoft.com/office/drawing/2014/main" id="{51FD36E0-2284-4B6F-B4CD-71B7D02067A0}"/>
              </a:ext>
            </a:extLst>
          </p:cNvPr>
          <p:cNvSpPr>
            <a:spLocks noGrp="1"/>
          </p:cNvSpPr>
          <p:nvPr/>
        </p:nvSpPr>
        <p:spPr>
          <a:xfrm>
            <a:off x="2870200" y="3556000"/>
            <a:ext cx="2070100" cy="347472"/>
          </a:xfrm>
          <a:prstGeom prst="roundRect">
            <a:avLst>
              <a:gd name="adj" fmla="val 18421"/>
            </a:avLst>
          </a:prstGeom>
          <a:solidFill>
            <a:srgbClr val="FFFFFF"/>
          </a:solidFill>
          <a:effectLst>
            <a:outerShdw blurRad="101600" dist="25400" dir="8100000" algn="bl" rotWithShape="0">
              <a:srgbClr val="1E293B">
                <a:alpha val="11000"/>
              </a:srgbClr>
            </a:outerShdw>
          </a:effectLst>
        </p:spPr>
        <p:txBody>
          <a:bodyPr/>
          <a:lstStyle/>
          <a:p>
            <a:endParaRPr/>
          </a:p>
        </p:txBody>
      </p:sp>
      <p:sp>
        <p:nvSpPr>
          <p:cNvPr id="35" name="Text 33">
            <a:extLst>
              <a:ext uri="{FF2B5EF4-FFF2-40B4-BE49-F238E27FC236}">
                <a16:creationId xmlns:a16="http://schemas.microsoft.com/office/drawing/2014/main" id="{C7D569D7-EFAB-4A7F-A8FA-98B4C272BA2C}"/>
              </a:ext>
            </a:extLst>
          </p:cNvPr>
          <p:cNvSpPr>
            <a:spLocks noGrp="1"/>
          </p:cNvSpPr>
          <p:nvPr/>
        </p:nvSpPr>
        <p:spPr>
          <a:xfrm>
            <a:off x="2921000" y="3556000"/>
            <a:ext cx="1968500" cy="347472"/>
          </a:xfrm>
          <a:prstGeom prst="rect">
            <a:avLst/>
          </a:prstGeom>
          <a:noFill/>
        </p:spPr>
        <p:txBody>
          <a:bodyPr wrap="square" lIns="0" tIns="0" rIns="0" bIns="0" anchor="ctr"/>
          <a:lstStyle/>
          <a:p>
            <a:pPr marL="0" indent="0" algn="ctr">
              <a:lnSpc>
                <a:spcPts val="1008"/>
              </a:lnSpc>
              <a:buNone/>
            </a:pPr>
            <a:r>
              <a:rPr sz="900" b="1">
                <a:solidFill>
                  <a:srgbClr val="0F766E"/>
                </a:solidFill>
                <a:latin typeface="Calibri"/>
                <a:ea typeface="Calibri"/>
                <a:cs typeface="Calibri"/>
              </a:rPr>
              <a:t>Semantic</a:t>
            </a:r>
          </a:p>
          <a:p>
            <a:pPr marL="0" indent="0" algn="ctr">
              <a:lnSpc>
                <a:spcPts val="1008"/>
              </a:lnSpc>
              <a:buNone/>
            </a:pPr>
            <a:r>
              <a:rPr sz="900" b="1">
                <a:solidFill>
                  <a:srgbClr val="0F766E"/>
                </a:solidFill>
                <a:latin typeface="Calibri"/>
                <a:ea typeface="Calibri"/>
                <a:cs typeface="Calibri"/>
              </a:rPr>
              <a:t>(vector search)</a:t>
            </a:r>
          </a:p>
        </p:txBody>
      </p:sp>
      <p:sp>
        <p:nvSpPr>
          <p:cNvPr id="36" name="Shape 34">
            <a:extLst>
              <a:ext uri="{FF2B5EF4-FFF2-40B4-BE49-F238E27FC236}">
                <a16:creationId xmlns:a16="http://schemas.microsoft.com/office/drawing/2014/main" id="{1FDB3AFD-79C4-4495-8B51-B6C6FD83582E}"/>
              </a:ext>
            </a:extLst>
          </p:cNvPr>
          <p:cNvSpPr>
            <a:spLocks noGrp="1"/>
          </p:cNvSpPr>
          <p:nvPr/>
        </p:nvSpPr>
        <p:spPr>
          <a:xfrm>
            <a:off x="2870200" y="3949700"/>
            <a:ext cx="2070100" cy="347472"/>
          </a:xfrm>
          <a:prstGeom prst="roundRect">
            <a:avLst>
              <a:gd name="adj" fmla="val 18421"/>
            </a:avLst>
          </a:prstGeom>
          <a:solidFill>
            <a:srgbClr val="FFFFFF"/>
          </a:solidFill>
          <a:effectLst>
            <a:outerShdw blurRad="101600" dist="25400" dir="8100000" algn="bl" rotWithShape="0">
              <a:srgbClr val="1E293B">
                <a:alpha val="11000"/>
              </a:srgbClr>
            </a:outerShdw>
          </a:effectLst>
        </p:spPr>
        <p:txBody>
          <a:bodyPr/>
          <a:lstStyle/>
          <a:p>
            <a:endParaRPr/>
          </a:p>
        </p:txBody>
      </p:sp>
      <p:sp>
        <p:nvSpPr>
          <p:cNvPr id="37" name="Text 35">
            <a:extLst>
              <a:ext uri="{FF2B5EF4-FFF2-40B4-BE49-F238E27FC236}">
                <a16:creationId xmlns:a16="http://schemas.microsoft.com/office/drawing/2014/main" id="{E52F9253-DA1A-4B85-AA8E-F081993EEECB}"/>
              </a:ext>
            </a:extLst>
          </p:cNvPr>
          <p:cNvSpPr>
            <a:spLocks noGrp="1"/>
          </p:cNvSpPr>
          <p:nvPr/>
        </p:nvSpPr>
        <p:spPr>
          <a:xfrm>
            <a:off x="2921000" y="3949700"/>
            <a:ext cx="1968500" cy="347472"/>
          </a:xfrm>
          <a:prstGeom prst="rect">
            <a:avLst/>
          </a:prstGeom>
          <a:noFill/>
        </p:spPr>
        <p:txBody>
          <a:bodyPr wrap="square" lIns="0" tIns="0" rIns="0" bIns="0" anchor="ctr"/>
          <a:lstStyle/>
          <a:p>
            <a:pPr marL="0" indent="0" algn="ctr">
              <a:lnSpc>
                <a:spcPts val="1008"/>
              </a:lnSpc>
              <a:buNone/>
            </a:pPr>
            <a:r>
              <a:rPr sz="900" b="1">
                <a:solidFill>
                  <a:srgbClr val="0F766E"/>
                </a:solidFill>
                <a:latin typeface="Calibri"/>
                <a:ea typeface="Calibri"/>
                <a:cs typeface="Calibri"/>
              </a:rPr>
              <a:t>Lexical</a:t>
            </a:r>
          </a:p>
          <a:p>
            <a:pPr marL="0" indent="0" algn="ctr">
              <a:lnSpc>
                <a:spcPts val="1008"/>
              </a:lnSpc>
              <a:buNone/>
            </a:pPr>
            <a:r>
              <a:rPr sz="900" b="1">
                <a:solidFill>
                  <a:srgbClr val="0F766E"/>
                </a:solidFill>
                <a:latin typeface="Calibri"/>
                <a:ea typeface="Calibri"/>
                <a:cs typeface="Calibri"/>
              </a:rPr>
              <a:t>(keyword)</a:t>
            </a:r>
          </a:p>
        </p:txBody>
      </p:sp>
      <p:sp>
        <p:nvSpPr>
          <p:cNvPr id="38" name="Shape 36">
            <a:extLst>
              <a:ext uri="{FF2B5EF4-FFF2-40B4-BE49-F238E27FC236}">
                <a16:creationId xmlns:a16="http://schemas.microsoft.com/office/drawing/2014/main" id="{B1E3D6CE-1A7A-4E11-84BF-F2AB22E251DD}"/>
              </a:ext>
            </a:extLst>
          </p:cNvPr>
          <p:cNvSpPr>
            <a:spLocks noGrp="1"/>
          </p:cNvSpPr>
          <p:nvPr/>
        </p:nvSpPr>
        <p:spPr>
          <a:xfrm>
            <a:off x="2870200" y="4343400"/>
            <a:ext cx="2070100" cy="347472"/>
          </a:xfrm>
          <a:prstGeom prst="roundRect">
            <a:avLst>
              <a:gd name="adj" fmla="val 18421"/>
            </a:avLst>
          </a:prstGeom>
          <a:solidFill>
            <a:srgbClr val="FFFFFF"/>
          </a:solidFill>
          <a:effectLst>
            <a:outerShdw blurRad="101600" dist="25400" dir="8100000" algn="bl" rotWithShape="0">
              <a:srgbClr val="1E293B">
                <a:alpha val="11000"/>
              </a:srgbClr>
            </a:outerShdw>
          </a:effectLst>
        </p:spPr>
        <p:txBody>
          <a:bodyPr/>
          <a:lstStyle/>
          <a:p>
            <a:endParaRPr/>
          </a:p>
        </p:txBody>
      </p:sp>
      <p:sp>
        <p:nvSpPr>
          <p:cNvPr id="39" name="Text 37">
            <a:extLst>
              <a:ext uri="{FF2B5EF4-FFF2-40B4-BE49-F238E27FC236}">
                <a16:creationId xmlns:a16="http://schemas.microsoft.com/office/drawing/2014/main" id="{8F066F9B-4E54-4117-BB15-2F6029D68724}"/>
              </a:ext>
            </a:extLst>
          </p:cNvPr>
          <p:cNvSpPr>
            <a:spLocks noGrp="1"/>
          </p:cNvSpPr>
          <p:nvPr/>
        </p:nvSpPr>
        <p:spPr>
          <a:xfrm>
            <a:off x="2921000" y="4343400"/>
            <a:ext cx="1968500" cy="347472"/>
          </a:xfrm>
          <a:prstGeom prst="rect">
            <a:avLst/>
          </a:prstGeom>
          <a:noFill/>
        </p:spPr>
        <p:txBody>
          <a:bodyPr wrap="square" lIns="0" tIns="0" rIns="0" bIns="0" anchor="ctr"/>
          <a:lstStyle/>
          <a:p>
            <a:pPr marL="0" indent="0" algn="ctr">
              <a:lnSpc>
                <a:spcPts val="1008"/>
              </a:lnSpc>
              <a:buNone/>
            </a:pPr>
            <a:r>
              <a:rPr sz="900" b="1">
                <a:solidFill>
                  <a:srgbClr val="0F766E"/>
                </a:solidFill>
                <a:latin typeface="Calibri"/>
                <a:ea typeface="Calibri"/>
                <a:cs typeface="Calibri"/>
              </a:rPr>
              <a:t>Metadata</a:t>
            </a:r>
          </a:p>
          <a:p>
            <a:pPr marL="0" indent="0" algn="ctr">
              <a:lnSpc>
                <a:spcPts val="1008"/>
              </a:lnSpc>
              <a:buNone/>
            </a:pPr>
            <a:r>
              <a:rPr sz="900" b="1">
                <a:solidFill>
                  <a:srgbClr val="0F766E"/>
                </a:solidFill>
                <a:latin typeface="Calibri"/>
                <a:ea typeface="Calibri"/>
                <a:cs typeface="Calibri"/>
              </a:rPr>
              <a:t>(SQL direct)</a:t>
            </a:r>
          </a:p>
        </p:txBody>
      </p:sp>
      <p:sp>
        <p:nvSpPr>
          <p:cNvPr id="40" name="Shape 38">
            <a:extLst>
              <a:ext uri="{FF2B5EF4-FFF2-40B4-BE49-F238E27FC236}">
                <a16:creationId xmlns:a16="http://schemas.microsoft.com/office/drawing/2014/main" id="{D567EA67-B609-4F2E-9780-58D0C2EC8223}"/>
              </a:ext>
            </a:extLst>
          </p:cNvPr>
          <p:cNvSpPr>
            <a:spLocks noGrp="1"/>
          </p:cNvSpPr>
          <p:nvPr/>
        </p:nvSpPr>
        <p:spPr>
          <a:xfrm>
            <a:off x="2870200" y="4737100"/>
            <a:ext cx="2070100" cy="347472"/>
          </a:xfrm>
          <a:prstGeom prst="roundRect">
            <a:avLst>
              <a:gd name="adj" fmla="val 18421"/>
            </a:avLst>
          </a:prstGeom>
          <a:solidFill>
            <a:srgbClr val="FFFFFF"/>
          </a:solidFill>
          <a:effectLst>
            <a:outerShdw blurRad="101600" dist="25400" dir="8100000" algn="bl" rotWithShape="0">
              <a:srgbClr val="1E293B">
                <a:alpha val="11000"/>
              </a:srgbClr>
            </a:outerShdw>
          </a:effectLst>
        </p:spPr>
        <p:txBody>
          <a:bodyPr/>
          <a:lstStyle/>
          <a:p>
            <a:endParaRPr/>
          </a:p>
        </p:txBody>
      </p:sp>
      <p:sp>
        <p:nvSpPr>
          <p:cNvPr id="41" name="Text 39">
            <a:extLst>
              <a:ext uri="{FF2B5EF4-FFF2-40B4-BE49-F238E27FC236}">
                <a16:creationId xmlns:a16="http://schemas.microsoft.com/office/drawing/2014/main" id="{1069EDF3-F6CD-4B83-AC9D-B5FAD0333F2F}"/>
              </a:ext>
            </a:extLst>
          </p:cNvPr>
          <p:cNvSpPr>
            <a:spLocks noGrp="1"/>
          </p:cNvSpPr>
          <p:nvPr/>
        </p:nvSpPr>
        <p:spPr>
          <a:xfrm>
            <a:off x="2921000" y="4737100"/>
            <a:ext cx="1968500" cy="347472"/>
          </a:xfrm>
          <a:prstGeom prst="rect">
            <a:avLst/>
          </a:prstGeom>
          <a:noFill/>
        </p:spPr>
        <p:txBody>
          <a:bodyPr wrap="square" lIns="0" tIns="0" rIns="0" bIns="0" anchor="ctr"/>
          <a:lstStyle/>
          <a:p>
            <a:pPr marL="0" indent="0" algn="ctr">
              <a:lnSpc>
                <a:spcPts val="1008"/>
              </a:lnSpc>
              <a:buNone/>
            </a:pPr>
            <a:r>
              <a:rPr sz="900" b="1">
                <a:solidFill>
                  <a:srgbClr val="0F766E"/>
                </a:solidFill>
                <a:latin typeface="Calibri"/>
                <a:ea typeface="Calibri"/>
                <a:cs typeface="Calibri"/>
              </a:rPr>
              <a:t>Structural</a:t>
            </a:r>
          </a:p>
          <a:p>
            <a:pPr marL="0" indent="0" algn="ctr">
              <a:lnSpc>
                <a:spcPts val="1008"/>
              </a:lnSpc>
              <a:buNone/>
            </a:pPr>
            <a:r>
              <a:rPr sz="900" b="1">
                <a:solidFill>
                  <a:srgbClr val="0F766E"/>
                </a:solidFill>
                <a:latin typeface="Calibri"/>
                <a:ea typeface="Calibri"/>
                <a:cs typeface="Calibri"/>
              </a:rPr>
              <a:t>(section-aware)</a:t>
            </a:r>
          </a:p>
        </p:txBody>
      </p:sp>
      <p:sp>
        <p:nvSpPr>
          <p:cNvPr id="42" name="Shape 40">
            <a:extLst>
              <a:ext uri="{FF2B5EF4-FFF2-40B4-BE49-F238E27FC236}">
                <a16:creationId xmlns:a16="http://schemas.microsoft.com/office/drawing/2014/main" id="{673CB1D5-35D8-483B-8BBD-E9A6941D5D7E}"/>
              </a:ext>
            </a:extLst>
          </p:cNvPr>
          <p:cNvSpPr>
            <a:spLocks noGrp="1"/>
          </p:cNvSpPr>
          <p:nvPr/>
        </p:nvSpPr>
        <p:spPr>
          <a:xfrm>
            <a:off x="7289800" y="3149600"/>
            <a:ext cx="2667000" cy="2159000"/>
          </a:xfrm>
          <a:prstGeom prst="rect">
            <a:avLst/>
          </a:prstGeom>
          <a:solidFill>
            <a:srgbClr val="F2F6F9"/>
          </a:solidFill>
          <a:ln w="12700">
            <a:solidFill>
              <a:srgbClr val="E3E9F0"/>
            </a:solidFill>
            <a:prstDash val="solid"/>
          </a:ln>
        </p:spPr>
        <p:txBody>
          <a:bodyPr/>
          <a:lstStyle/>
          <a:p>
            <a:endParaRPr/>
          </a:p>
        </p:txBody>
      </p:sp>
      <p:sp>
        <p:nvSpPr>
          <p:cNvPr id="43" name="Text 41">
            <a:extLst>
              <a:ext uri="{FF2B5EF4-FFF2-40B4-BE49-F238E27FC236}">
                <a16:creationId xmlns:a16="http://schemas.microsoft.com/office/drawing/2014/main" id="{E019DF35-D8D8-48FF-9490-5409FAA0AC22}"/>
              </a:ext>
            </a:extLst>
          </p:cNvPr>
          <p:cNvSpPr>
            <a:spLocks noGrp="1"/>
          </p:cNvSpPr>
          <p:nvPr/>
        </p:nvSpPr>
        <p:spPr>
          <a:xfrm>
            <a:off x="7289800" y="3200400"/>
            <a:ext cx="2667000" cy="256032"/>
          </a:xfrm>
          <a:prstGeom prst="rect">
            <a:avLst/>
          </a:prstGeom>
          <a:noFill/>
        </p:spPr>
        <p:txBody>
          <a:bodyPr wrap="square" lIns="0" tIns="0" rIns="0" bIns="0" anchor="ctr"/>
          <a:lstStyle/>
          <a:p>
            <a:pPr marL="0" indent="0" algn="ctr">
              <a:buNone/>
            </a:pPr>
            <a:r>
              <a:rPr sz="900" b="1">
                <a:solidFill>
                  <a:srgbClr val="0F766E"/>
                </a:solidFill>
                <a:latin typeface="Calibri"/>
                <a:ea typeface="Calibri"/>
                <a:cs typeface="Calibri"/>
              </a:rPr>
              <a:t>VALIDATION CONTROLS</a:t>
            </a:r>
          </a:p>
        </p:txBody>
      </p:sp>
      <p:sp>
        <p:nvSpPr>
          <p:cNvPr id="44" name="Shape 42">
            <a:extLst>
              <a:ext uri="{FF2B5EF4-FFF2-40B4-BE49-F238E27FC236}">
                <a16:creationId xmlns:a16="http://schemas.microsoft.com/office/drawing/2014/main" id="{821FA79F-2DCE-4882-BC73-9A618B54A62D}"/>
              </a:ext>
            </a:extLst>
          </p:cNvPr>
          <p:cNvSpPr>
            <a:spLocks noGrp="1"/>
          </p:cNvSpPr>
          <p:nvPr/>
        </p:nvSpPr>
        <p:spPr>
          <a:xfrm>
            <a:off x="7416800" y="3632200"/>
            <a:ext cx="109728" cy="109728"/>
          </a:xfrm>
          <a:prstGeom prst="ellipse">
            <a:avLst/>
          </a:prstGeom>
          <a:solidFill>
            <a:srgbClr val="14B8A6"/>
          </a:solidFill>
        </p:spPr>
        <p:txBody>
          <a:bodyPr/>
          <a:lstStyle/>
          <a:p>
            <a:endParaRPr/>
          </a:p>
        </p:txBody>
      </p:sp>
      <p:sp>
        <p:nvSpPr>
          <p:cNvPr id="45" name="Text 43">
            <a:extLst>
              <a:ext uri="{FF2B5EF4-FFF2-40B4-BE49-F238E27FC236}">
                <a16:creationId xmlns:a16="http://schemas.microsoft.com/office/drawing/2014/main" id="{E5DB12A0-70D4-4872-A80A-D65C136CDF26}"/>
              </a:ext>
            </a:extLst>
          </p:cNvPr>
          <p:cNvSpPr>
            <a:spLocks noGrp="1"/>
          </p:cNvSpPr>
          <p:nvPr/>
        </p:nvSpPr>
        <p:spPr>
          <a:xfrm>
            <a:off x="7594600" y="3568700"/>
            <a:ext cx="2235200" cy="279400"/>
          </a:xfrm>
          <a:prstGeom prst="rect">
            <a:avLst/>
          </a:prstGeom>
          <a:noFill/>
        </p:spPr>
        <p:txBody>
          <a:bodyPr wrap="square" lIns="0" tIns="0" rIns="0" bIns="0" anchor="ctr"/>
          <a:lstStyle/>
          <a:p>
            <a:pPr marL="0" indent="0">
              <a:buNone/>
            </a:pPr>
            <a:r>
              <a:rPr lang="en-IN" sz="900">
                <a:solidFill>
                  <a:srgbClr val="33415A"/>
                </a:solidFill>
                <a:latin typeface="Calibri"/>
                <a:ea typeface="Calibri"/>
                <a:cs typeface="Calibri"/>
              </a:rPr>
              <a:t>Current-term logic</a:t>
            </a:r>
            <a:endParaRPr sz="900">
              <a:solidFill>
                <a:srgbClr val="33415A"/>
              </a:solidFill>
              <a:latin typeface="Calibri"/>
              <a:ea typeface="Calibri"/>
              <a:cs typeface="Calibri"/>
            </a:endParaRPr>
          </a:p>
        </p:txBody>
      </p:sp>
      <p:sp>
        <p:nvSpPr>
          <p:cNvPr id="46" name="Shape 44">
            <a:extLst>
              <a:ext uri="{FF2B5EF4-FFF2-40B4-BE49-F238E27FC236}">
                <a16:creationId xmlns:a16="http://schemas.microsoft.com/office/drawing/2014/main" id="{7C82EFEC-0C93-4EE4-89C6-6268455624C9}"/>
              </a:ext>
            </a:extLst>
          </p:cNvPr>
          <p:cNvSpPr>
            <a:spLocks noGrp="1"/>
          </p:cNvSpPr>
          <p:nvPr/>
        </p:nvSpPr>
        <p:spPr>
          <a:xfrm>
            <a:off x="7416800" y="3949700"/>
            <a:ext cx="109728" cy="109728"/>
          </a:xfrm>
          <a:prstGeom prst="ellipse">
            <a:avLst/>
          </a:prstGeom>
          <a:solidFill>
            <a:srgbClr val="14B8A6"/>
          </a:solidFill>
        </p:spPr>
        <p:txBody>
          <a:bodyPr/>
          <a:lstStyle/>
          <a:p>
            <a:endParaRPr/>
          </a:p>
        </p:txBody>
      </p:sp>
      <p:sp>
        <p:nvSpPr>
          <p:cNvPr id="47" name="Text 45">
            <a:extLst>
              <a:ext uri="{FF2B5EF4-FFF2-40B4-BE49-F238E27FC236}">
                <a16:creationId xmlns:a16="http://schemas.microsoft.com/office/drawing/2014/main" id="{26EEAE5C-F5F9-4513-ADFA-790E53E7AECA}"/>
              </a:ext>
            </a:extLst>
          </p:cNvPr>
          <p:cNvSpPr>
            <a:spLocks noGrp="1"/>
          </p:cNvSpPr>
          <p:nvPr/>
        </p:nvSpPr>
        <p:spPr>
          <a:xfrm>
            <a:off x="7594600" y="3886200"/>
            <a:ext cx="2235200" cy="279400"/>
          </a:xfrm>
          <a:prstGeom prst="rect">
            <a:avLst/>
          </a:prstGeom>
          <a:noFill/>
        </p:spPr>
        <p:txBody>
          <a:bodyPr wrap="square" lIns="0" tIns="0" rIns="0" bIns="0" anchor="ctr"/>
          <a:lstStyle/>
          <a:p>
            <a:pPr marL="0" indent="0">
              <a:buNone/>
            </a:pPr>
            <a:r>
              <a:rPr lang="en-IN" sz="900">
                <a:solidFill>
                  <a:srgbClr val="33415A"/>
                </a:solidFill>
                <a:latin typeface="Calibri"/>
                <a:ea typeface="Calibri"/>
                <a:cs typeface="Calibri"/>
              </a:rPr>
              <a:t>Grounding checks</a:t>
            </a:r>
            <a:endParaRPr sz="900">
              <a:solidFill>
                <a:srgbClr val="33415A"/>
              </a:solidFill>
              <a:latin typeface="Calibri"/>
              <a:ea typeface="Calibri"/>
              <a:cs typeface="Calibri"/>
            </a:endParaRPr>
          </a:p>
        </p:txBody>
      </p:sp>
      <p:sp>
        <p:nvSpPr>
          <p:cNvPr id="48" name="Shape 46">
            <a:extLst>
              <a:ext uri="{FF2B5EF4-FFF2-40B4-BE49-F238E27FC236}">
                <a16:creationId xmlns:a16="http://schemas.microsoft.com/office/drawing/2014/main" id="{134DF9EF-C818-483E-BEBC-FDDD55F68905}"/>
              </a:ext>
            </a:extLst>
          </p:cNvPr>
          <p:cNvSpPr>
            <a:spLocks noGrp="1"/>
          </p:cNvSpPr>
          <p:nvPr/>
        </p:nvSpPr>
        <p:spPr>
          <a:xfrm>
            <a:off x="7416800" y="4267200"/>
            <a:ext cx="109728" cy="109728"/>
          </a:xfrm>
          <a:prstGeom prst="ellipse">
            <a:avLst/>
          </a:prstGeom>
          <a:solidFill>
            <a:srgbClr val="14B8A6"/>
          </a:solidFill>
        </p:spPr>
        <p:txBody>
          <a:bodyPr/>
          <a:lstStyle/>
          <a:p>
            <a:endParaRPr/>
          </a:p>
        </p:txBody>
      </p:sp>
      <p:sp>
        <p:nvSpPr>
          <p:cNvPr id="49" name="Text 47">
            <a:extLst>
              <a:ext uri="{FF2B5EF4-FFF2-40B4-BE49-F238E27FC236}">
                <a16:creationId xmlns:a16="http://schemas.microsoft.com/office/drawing/2014/main" id="{F893F2CC-C7EC-4C74-8634-1852B76E3011}"/>
              </a:ext>
            </a:extLst>
          </p:cNvPr>
          <p:cNvSpPr>
            <a:spLocks noGrp="1"/>
          </p:cNvSpPr>
          <p:nvPr/>
        </p:nvSpPr>
        <p:spPr>
          <a:xfrm>
            <a:off x="7594600" y="4203700"/>
            <a:ext cx="2235200" cy="279400"/>
          </a:xfrm>
          <a:prstGeom prst="rect">
            <a:avLst/>
          </a:prstGeom>
          <a:noFill/>
        </p:spPr>
        <p:txBody>
          <a:bodyPr wrap="square" lIns="0" tIns="0" rIns="0" bIns="0" anchor="ctr"/>
          <a:lstStyle/>
          <a:p>
            <a:pPr marL="0" indent="0">
              <a:buNone/>
            </a:pPr>
            <a:r>
              <a:rPr lang="en-IN" sz="900">
                <a:solidFill>
                  <a:srgbClr val="33415A"/>
                </a:solidFill>
                <a:latin typeface="Calibri"/>
                <a:ea typeface="Calibri"/>
                <a:cs typeface="Calibri"/>
              </a:rPr>
              <a:t>Numeric consistency</a:t>
            </a:r>
            <a:endParaRPr sz="900">
              <a:solidFill>
                <a:srgbClr val="33415A"/>
              </a:solidFill>
              <a:latin typeface="Calibri"/>
              <a:ea typeface="Calibri"/>
              <a:cs typeface="Calibri"/>
            </a:endParaRPr>
          </a:p>
        </p:txBody>
      </p:sp>
      <p:sp>
        <p:nvSpPr>
          <p:cNvPr id="50" name="Shape 48">
            <a:extLst>
              <a:ext uri="{FF2B5EF4-FFF2-40B4-BE49-F238E27FC236}">
                <a16:creationId xmlns:a16="http://schemas.microsoft.com/office/drawing/2014/main" id="{0F7190ED-44C0-435F-9CBB-97D832E6CA8E}"/>
              </a:ext>
            </a:extLst>
          </p:cNvPr>
          <p:cNvSpPr>
            <a:spLocks noGrp="1"/>
          </p:cNvSpPr>
          <p:nvPr/>
        </p:nvSpPr>
        <p:spPr>
          <a:xfrm>
            <a:off x="7416800" y="4584700"/>
            <a:ext cx="109728" cy="109728"/>
          </a:xfrm>
          <a:prstGeom prst="ellipse">
            <a:avLst/>
          </a:prstGeom>
          <a:solidFill>
            <a:srgbClr val="14B8A6"/>
          </a:solidFill>
        </p:spPr>
        <p:txBody>
          <a:bodyPr/>
          <a:lstStyle/>
          <a:p>
            <a:endParaRPr/>
          </a:p>
        </p:txBody>
      </p:sp>
      <p:sp>
        <p:nvSpPr>
          <p:cNvPr id="51" name="Text 49">
            <a:extLst>
              <a:ext uri="{FF2B5EF4-FFF2-40B4-BE49-F238E27FC236}">
                <a16:creationId xmlns:a16="http://schemas.microsoft.com/office/drawing/2014/main" id="{558A5289-F14C-44FA-A2B0-A325B49008A9}"/>
              </a:ext>
            </a:extLst>
          </p:cNvPr>
          <p:cNvSpPr>
            <a:spLocks noGrp="1"/>
          </p:cNvSpPr>
          <p:nvPr/>
        </p:nvSpPr>
        <p:spPr>
          <a:xfrm>
            <a:off x="7594600" y="4521200"/>
            <a:ext cx="2235200" cy="279400"/>
          </a:xfrm>
          <a:prstGeom prst="rect">
            <a:avLst/>
          </a:prstGeom>
          <a:noFill/>
        </p:spPr>
        <p:txBody>
          <a:bodyPr wrap="square" lIns="0" tIns="0" rIns="0" bIns="0" anchor="ctr"/>
          <a:lstStyle/>
          <a:p>
            <a:pPr marL="0" indent="0">
              <a:buNone/>
            </a:pPr>
            <a:r>
              <a:rPr lang="en-IN" sz="900">
                <a:solidFill>
                  <a:srgbClr val="33415A"/>
                </a:solidFill>
                <a:latin typeface="Calibri"/>
                <a:ea typeface="Calibri"/>
                <a:cs typeface="Calibri"/>
              </a:rPr>
              <a:t>Scope matching</a:t>
            </a:r>
            <a:endParaRPr sz="900">
              <a:solidFill>
                <a:srgbClr val="33415A"/>
              </a:solidFill>
              <a:latin typeface="Calibri"/>
              <a:ea typeface="Calibri"/>
              <a:cs typeface="Calibri"/>
            </a:endParaRPr>
          </a:p>
        </p:txBody>
      </p:sp>
      <p:sp>
        <p:nvSpPr>
          <p:cNvPr id="52" name="Shape 50">
            <a:extLst>
              <a:ext uri="{FF2B5EF4-FFF2-40B4-BE49-F238E27FC236}">
                <a16:creationId xmlns:a16="http://schemas.microsoft.com/office/drawing/2014/main" id="{EC104DB0-63DF-4D8E-85DF-444BE7BC321B}"/>
              </a:ext>
            </a:extLst>
          </p:cNvPr>
          <p:cNvSpPr>
            <a:spLocks noGrp="1"/>
          </p:cNvSpPr>
          <p:nvPr/>
        </p:nvSpPr>
        <p:spPr>
          <a:xfrm>
            <a:off x="7416800" y="4902200"/>
            <a:ext cx="109728" cy="109728"/>
          </a:xfrm>
          <a:prstGeom prst="ellipse">
            <a:avLst/>
          </a:prstGeom>
          <a:solidFill>
            <a:srgbClr val="14B8A6"/>
          </a:solidFill>
        </p:spPr>
        <p:txBody>
          <a:bodyPr/>
          <a:lstStyle/>
          <a:p>
            <a:endParaRPr/>
          </a:p>
        </p:txBody>
      </p:sp>
      <p:sp>
        <p:nvSpPr>
          <p:cNvPr id="53" name="Text 51">
            <a:extLst>
              <a:ext uri="{FF2B5EF4-FFF2-40B4-BE49-F238E27FC236}">
                <a16:creationId xmlns:a16="http://schemas.microsoft.com/office/drawing/2014/main" id="{4C770A34-56A5-41DC-9709-BC355A08C0DB}"/>
              </a:ext>
            </a:extLst>
          </p:cNvPr>
          <p:cNvSpPr>
            <a:spLocks noGrp="1"/>
          </p:cNvSpPr>
          <p:nvPr/>
        </p:nvSpPr>
        <p:spPr>
          <a:xfrm>
            <a:off x="7594600" y="4838700"/>
            <a:ext cx="2235200" cy="279400"/>
          </a:xfrm>
          <a:prstGeom prst="rect">
            <a:avLst/>
          </a:prstGeom>
          <a:noFill/>
        </p:spPr>
        <p:txBody>
          <a:bodyPr wrap="square" lIns="0" tIns="0" rIns="0" bIns="0" anchor="ctr"/>
          <a:lstStyle/>
          <a:p>
            <a:pPr marL="0" indent="0">
              <a:buNone/>
            </a:pPr>
            <a:r>
              <a:rPr lang="en-US" sz="900">
                <a:solidFill>
                  <a:srgbClr val="33415A"/>
                </a:solidFill>
                <a:latin typeface="Calibri"/>
                <a:ea typeface="Calibri"/>
                <a:cs typeface="Calibri"/>
              </a:rPr>
              <a:t>Decline if evidence is insufficient</a:t>
            </a:r>
            <a:endParaRPr sz="900">
              <a:solidFill>
                <a:srgbClr val="33415A"/>
              </a:solidFill>
              <a:latin typeface="Calibri"/>
              <a:ea typeface="Calibri"/>
              <a:cs typeface="Calibri"/>
            </a:endParaRPr>
          </a:p>
        </p:txBody>
      </p:sp>
      <p:sp>
        <p:nvSpPr>
          <p:cNvPr id="56" name="Shape 54">
            <a:extLst>
              <a:ext uri="{FF2B5EF4-FFF2-40B4-BE49-F238E27FC236}">
                <a16:creationId xmlns:a16="http://schemas.microsoft.com/office/drawing/2014/main" id="{8D6DDAE3-DDAE-45DC-B437-EBFE32CA418A}"/>
              </a:ext>
            </a:extLst>
          </p:cNvPr>
          <p:cNvSpPr>
            <a:spLocks noGrp="1"/>
          </p:cNvSpPr>
          <p:nvPr/>
        </p:nvSpPr>
        <p:spPr>
          <a:xfrm>
            <a:off x="548640" y="5461000"/>
            <a:ext cx="11094415" cy="279400"/>
          </a:xfrm>
          <a:prstGeom prst="rect">
            <a:avLst/>
          </a:prstGeom>
          <a:solidFill>
            <a:srgbClr val="0B1B2E"/>
          </a:solidFill>
          <a:effectLst>
            <a:outerShdw blurRad="177800" dist="50800" dir="8100000" algn="bl" rotWithShape="0">
              <a:srgbClr val="000000">
                <a:alpha val="22000"/>
              </a:srgbClr>
            </a:outerShdw>
          </a:effectLst>
        </p:spPr>
        <p:txBody>
          <a:bodyPr/>
          <a:lstStyle/>
          <a:p>
            <a:endParaRPr/>
          </a:p>
        </p:txBody>
      </p:sp>
      <p:sp>
        <p:nvSpPr>
          <p:cNvPr id="57" name="Shape 55">
            <a:extLst>
              <a:ext uri="{FF2B5EF4-FFF2-40B4-BE49-F238E27FC236}">
                <a16:creationId xmlns:a16="http://schemas.microsoft.com/office/drawing/2014/main" id="{4B42D4C4-B67F-413B-AF69-72E99BB38219}"/>
              </a:ext>
            </a:extLst>
          </p:cNvPr>
          <p:cNvSpPr>
            <a:spLocks noGrp="1"/>
          </p:cNvSpPr>
          <p:nvPr/>
        </p:nvSpPr>
        <p:spPr>
          <a:xfrm>
            <a:off x="548640" y="5461000"/>
            <a:ext cx="45720" cy="279400"/>
          </a:xfrm>
          <a:prstGeom prst="rect">
            <a:avLst/>
          </a:prstGeom>
          <a:solidFill>
            <a:srgbClr val="F26A4B"/>
          </a:solidFill>
        </p:spPr>
        <p:txBody>
          <a:bodyPr/>
          <a:lstStyle/>
          <a:p>
            <a:endParaRPr/>
          </a:p>
        </p:txBody>
      </p:sp>
      <p:sp>
        <p:nvSpPr>
          <p:cNvPr id="58" name="Text 56">
            <a:extLst>
              <a:ext uri="{FF2B5EF4-FFF2-40B4-BE49-F238E27FC236}">
                <a16:creationId xmlns:a16="http://schemas.microsoft.com/office/drawing/2014/main" id="{D8E8B59B-8C61-45E5-B822-8F7A078B500B}"/>
              </a:ext>
            </a:extLst>
          </p:cNvPr>
          <p:cNvSpPr>
            <a:spLocks noGrp="1"/>
          </p:cNvSpPr>
          <p:nvPr/>
        </p:nvSpPr>
        <p:spPr>
          <a:xfrm>
            <a:off x="822960" y="5461000"/>
            <a:ext cx="10637215" cy="279400"/>
          </a:xfrm>
          <a:prstGeom prst="rect">
            <a:avLst/>
          </a:prstGeom>
          <a:noFill/>
        </p:spPr>
        <p:txBody>
          <a:bodyPr wrap="square" lIns="0" tIns="0" rIns="0" bIns="0" anchor="ctr"/>
          <a:lstStyle/>
          <a:p>
            <a:pPr marL="0" indent="0">
              <a:buNone/>
            </a:pPr>
            <a:r>
              <a:rPr lang="en-US" sz="1300" i="1">
                <a:solidFill>
                  <a:srgbClr val="5EEAD4"/>
                </a:solidFill>
                <a:latin typeface="Calibri"/>
                <a:ea typeface="Calibri"/>
                <a:cs typeface="Calibri"/>
              </a:rPr>
              <a:t>The system shows the evidence behind each answer—and declines when support is insufficient.</a:t>
            </a:r>
            <a:endParaRPr sz="1300" i="1">
              <a:solidFill>
                <a:srgbClr val="5EEAD4"/>
              </a:solidFill>
              <a:latin typeface="Calibri"/>
              <a:ea typeface="Calibri"/>
              <a:cs typeface="Calibri"/>
            </a:endParaRPr>
          </a:p>
        </p:txBody>
      </p:sp>
      <p:sp>
        <p:nvSpPr>
          <p:cNvPr id="59" name="Text 57">
            <a:extLst>
              <a:ext uri="{FF2B5EF4-FFF2-40B4-BE49-F238E27FC236}">
                <a16:creationId xmlns:a16="http://schemas.microsoft.com/office/drawing/2014/main" id="{33E46E78-EC43-4428-A743-BDE22E1193C9}"/>
              </a:ext>
            </a:extLst>
          </p:cNvPr>
          <p:cNvSpPr>
            <a:spLocks noGrp="1"/>
          </p:cNvSpPr>
          <p:nvPr/>
        </p:nvSpPr>
        <p:spPr>
          <a:xfrm>
            <a:off x="548640" y="6473952"/>
            <a:ext cx="8229600" cy="256032"/>
          </a:xfrm>
          <a:prstGeom prst="rect">
            <a:avLst/>
          </a:prstGeom>
          <a:noFill/>
        </p:spPr>
        <p:txBody>
          <a:bodyPr wrap="square" lIns="0" tIns="0" rIns="0" bIns="0" anchor="ctr"/>
          <a:lstStyle/>
          <a:p>
            <a:pPr marL="0" indent="0">
              <a:buNone/>
            </a:pPr>
            <a:r>
              <a:rPr sz="800" b="1">
                <a:solidFill>
                  <a:srgbClr val="64748B"/>
                </a:solidFill>
                <a:latin typeface="Calibri"/>
                <a:ea typeface="Calibri"/>
                <a:cs typeface="Calibri"/>
              </a:rPr>
              <a:t>Contract Intelligence Platform  ·  Confidential — Internal</a:t>
            </a:r>
          </a:p>
        </p:txBody>
      </p:sp>
      <p:sp>
        <p:nvSpPr>
          <p:cNvPr id="60" name="Text 58">
            <a:extLst>
              <a:ext uri="{FF2B5EF4-FFF2-40B4-BE49-F238E27FC236}">
                <a16:creationId xmlns:a16="http://schemas.microsoft.com/office/drawing/2014/main" id="{C6F52597-6FA2-478D-96F7-4EBF5F433299}"/>
              </a:ext>
            </a:extLst>
          </p:cNvPr>
          <p:cNvSpPr>
            <a:spLocks noGrp="1"/>
          </p:cNvSpPr>
          <p:nvPr/>
        </p:nvSpPr>
        <p:spPr>
          <a:xfrm>
            <a:off x="10728655" y="6473952"/>
            <a:ext cx="914400" cy="256032"/>
          </a:xfrm>
          <a:prstGeom prst="rect">
            <a:avLst/>
          </a:prstGeom>
          <a:noFill/>
        </p:spPr>
        <p:txBody>
          <a:bodyPr wrap="square" lIns="0" tIns="0" rIns="0" bIns="0" anchor="ctr"/>
          <a:lstStyle/>
          <a:p>
            <a:pPr marL="0" indent="0" algn="r">
              <a:buNone/>
            </a:pPr>
            <a:r>
              <a:rPr sz="900">
                <a:solidFill>
                  <a:srgbClr val="64748B"/>
                </a:solidFill>
                <a:latin typeface="Calibri"/>
                <a:ea typeface="Calibri"/>
                <a:cs typeface="Calibri"/>
              </a:rPr>
              <a:t>10</a:t>
            </a:r>
          </a:p>
        </p:txBody>
      </p:sp>
    </p:spTree>
    <p:extLst>
      <p:ext uri="{BB962C8B-B14F-4D97-AF65-F5344CB8AC3E}">
        <p14:creationId xmlns:p14="http://schemas.microsoft.com/office/powerpoint/2010/main" val="173777647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0B1B2E"/>
        </a:solidFill>
        <a:effectLst/>
      </p:bgPr>
    </p:bg>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8A26137A-1C9C-40B7-BC20-821D21C4530F}"/>
              </a:ext>
            </a:extLst>
          </p:cNvPr>
          <p:cNvSpPr>
            <a:spLocks noGrp="1"/>
          </p:cNvSpPr>
          <p:nvPr/>
        </p:nvSpPr>
        <p:spPr>
          <a:xfrm>
            <a:off x="548640" y="457200"/>
            <a:ext cx="11094415" cy="256032"/>
          </a:xfrm>
          <a:prstGeom prst="rect">
            <a:avLst/>
          </a:prstGeom>
          <a:noFill/>
        </p:spPr>
        <p:txBody>
          <a:bodyPr wrap="square" lIns="0" tIns="0" rIns="0" bIns="0" anchor="ctr"/>
          <a:lstStyle/>
          <a:p>
            <a:pPr marL="0" indent="0">
              <a:buNone/>
            </a:pPr>
            <a:r>
              <a:rPr sz="1100" b="1">
                <a:solidFill>
                  <a:srgbClr val="14B8A6"/>
                </a:solidFill>
                <a:latin typeface="Calibri"/>
                <a:ea typeface="Calibri"/>
                <a:cs typeface="Calibri"/>
              </a:rPr>
              <a:t>SECTION 10 · TRUST BY DESIGN</a:t>
            </a:r>
          </a:p>
        </p:txBody>
      </p:sp>
      <p:sp>
        <p:nvSpPr>
          <p:cNvPr id="3" name="Text 1">
            <a:extLst>
              <a:ext uri="{FF2B5EF4-FFF2-40B4-BE49-F238E27FC236}">
                <a16:creationId xmlns:a16="http://schemas.microsoft.com/office/drawing/2014/main" id="{97632025-5F28-4431-AB7E-8DDC68C1A8D6}"/>
              </a:ext>
            </a:extLst>
          </p:cNvPr>
          <p:cNvSpPr>
            <a:spLocks noGrp="1"/>
          </p:cNvSpPr>
          <p:nvPr/>
        </p:nvSpPr>
        <p:spPr>
          <a:xfrm>
            <a:off x="548640" y="804672"/>
            <a:ext cx="11094466" cy="1005840"/>
          </a:xfrm>
          <a:prstGeom prst="rect">
            <a:avLst/>
          </a:prstGeom>
          <a:noFill/>
        </p:spPr>
        <p:txBody>
          <a:bodyPr wrap="square" lIns="0" tIns="0" rIns="0" bIns="0" anchor="t">
            <a:normAutofit/>
          </a:bodyPr>
          <a:lstStyle/>
          <a:p>
            <a:pPr marL="0" indent="0">
              <a:lnSpc>
                <a:spcPts val="3080"/>
              </a:lnSpc>
              <a:buNone/>
            </a:pPr>
            <a:r>
              <a:rPr sz="2800" b="1">
                <a:solidFill>
                  <a:srgbClr val="FFFFFF"/>
                </a:solidFill>
                <a:latin typeface="Georgia"/>
                <a:ea typeface="Georgia"/>
                <a:cs typeface="Georgia"/>
              </a:rPr>
              <a:t>Trust is built through layered controls, evidence and accountable use—not a claim of perfect AI</a:t>
            </a:r>
          </a:p>
        </p:txBody>
      </p:sp>
      <p:sp>
        <p:nvSpPr>
          <p:cNvPr id="4" name="Shape 2">
            <a:extLst>
              <a:ext uri="{FF2B5EF4-FFF2-40B4-BE49-F238E27FC236}">
                <a16:creationId xmlns:a16="http://schemas.microsoft.com/office/drawing/2014/main" id="{9FCB93CC-11CE-4C16-88F8-ED0D2CDAC3A1}"/>
              </a:ext>
            </a:extLst>
          </p:cNvPr>
          <p:cNvSpPr>
            <a:spLocks noGrp="1"/>
          </p:cNvSpPr>
          <p:nvPr/>
        </p:nvSpPr>
        <p:spPr>
          <a:xfrm>
            <a:off x="548640" y="1874520"/>
            <a:ext cx="7132320" cy="713232"/>
          </a:xfrm>
          <a:prstGeom prst="rect">
            <a:avLst/>
          </a:prstGeom>
          <a:solidFill>
            <a:srgbClr val="13283F"/>
          </a:solidFill>
          <a:effectLst>
            <a:outerShdw blurRad="177800" dist="50800" dir="8100000" algn="bl" rotWithShape="0">
              <a:srgbClr val="000000">
                <a:alpha val="22000"/>
              </a:srgbClr>
            </a:outerShdw>
          </a:effectLst>
        </p:spPr>
        <p:txBody>
          <a:bodyPr/>
          <a:lstStyle/>
          <a:p>
            <a:endParaRPr/>
          </a:p>
        </p:txBody>
      </p:sp>
      <p:sp>
        <p:nvSpPr>
          <p:cNvPr id="5" name="Shape 3">
            <a:extLst>
              <a:ext uri="{FF2B5EF4-FFF2-40B4-BE49-F238E27FC236}">
                <a16:creationId xmlns:a16="http://schemas.microsoft.com/office/drawing/2014/main" id="{2F25B8ED-7DD1-41D5-BD05-E596097677DB}"/>
              </a:ext>
            </a:extLst>
          </p:cNvPr>
          <p:cNvSpPr>
            <a:spLocks noGrp="1"/>
          </p:cNvSpPr>
          <p:nvPr/>
        </p:nvSpPr>
        <p:spPr>
          <a:xfrm>
            <a:off x="548640" y="1874520"/>
            <a:ext cx="82296" cy="713232"/>
          </a:xfrm>
          <a:prstGeom prst="rect">
            <a:avLst/>
          </a:prstGeom>
          <a:solidFill>
            <a:srgbClr val="14B8A6"/>
          </a:solidFill>
        </p:spPr>
        <p:txBody>
          <a:bodyPr/>
          <a:lstStyle/>
          <a:p>
            <a:endParaRPr/>
          </a:p>
        </p:txBody>
      </p:sp>
      <p:sp>
        <p:nvSpPr>
          <p:cNvPr id="6" name="Text 4">
            <a:extLst>
              <a:ext uri="{FF2B5EF4-FFF2-40B4-BE49-F238E27FC236}">
                <a16:creationId xmlns:a16="http://schemas.microsoft.com/office/drawing/2014/main" id="{D37F35C8-8079-4CAD-840C-EADE02372996}"/>
              </a:ext>
            </a:extLst>
          </p:cNvPr>
          <p:cNvSpPr>
            <a:spLocks noGrp="1"/>
          </p:cNvSpPr>
          <p:nvPr/>
        </p:nvSpPr>
        <p:spPr>
          <a:xfrm>
            <a:off x="804672" y="1874520"/>
            <a:ext cx="1828800" cy="713232"/>
          </a:xfrm>
          <a:prstGeom prst="rect">
            <a:avLst/>
          </a:prstGeom>
          <a:noFill/>
        </p:spPr>
        <p:txBody>
          <a:bodyPr wrap="square" lIns="0" tIns="0" rIns="0" bIns="0" anchor="ctr"/>
          <a:lstStyle/>
          <a:p>
            <a:pPr marL="0" indent="0">
              <a:buNone/>
            </a:pPr>
            <a:r>
              <a:rPr sz="1300" b="1">
                <a:solidFill>
                  <a:srgbClr val="5EEAD4"/>
                </a:solidFill>
                <a:latin typeface="Calibri"/>
                <a:ea typeface="Calibri"/>
                <a:cs typeface="Calibri"/>
              </a:rPr>
              <a:t>1 · PREVENT</a:t>
            </a:r>
          </a:p>
        </p:txBody>
      </p:sp>
      <p:sp>
        <p:nvSpPr>
          <p:cNvPr id="7" name="Text 5">
            <a:extLst>
              <a:ext uri="{FF2B5EF4-FFF2-40B4-BE49-F238E27FC236}">
                <a16:creationId xmlns:a16="http://schemas.microsoft.com/office/drawing/2014/main" id="{55CCC2B9-B422-437E-902E-143E9F5264B3}"/>
              </a:ext>
            </a:extLst>
          </p:cNvPr>
          <p:cNvSpPr>
            <a:spLocks noGrp="1"/>
          </p:cNvSpPr>
          <p:nvPr/>
        </p:nvSpPr>
        <p:spPr>
          <a:xfrm>
            <a:off x="2633472" y="1874520"/>
            <a:ext cx="4864608" cy="713232"/>
          </a:xfrm>
          <a:prstGeom prst="rect">
            <a:avLst/>
          </a:prstGeom>
          <a:noFill/>
        </p:spPr>
        <p:txBody>
          <a:bodyPr wrap="square" lIns="0" tIns="0" rIns="0" bIns="0" anchor="ctr"/>
          <a:lstStyle/>
          <a:p>
            <a:pPr marL="0" indent="0">
              <a:lnSpc>
                <a:spcPts val="1500"/>
              </a:lnSpc>
              <a:buNone/>
            </a:pPr>
            <a:r>
              <a:rPr sz="1150">
                <a:solidFill>
                  <a:srgbClr val="FFFFFF"/>
                </a:solidFill>
                <a:latin typeface="Calibri"/>
                <a:ea typeface="Calibri"/>
                <a:cs typeface="Calibri"/>
              </a:rPr>
              <a:t>Instructions and extraction rules focus the system on what is explicitly present; absence is treated as absence.</a:t>
            </a:r>
          </a:p>
        </p:txBody>
      </p:sp>
      <p:sp>
        <p:nvSpPr>
          <p:cNvPr id="8" name="Shape 6">
            <a:extLst>
              <a:ext uri="{FF2B5EF4-FFF2-40B4-BE49-F238E27FC236}">
                <a16:creationId xmlns:a16="http://schemas.microsoft.com/office/drawing/2014/main" id="{59828C0E-E305-4A40-A52A-5C98243F9A98}"/>
              </a:ext>
            </a:extLst>
          </p:cNvPr>
          <p:cNvSpPr>
            <a:spLocks noGrp="1"/>
          </p:cNvSpPr>
          <p:nvPr/>
        </p:nvSpPr>
        <p:spPr>
          <a:xfrm>
            <a:off x="548640" y="2697480"/>
            <a:ext cx="7132320" cy="713232"/>
          </a:xfrm>
          <a:prstGeom prst="rect">
            <a:avLst/>
          </a:prstGeom>
          <a:solidFill>
            <a:srgbClr val="13283F"/>
          </a:solidFill>
          <a:effectLst>
            <a:outerShdw blurRad="177800" dist="50800" dir="8100000" algn="bl" rotWithShape="0">
              <a:srgbClr val="000000">
                <a:alpha val="22000"/>
              </a:srgbClr>
            </a:outerShdw>
          </a:effectLst>
        </p:spPr>
        <p:txBody>
          <a:bodyPr/>
          <a:lstStyle/>
          <a:p>
            <a:endParaRPr/>
          </a:p>
        </p:txBody>
      </p:sp>
      <p:sp>
        <p:nvSpPr>
          <p:cNvPr id="9" name="Shape 7">
            <a:extLst>
              <a:ext uri="{FF2B5EF4-FFF2-40B4-BE49-F238E27FC236}">
                <a16:creationId xmlns:a16="http://schemas.microsoft.com/office/drawing/2014/main" id="{09286C30-37CA-430F-9DCF-1C51B9CE9621}"/>
              </a:ext>
            </a:extLst>
          </p:cNvPr>
          <p:cNvSpPr>
            <a:spLocks noGrp="1"/>
          </p:cNvSpPr>
          <p:nvPr/>
        </p:nvSpPr>
        <p:spPr>
          <a:xfrm>
            <a:off x="548640" y="2697480"/>
            <a:ext cx="82296" cy="713232"/>
          </a:xfrm>
          <a:prstGeom prst="rect">
            <a:avLst/>
          </a:prstGeom>
          <a:solidFill>
            <a:srgbClr val="14B8A6"/>
          </a:solidFill>
        </p:spPr>
        <p:txBody>
          <a:bodyPr/>
          <a:lstStyle/>
          <a:p>
            <a:endParaRPr/>
          </a:p>
        </p:txBody>
      </p:sp>
      <p:sp>
        <p:nvSpPr>
          <p:cNvPr id="10" name="Text 8">
            <a:extLst>
              <a:ext uri="{FF2B5EF4-FFF2-40B4-BE49-F238E27FC236}">
                <a16:creationId xmlns:a16="http://schemas.microsoft.com/office/drawing/2014/main" id="{447C54FF-D0F6-4FC4-9828-26597BD5981D}"/>
              </a:ext>
            </a:extLst>
          </p:cNvPr>
          <p:cNvSpPr>
            <a:spLocks noGrp="1"/>
          </p:cNvSpPr>
          <p:nvPr/>
        </p:nvSpPr>
        <p:spPr>
          <a:xfrm>
            <a:off x="804672" y="2697480"/>
            <a:ext cx="1828800" cy="713232"/>
          </a:xfrm>
          <a:prstGeom prst="rect">
            <a:avLst/>
          </a:prstGeom>
          <a:noFill/>
        </p:spPr>
        <p:txBody>
          <a:bodyPr wrap="square" lIns="0" tIns="0" rIns="0" bIns="0" anchor="ctr"/>
          <a:lstStyle/>
          <a:p>
            <a:pPr marL="0" indent="0">
              <a:buNone/>
            </a:pPr>
            <a:r>
              <a:rPr sz="1300" b="1">
                <a:solidFill>
                  <a:srgbClr val="5EEAD4"/>
                </a:solidFill>
                <a:latin typeface="Calibri"/>
                <a:ea typeface="Calibri"/>
                <a:cs typeface="Calibri"/>
              </a:rPr>
              <a:t>2 · CONSTRAIN</a:t>
            </a:r>
          </a:p>
        </p:txBody>
      </p:sp>
      <p:sp>
        <p:nvSpPr>
          <p:cNvPr id="11" name="Text 9">
            <a:extLst>
              <a:ext uri="{FF2B5EF4-FFF2-40B4-BE49-F238E27FC236}">
                <a16:creationId xmlns:a16="http://schemas.microsoft.com/office/drawing/2014/main" id="{1C779BF5-364C-4D4C-9ADA-C92B06F58E4B}"/>
              </a:ext>
            </a:extLst>
          </p:cNvPr>
          <p:cNvSpPr>
            <a:spLocks noGrp="1"/>
          </p:cNvSpPr>
          <p:nvPr/>
        </p:nvSpPr>
        <p:spPr>
          <a:xfrm>
            <a:off x="2633472" y="2697480"/>
            <a:ext cx="4864608" cy="713232"/>
          </a:xfrm>
          <a:prstGeom prst="rect">
            <a:avLst/>
          </a:prstGeom>
          <a:noFill/>
        </p:spPr>
        <p:txBody>
          <a:bodyPr wrap="square" lIns="0" tIns="0" rIns="0" bIns="0" anchor="ctr"/>
          <a:lstStyle/>
          <a:p>
            <a:pPr marL="0" indent="0">
              <a:lnSpc>
                <a:spcPts val="1500"/>
              </a:lnSpc>
              <a:buNone/>
            </a:pPr>
            <a:r>
              <a:rPr sz="1150">
                <a:solidFill>
                  <a:srgbClr val="FFFFFF"/>
                </a:solidFill>
                <a:latin typeface="Calibri"/>
                <a:ea typeface="Calibri"/>
                <a:cs typeface="Calibri"/>
              </a:rPr>
              <a:t>Schema and business-rule constraints limit outputs to defined, usable structures.</a:t>
            </a:r>
          </a:p>
        </p:txBody>
      </p:sp>
      <p:sp>
        <p:nvSpPr>
          <p:cNvPr id="12" name="Shape 10">
            <a:extLst>
              <a:ext uri="{FF2B5EF4-FFF2-40B4-BE49-F238E27FC236}">
                <a16:creationId xmlns:a16="http://schemas.microsoft.com/office/drawing/2014/main" id="{B2941CD2-F4BF-4D00-A573-07191198CAC5}"/>
              </a:ext>
            </a:extLst>
          </p:cNvPr>
          <p:cNvSpPr>
            <a:spLocks noGrp="1"/>
          </p:cNvSpPr>
          <p:nvPr/>
        </p:nvSpPr>
        <p:spPr>
          <a:xfrm>
            <a:off x="548640" y="3520440"/>
            <a:ext cx="7132320" cy="713232"/>
          </a:xfrm>
          <a:prstGeom prst="rect">
            <a:avLst/>
          </a:prstGeom>
          <a:solidFill>
            <a:srgbClr val="13283F"/>
          </a:solidFill>
          <a:effectLst>
            <a:outerShdw blurRad="177800" dist="50800" dir="8100000" algn="bl" rotWithShape="0">
              <a:srgbClr val="000000">
                <a:alpha val="22000"/>
              </a:srgbClr>
            </a:outerShdw>
          </a:effectLst>
        </p:spPr>
        <p:txBody>
          <a:bodyPr/>
          <a:lstStyle/>
          <a:p>
            <a:endParaRPr/>
          </a:p>
        </p:txBody>
      </p:sp>
      <p:sp>
        <p:nvSpPr>
          <p:cNvPr id="13" name="Shape 11">
            <a:extLst>
              <a:ext uri="{FF2B5EF4-FFF2-40B4-BE49-F238E27FC236}">
                <a16:creationId xmlns:a16="http://schemas.microsoft.com/office/drawing/2014/main" id="{0DC9696F-B251-4CF5-A9E1-8047AD2E4F7B}"/>
              </a:ext>
            </a:extLst>
          </p:cNvPr>
          <p:cNvSpPr>
            <a:spLocks noGrp="1"/>
          </p:cNvSpPr>
          <p:nvPr/>
        </p:nvSpPr>
        <p:spPr>
          <a:xfrm>
            <a:off x="548640" y="3520440"/>
            <a:ext cx="82296" cy="713232"/>
          </a:xfrm>
          <a:prstGeom prst="rect">
            <a:avLst/>
          </a:prstGeom>
          <a:solidFill>
            <a:srgbClr val="14B8A6"/>
          </a:solidFill>
        </p:spPr>
        <p:txBody>
          <a:bodyPr/>
          <a:lstStyle/>
          <a:p>
            <a:endParaRPr/>
          </a:p>
        </p:txBody>
      </p:sp>
      <p:sp>
        <p:nvSpPr>
          <p:cNvPr id="14" name="Text 12">
            <a:extLst>
              <a:ext uri="{FF2B5EF4-FFF2-40B4-BE49-F238E27FC236}">
                <a16:creationId xmlns:a16="http://schemas.microsoft.com/office/drawing/2014/main" id="{1258FD0C-1479-4E90-8714-2AF5D1E7D450}"/>
              </a:ext>
            </a:extLst>
          </p:cNvPr>
          <p:cNvSpPr>
            <a:spLocks noGrp="1"/>
          </p:cNvSpPr>
          <p:nvPr/>
        </p:nvSpPr>
        <p:spPr>
          <a:xfrm>
            <a:off x="804672" y="3520440"/>
            <a:ext cx="1828800" cy="713232"/>
          </a:xfrm>
          <a:prstGeom prst="rect">
            <a:avLst/>
          </a:prstGeom>
          <a:noFill/>
        </p:spPr>
        <p:txBody>
          <a:bodyPr wrap="square" lIns="0" tIns="0" rIns="0" bIns="0" anchor="ctr"/>
          <a:lstStyle/>
          <a:p>
            <a:pPr marL="0" indent="0">
              <a:buNone/>
            </a:pPr>
            <a:r>
              <a:rPr sz="1300" b="1">
                <a:solidFill>
                  <a:srgbClr val="5EEAD4"/>
                </a:solidFill>
                <a:latin typeface="Calibri"/>
                <a:ea typeface="Calibri"/>
                <a:cs typeface="Calibri"/>
              </a:rPr>
              <a:t>3 · VERIFY</a:t>
            </a:r>
          </a:p>
        </p:txBody>
      </p:sp>
      <p:sp>
        <p:nvSpPr>
          <p:cNvPr id="15" name="Text 13">
            <a:extLst>
              <a:ext uri="{FF2B5EF4-FFF2-40B4-BE49-F238E27FC236}">
                <a16:creationId xmlns:a16="http://schemas.microsoft.com/office/drawing/2014/main" id="{601EF38D-43B2-4431-B4A2-6FF68C12E6EB}"/>
              </a:ext>
            </a:extLst>
          </p:cNvPr>
          <p:cNvSpPr>
            <a:spLocks noGrp="1"/>
          </p:cNvSpPr>
          <p:nvPr/>
        </p:nvSpPr>
        <p:spPr>
          <a:xfrm>
            <a:off x="2633472" y="3520440"/>
            <a:ext cx="4864608" cy="713232"/>
          </a:xfrm>
          <a:prstGeom prst="rect">
            <a:avLst/>
          </a:prstGeom>
          <a:noFill/>
        </p:spPr>
        <p:txBody>
          <a:bodyPr wrap="square" lIns="0" tIns="0" rIns="0" bIns="0" anchor="ctr"/>
          <a:lstStyle/>
          <a:p>
            <a:pPr marL="0" indent="0">
              <a:lnSpc>
                <a:spcPts val="1500"/>
              </a:lnSpc>
              <a:buNone/>
            </a:pPr>
            <a:r>
              <a:rPr sz="1150">
                <a:solidFill>
                  <a:srgbClr val="FFFFFF"/>
                </a:solidFill>
                <a:latin typeface="Calibri"/>
                <a:ea typeface="Calibri"/>
                <a:cs typeface="Calibri"/>
              </a:rPr>
              <a:t>Deterministic checks assess dates, amounts, codes, completeness and consistency against source-derived records.</a:t>
            </a:r>
          </a:p>
        </p:txBody>
      </p:sp>
      <p:sp>
        <p:nvSpPr>
          <p:cNvPr id="16" name="Shape 14">
            <a:extLst>
              <a:ext uri="{FF2B5EF4-FFF2-40B4-BE49-F238E27FC236}">
                <a16:creationId xmlns:a16="http://schemas.microsoft.com/office/drawing/2014/main" id="{ED8EE669-3D36-4785-8C5B-D64ADE5CE472}"/>
              </a:ext>
            </a:extLst>
          </p:cNvPr>
          <p:cNvSpPr>
            <a:spLocks noGrp="1"/>
          </p:cNvSpPr>
          <p:nvPr/>
        </p:nvSpPr>
        <p:spPr>
          <a:xfrm>
            <a:off x="548640" y="4343400"/>
            <a:ext cx="7132320" cy="713232"/>
          </a:xfrm>
          <a:prstGeom prst="rect">
            <a:avLst/>
          </a:prstGeom>
          <a:solidFill>
            <a:srgbClr val="13283F"/>
          </a:solidFill>
          <a:effectLst>
            <a:outerShdw blurRad="177800" dist="50800" dir="8100000" algn="bl" rotWithShape="0">
              <a:srgbClr val="000000">
                <a:alpha val="22000"/>
              </a:srgbClr>
            </a:outerShdw>
          </a:effectLst>
        </p:spPr>
        <p:txBody>
          <a:bodyPr/>
          <a:lstStyle/>
          <a:p>
            <a:endParaRPr/>
          </a:p>
        </p:txBody>
      </p:sp>
      <p:sp>
        <p:nvSpPr>
          <p:cNvPr id="17" name="Shape 15">
            <a:extLst>
              <a:ext uri="{FF2B5EF4-FFF2-40B4-BE49-F238E27FC236}">
                <a16:creationId xmlns:a16="http://schemas.microsoft.com/office/drawing/2014/main" id="{E1B8B0D5-5B7B-4E54-86A9-F09CF4A9F990}"/>
              </a:ext>
            </a:extLst>
          </p:cNvPr>
          <p:cNvSpPr>
            <a:spLocks noGrp="1"/>
          </p:cNvSpPr>
          <p:nvPr/>
        </p:nvSpPr>
        <p:spPr>
          <a:xfrm>
            <a:off x="548640" y="4343400"/>
            <a:ext cx="82296" cy="713232"/>
          </a:xfrm>
          <a:prstGeom prst="rect">
            <a:avLst/>
          </a:prstGeom>
          <a:solidFill>
            <a:srgbClr val="14B8A6"/>
          </a:solidFill>
        </p:spPr>
        <p:txBody>
          <a:bodyPr/>
          <a:lstStyle/>
          <a:p>
            <a:endParaRPr/>
          </a:p>
        </p:txBody>
      </p:sp>
      <p:sp>
        <p:nvSpPr>
          <p:cNvPr id="18" name="Text 16">
            <a:extLst>
              <a:ext uri="{FF2B5EF4-FFF2-40B4-BE49-F238E27FC236}">
                <a16:creationId xmlns:a16="http://schemas.microsoft.com/office/drawing/2014/main" id="{9C8A0376-36A6-462A-95C6-CE6DC222C71A}"/>
              </a:ext>
            </a:extLst>
          </p:cNvPr>
          <p:cNvSpPr>
            <a:spLocks noGrp="1"/>
          </p:cNvSpPr>
          <p:nvPr/>
        </p:nvSpPr>
        <p:spPr>
          <a:xfrm>
            <a:off x="804672" y="4343400"/>
            <a:ext cx="1828800" cy="713232"/>
          </a:xfrm>
          <a:prstGeom prst="rect">
            <a:avLst/>
          </a:prstGeom>
          <a:noFill/>
        </p:spPr>
        <p:txBody>
          <a:bodyPr wrap="square" lIns="0" tIns="0" rIns="0" bIns="0" anchor="ctr"/>
          <a:lstStyle/>
          <a:p>
            <a:pPr marL="0" indent="0">
              <a:buNone/>
            </a:pPr>
            <a:r>
              <a:rPr sz="1300" b="1">
                <a:solidFill>
                  <a:srgbClr val="5EEAD4"/>
                </a:solidFill>
                <a:latin typeface="Calibri"/>
                <a:ea typeface="Calibri"/>
                <a:cs typeface="Calibri"/>
              </a:rPr>
              <a:t>4 · REVIEW</a:t>
            </a:r>
          </a:p>
        </p:txBody>
      </p:sp>
      <p:sp>
        <p:nvSpPr>
          <p:cNvPr id="19" name="Text 17">
            <a:extLst>
              <a:ext uri="{FF2B5EF4-FFF2-40B4-BE49-F238E27FC236}">
                <a16:creationId xmlns:a16="http://schemas.microsoft.com/office/drawing/2014/main" id="{230F480B-783F-4EDF-95D9-49434B084255}"/>
              </a:ext>
            </a:extLst>
          </p:cNvPr>
          <p:cNvSpPr>
            <a:spLocks noGrp="1"/>
          </p:cNvSpPr>
          <p:nvPr/>
        </p:nvSpPr>
        <p:spPr>
          <a:xfrm>
            <a:off x="2633472" y="4343400"/>
            <a:ext cx="4864608" cy="713232"/>
          </a:xfrm>
          <a:prstGeom prst="rect">
            <a:avLst/>
          </a:prstGeom>
          <a:noFill/>
        </p:spPr>
        <p:txBody>
          <a:bodyPr wrap="square" lIns="0" tIns="0" rIns="0" bIns="0" anchor="ctr"/>
          <a:lstStyle/>
          <a:p>
            <a:pPr marL="0" indent="0">
              <a:lnSpc>
                <a:spcPts val="1500"/>
              </a:lnSpc>
              <a:buNone/>
            </a:pPr>
            <a:r>
              <a:rPr sz="1150">
                <a:solidFill>
                  <a:srgbClr val="FFFFFF"/>
                </a:solidFill>
                <a:latin typeface="Calibri"/>
                <a:ea typeface="Calibri"/>
                <a:cs typeface="Calibri"/>
              </a:rPr>
              <a:t>Quality review and exception handling surface uncertainty before data reaches trusted serving layers.</a:t>
            </a:r>
          </a:p>
        </p:txBody>
      </p:sp>
      <p:sp>
        <p:nvSpPr>
          <p:cNvPr id="20" name="Shape 18">
            <a:extLst>
              <a:ext uri="{FF2B5EF4-FFF2-40B4-BE49-F238E27FC236}">
                <a16:creationId xmlns:a16="http://schemas.microsoft.com/office/drawing/2014/main" id="{D3816EB8-75A1-4AD2-8539-10D3CA3AA3EF}"/>
              </a:ext>
            </a:extLst>
          </p:cNvPr>
          <p:cNvSpPr>
            <a:spLocks noGrp="1"/>
          </p:cNvSpPr>
          <p:nvPr/>
        </p:nvSpPr>
        <p:spPr>
          <a:xfrm>
            <a:off x="548640" y="5166360"/>
            <a:ext cx="7132320" cy="713232"/>
          </a:xfrm>
          <a:prstGeom prst="rect">
            <a:avLst/>
          </a:prstGeom>
          <a:solidFill>
            <a:srgbClr val="13283F"/>
          </a:solidFill>
          <a:effectLst>
            <a:outerShdw blurRad="177800" dist="50800" dir="8100000" algn="bl" rotWithShape="0">
              <a:srgbClr val="000000">
                <a:alpha val="22000"/>
              </a:srgbClr>
            </a:outerShdw>
          </a:effectLst>
        </p:spPr>
        <p:txBody>
          <a:bodyPr/>
          <a:lstStyle/>
          <a:p>
            <a:endParaRPr/>
          </a:p>
        </p:txBody>
      </p:sp>
      <p:sp>
        <p:nvSpPr>
          <p:cNvPr id="21" name="Shape 19">
            <a:extLst>
              <a:ext uri="{FF2B5EF4-FFF2-40B4-BE49-F238E27FC236}">
                <a16:creationId xmlns:a16="http://schemas.microsoft.com/office/drawing/2014/main" id="{6B4937DE-1B49-4F00-A598-4A879FBDC128}"/>
              </a:ext>
            </a:extLst>
          </p:cNvPr>
          <p:cNvSpPr>
            <a:spLocks noGrp="1"/>
          </p:cNvSpPr>
          <p:nvPr/>
        </p:nvSpPr>
        <p:spPr>
          <a:xfrm>
            <a:off x="548640" y="5166360"/>
            <a:ext cx="82296" cy="713232"/>
          </a:xfrm>
          <a:prstGeom prst="rect">
            <a:avLst/>
          </a:prstGeom>
          <a:solidFill>
            <a:srgbClr val="F26A4B"/>
          </a:solidFill>
        </p:spPr>
        <p:txBody>
          <a:bodyPr/>
          <a:lstStyle/>
          <a:p>
            <a:endParaRPr/>
          </a:p>
        </p:txBody>
      </p:sp>
      <p:sp>
        <p:nvSpPr>
          <p:cNvPr id="22" name="Text 20">
            <a:extLst>
              <a:ext uri="{FF2B5EF4-FFF2-40B4-BE49-F238E27FC236}">
                <a16:creationId xmlns:a16="http://schemas.microsoft.com/office/drawing/2014/main" id="{09904ED8-B200-42D7-865C-F2706D2978D1}"/>
              </a:ext>
            </a:extLst>
          </p:cNvPr>
          <p:cNvSpPr>
            <a:spLocks noGrp="1"/>
          </p:cNvSpPr>
          <p:nvPr/>
        </p:nvSpPr>
        <p:spPr>
          <a:xfrm>
            <a:off x="804672" y="5166360"/>
            <a:ext cx="1828800" cy="713232"/>
          </a:xfrm>
          <a:prstGeom prst="rect">
            <a:avLst/>
          </a:prstGeom>
          <a:noFill/>
        </p:spPr>
        <p:txBody>
          <a:bodyPr wrap="square" lIns="0" tIns="0" rIns="0" bIns="0" anchor="ctr"/>
          <a:lstStyle/>
          <a:p>
            <a:pPr marL="0" indent="0">
              <a:buNone/>
            </a:pPr>
            <a:r>
              <a:rPr sz="1300" b="1">
                <a:solidFill>
                  <a:srgbClr val="F26A4B"/>
                </a:solidFill>
                <a:latin typeface="Calibri"/>
                <a:ea typeface="Calibri"/>
                <a:cs typeface="Calibri"/>
              </a:rPr>
              <a:t>5 · GROUND</a:t>
            </a:r>
          </a:p>
        </p:txBody>
      </p:sp>
      <p:sp>
        <p:nvSpPr>
          <p:cNvPr id="23" name="Text 21">
            <a:extLst>
              <a:ext uri="{FF2B5EF4-FFF2-40B4-BE49-F238E27FC236}">
                <a16:creationId xmlns:a16="http://schemas.microsoft.com/office/drawing/2014/main" id="{3B4CE067-CED9-427A-AC6A-ADBE1BE2995E}"/>
              </a:ext>
            </a:extLst>
          </p:cNvPr>
          <p:cNvSpPr>
            <a:spLocks noGrp="1"/>
          </p:cNvSpPr>
          <p:nvPr/>
        </p:nvSpPr>
        <p:spPr>
          <a:xfrm>
            <a:off x="2633472" y="5166360"/>
            <a:ext cx="4864608" cy="713232"/>
          </a:xfrm>
          <a:prstGeom prst="rect">
            <a:avLst/>
          </a:prstGeom>
          <a:noFill/>
        </p:spPr>
        <p:txBody>
          <a:bodyPr wrap="square" lIns="0" tIns="0" rIns="0" bIns="0" anchor="ctr"/>
          <a:lstStyle/>
          <a:p>
            <a:pPr marL="0" indent="0">
              <a:lnSpc>
                <a:spcPts val="1500"/>
              </a:lnSpc>
              <a:buNone/>
            </a:pPr>
            <a:r>
              <a:rPr sz="1150">
                <a:solidFill>
                  <a:srgbClr val="FFFFFF"/>
                </a:solidFill>
                <a:latin typeface="Calibri"/>
                <a:ea typeface="Calibri"/>
                <a:cs typeface="Calibri"/>
              </a:rPr>
              <a:t>Answer-time citations, confidence signals and refusal thresholds keep responses tied to available evidence.</a:t>
            </a:r>
          </a:p>
        </p:txBody>
      </p:sp>
      <p:sp>
        <p:nvSpPr>
          <p:cNvPr id="24" name="Shape 22">
            <a:extLst>
              <a:ext uri="{FF2B5EF4-FFF2-40B4-BE49-F238E27FC236}">
                <a16:creationId xmlns:a16="http://schemas.microsoft.com/office/drawing/2014/main" id="{83F3A25B-7E4E-427B-99E2-3639B12B1DCD}"/>
              </a:ext>
            </a:extLst>
          </p:cNvPr>
          <p:cNvSpPr>
            <a:spLocks noGrp="1"/>
          </p:cNvSpPr>
          <p:nvPr/>
        </p:nvSpPr>
        <p:spPr>
          <a:xfrm>
            <a:off x="7882128" y="1874520"/>
            <a:ext cx="3760927" cy="4178300"/>
          </a:xfrm>
          <a:prstGeom prst="rect">
            <a:avLst/>
          </a:prstGeom>
          <a:solidFill>
            <a:srgbClr val="13283F"/>
          </a:solidFill>
          <a:effectLst>
            <a:outerShdw blurRad="177800" dist="50800" dir="8100000" algn="bl" rotWithShape="0">
              <a:srgbClr val="000000">
                <a:alpha val="22000"/>
              </a:srgbClr>
            </a:outerShdw>
          </a:effectLst>
        </p:spPr>
        <p:txBody>
          <a:bodyPr/>
          <a:lstStyle/>
          <a:p>
            <a:endParaRPr/>
          </a:p>
        </p:txBody>
      </p:sp>
      <p:sp>
        <p:nvSpPr>
          <p:cNvPr id="25" name="Shape 23">
            <a:extLst>
              <a:ext uri="{FF2B5EF4-FFF2-40B4-BE49-F238E27FC236}">
                <a16:creationId xmlns:a16="http://schemas.microsoft.com/office/drawing/2014/main" id="{0F82F2FE-E6E9-4F5C-8606-5F306B3AC628}"/>
              </a:ext>
            </a:extLst>
          </p:cNvPr>
          <p:cNvSpPr>
            <a:spLocks noGrp="1"/>
          </p:cNvSpPr>
          <p:nvPr/>
        </p:nvSpPr>
        <p:spPr>
          <a:xfrm>
            <a:off x="7882128" y="1874520"/>
            <a:ext cx="3760927" cy="73152"/>
          </a:xfrm>
          <a:prstGeom prst="rect">
            <a:avLst/>
          </a:prstGeom>
          <a:solidFill>
            <a:srgbClr val="F26A4B"/>
          </a:solidFill>
        </p:spPr>
        <p:txBody>
          <a:bodyPr/>
          <a:lstStyle/>
          <a:p>
            <a:endParaRPr/>
          </a:p>
        </p:txBody>
      </p:sp>
      <p:sp>
        <p:nvSpPr>
          <p:cNvPr id="26" name="Text 24">
            <a:extLst>
              <a:ext uri="{FF2B5EF4-FFF2-40B4-BE49-F238E27FC236}">
                <a16:creationId xmlns:a16="http://schemas.microsoft.com/office/drawing/2014/main" id="{BA4A18F8-663E-40D9-B8BB-C789484F3FFA}"/>
              </a:ext>
            </a:extLst>
          </p:cNvPr>
          <p:cNvSpPr>
            <a:spLocks noGrp="1"/>
          </p:cNvSpPr>
          <p:nvPr/>
        </p:nvSpPr>
        <p:spPr>
          <a:xfrm>
            <a:off x="8110728" y="2029968"/>
            <a:ext cx="3413455" cy="274320"/>
          </a:xfrm>
          <a:prstGeom prst="rect">
            <a:avLst/>
          </a:prstGeom>
          <a:noFill/>
        </p:spPr>
        <p:txBody>
          <a:bodyPr wrap="square" lIns="0" tIns="0" rIns="0" bIns="0" anchor="ctr"/>
          <a:lstStyle/>
          <a:p>
            <a:pPr marL="0" indent="0">
              <a:buNone/>
            </a:pPr>
            <a:r>
              <a:rPr sz="1000" b="1">
                <a:solidFill>
                  <a:srgbClr val="F26A4B"/>
                </a:solidFill>
                <a:latin typeface="Calibri"/>
                <a:ea typeface="Calibri"/>
                <a:cs typeface="Calibri"/>
              </a:rPr>
              <a:t>DEFENSE IN DEPTH</a:t>
            </a:r>
          </a:p>
        </p:txBody>
      </p:sp>
      <p:sp>
        <p:nvSpPr>
          <p:cNvPr id="27" name="Text 25">
            <a:extLst>
              <a:ext uri="{FF2B5EF4-FFF2-40B4-BE49-F238E27FC236}">
                <a16:creationId xmlns:a16="http://schemas.microsoft.com/office/drawing/2014/main" id="{B7D8E10A-EEDE-40D0-B80D-B8C0E8F2638F}"/>
              </a:ext>
            </a:extLst>
          </p:cNvPr>
          <p:cNvSpPr>
            <a:spLocks noGrp="1"/>
          </p:cNvSpPr>
          <p:nvPr/>
        </p:nvSpPr>
        <p:spPr>
          <a:xfrm>
            <a:off x="8110728" y="2387600"/>
            <a:ext cx="3413455" cy="1422400"/>
          </a:xfrm>
          <a:prstGeom prst="rect">
            <a:avLst/>
          </a:prstGeom>
          <a:noFill/>
        </p:spPr>
        <p:txBody>
          <a:bodyPr wrap="square" lIns="0" tIns="0" rIns="0" bIns="0" anchor="t"/>
          <a:lstStyle/>
          <a:p>
            <a:pPr marL="0" indent="0">
              <a:lnSpc>
                <a:spcPts val="1800"/>
              </a:lnSpc>
              <a:buNone/>
            </a:pPr>
            <a:r>
              <a:rPr lang="en-US" sz="1300" b="1">
                <a:solidFill>
                  <a:srgbClr val="FFFFFF"/>
                </a:solidFill>
                <a:latin typeface="Calibri"/>
                <a:ea typeface="Calibri"/>
                <a:cs typeface="Calibri"/>
              </a:rPr>
              <a:t>We do not claim hallucinations are eliminated.
We claim risk is bounded through layered controls, measured confidence and accountable escalation.</a:t>
            </a:r>
            <a:endParaRPr sz="1200" b="1">
              <a:solidFill>
                <a:srgbClr val="5EEAD4"/>
              </a:solidFill>
              <a:latin typeface="Calibri"/>
              <a:ea typeface="Calibri"/>
              <a:cs typeface="Calibri"/>
            </a:endParaRPr>
          </a:p>
        </p:txBody>
      </p:sp>
      <p:sp>
        <p:nvSpPr>
          <p:cNvPr id="28" name="Text 26">
            <a:extLst>
              <a:ext uri="{FF2B5EF4-FFF2-40B4-BE49-F238E27FC236}">
                <a16:creationId xmlns:a16="http://schemas.microsoft.com/office/drawing/2014/main" id="{75DD99BB-852A-47BC-9FD8-AB011BE5AC46}"/>
              </a:ext>
            </a:extLst>
          </p:cNvPr>
          <p:cNvSpPr>
            <a:spLocks noGrp="1"/>
          </p:cNvSpPr>
          <p:nvPr/>
        </p:nvSpPr>
        <p:spPr>
          <a:xfrm>
            <a:off x="8110728" y="3987800"/>
            <a:ext cx="3413455" cy="355600"/>
          </a:xfrm>
          <a:prstGeom prst="rect">
            <a:avLst/>
          </a:prstGeom>
          <a:noFill/>
        </p:spPr>
        <p:txBody>
          <a:bodyPr wrap="square" lIns="0" tIns="0" rIns="0" bIns="0" anchor="ctr"/>
          <a:lstStyle/>
          <a:p>
            <a:pPr marL="0" indent="0">
              <a:buNone/>
            </a:pPr>
            <a:r>
              <a:rPr sz="2000" b="1">
                <a:solidFill>
                  <a:srgbClr val="5EEAD4"/>
                </a:solidFill>
                <a:latin typeface="Georgia"/>
                <a:ea typeface="Georgia"/>
                <a:cs typeface="Georgia"/>
              </a:rPr>
              <a:t>CITED</a:t>
            </a:r>
          </a:p>
        </p:txBody>
      </p:sp>
      <p:sp>
        <p:nvSpPr>
          <p:cNvPr id="29" name="Text 27">
            <a:extLst>
              <a:ext uri="{FF2B5EF4-FFF2-40B4-BE49-F238E27FC236}">
                <a16:creationId xmlns:a16="http://schemas.microsoft.com/office/drawing/2014/main" id="{7A1AB00F-57A1-4681-9989-AFCAEFF860A9}"/>
              </a:ext>
            </a:extLst>
          </p:cNvPr>
          <p:cNvSpPr>
            <a:spLocks noGrp="1"/>
          </p:cNvSpPr>
          <p:nvPr/>
        </p:nvSpPr>
        <p:spPr>
          <a:xfrm>
            <a:off x="8110728" y="4343400"/>
            <a:ext cx="3413455" cy="228600"/>
          </a:xfrm>
          <a:prstGeom prst="rect">
            <a:avLst/>
          </a:prstGeom>
          <a:noFill/>
        </p:spPr>
        <p:txBody>
          <a:bodyPr wrap="square" lIns="0" tIns="0" rIns="0" bIns="0" anchor="ctr"/>
          <a:lstStyle/>
          <a:p>
            <a:pPr marL="0" indent="0">
              <a:buNone/>
            </a:pPr>
            <a:r>
              <a:rPr sz="950">
                <a:solidFill>
                  <a:srgbClr val="93A4BD"/>
                </a:solidFill>
                <a:latin typeface="Calibri"/>
                <a:ea typeface="Calibri"/>
                <a:cs typeface="Calibri"/>
              </a:rPr>
              <a:t>Evidence linked to source material</a:t>
            </a:r>
          </a:p>
        </p:txBody>
      </p:sp>
      <p:sp>
        <p:nvSpPr>
          <p:cNvPr id="30" name="Text 28">
            <a:extLst>
              <a:ext uri="{FF2B5EF4-FFF2-40B4-BE49-F238E27FC236}">
                <a16:creationId xmlns:a16="http://schemas.microsoft.com/office/drawing/2014/main" id="{3DFB5EDE-5593-4FD3-956C-5CC2DB6222E8}"/>
              </a:ext>
            </a:extLst>
          </p:cNvPr>
          <p:cNvSpPr>
            <a:spLocks noGrp="1"/>
          </p:cNvSpPr>
          <p:nvPr/>
        </p:nvSpPr>
        <p:spPr>
          <a:xfrm>
            <a:off x="8110728" y="4711700"/>
            <a:ext cx="3413455" cy="355600"/>
          </a:xfrm>
          <a:prstGeom prst="rect">
            <a:avLst/>
          </a:prstGeom>
          <a:noFill/>
        </p:spPr>
        <p:txBody>
          <a:bodyPr wrap="square" lIns="0" tIns="0" rIns="0" bIns="0" anchor="ctr"/>
          <a:lstStyle/>
          <a:p>
            <a:pPr marL="0" indent="0">
              <a:buNone/>
            </a:pPr>
            <a:r>
              <a:rPr sz="2000" b="1">
                <a:solidFill>
                  <a:srgbClr val="5EEAD4"/>
                </a:solidFill>
                <a:latin typeface="Georgia"/>
                <a:ea typeface="Georgia"/>
                <a:cs typeface="Georgia"/>
              </a:rPr>
              <a:t>CHECKED</a:t>
            </a:r>
          </a:p>
        </p:txBody>
      </p:sp>
      <p:sp>
        <p:nvSpPr>
          <p:cNvPr id="31" name="Text 29">
            <a:extLst>
              <a:ext uri="{FF2B5EF4-FFF2-40B4-BE49-F238E27FC236}">
                <a16:creationId xmlns:a16="http://schemas.microsoft.com/office/drawing/2014/main" id="{BA6E2D63-C123-44E2-AF5C-72F309FCE761}"/>
              </a:ext>
            </a:extLst>
          </p:cNvPr>
          <p:cNvSpPr>
            <a:spLocks noGrp="1"/>
          </p:cNvSpPr>
          <p:nvPr/>
        </p:nvSpPr>
        <p:spPr>
          <a:xfrm>
            <a:off x="8110728" y="5067300"/>
            <a:ext cx="3413455" cy="228600"/>
          </a:xfrm>
          <a:prstGeom prst="rect">
            <a:avLst/>
          </a:prstGeom>
          <a:noFill/>
        </p:spPr>
        <p:txBody>
          <a:bodyPr wrap="square" lIns="0" tIns="0" rIns="0" bIns="0" anchor="ctr"/>
          <a:lstStyle/>
          <a:p>
            <a:pPr marL="0" indent="0">
              <a:buNone/>
            </a:pPr>
            <a:r>
              <a:rPr sz="950">
                <a:solidFill>
                  <a:srgbClr val="93A4BD"/>
                </a:solidFill>
                <a:latin typeface="Calibri"/>
                <a:ea typeface="Calibri"/>
                <a:cs typeface="Calibri"/>
              </a:rPr>
              <a:t>Controls applied at data and answer stages</a:t>
            </a:r>
          </a:p>
        </p:txBody>
      </p:sp>
      <p:sp>
        <p:nvSpPr>
          <p:cNvPr id="32" name="Text 30">
            <a:extLst>
              <a:ext uri="{FF2B5EF4-FFF2-40B4-BE49-F238E27FC236}">
                <a16:creationId xmlns:a16="http://schemas.microsoft.com/office/drawing/2014/main" id="{2ACC3687-8432-400D-8A06-FBB6042B7804}"/>
              </a:ext>
            </a:extLst>
          </p:cNvPr>
          <p:cNvSpPr>
            <a:spLocks noGrp="1"/>
          </p:cNvSpPr>
          <p:nvPr/>
        </p:nvSpPr>
        <p:spPr>
          <a:xfrm>
            <a:off x="8110728" y="5435600"/>
            <a:ext cx="3413455" cy="355600"/>
          </a:xfrm>
          <a:prstGeom prst="rect">
            <a:avLst/>
          </a:prstGeom>
          <a:noFill/>
        </p:spPr>
        <p:txBody>
          <a:bodyPr wrap="square" lIns="0" tIns="0" rIns="0" bIns="0" anchor="ctr"/>
          <a:lstStyle/>
          <a:p>
            <a:pPr marL="0" indent="0">
              <a:buNone/>
            </a:pPr>
            <a:r>
              <a:rPr sz="2000" b="1">
                <a:solidFill>
                  <a:srgbClr val="F26A4B"/>
                </a:solidFill>
                <a:latin typeface="Georgia"/>
                <a:ea typeface="Georgia"/>
                <a:cs typeface="Georgia"/>
              </a:rPr>
              <a:t>ESCALATE</a:t>
            </a:r>
          </a:p>
        </p:txBody>
      </p:sp>
      <p:sp>
        <p:nvSpPr>
          <p:cNvPr id="33" name="Text 31">
            <a:extLst>
              <a:ext uri="{FF2B5EF4-FFF2-40B4-BE49-F238E27FC236}">
                <a16:creationId xmlns:a16="http://schemas.microsoft.com/office/drawing/2014/main" id="{6DC8FCB5-C172-49CD-85C0-087BDF474A3D}"/>
              </a:ext>
            </a:extLst>
          </p:cNvPr>
          <p:cNvSpPr>
            <a:spLocks noGrp="1"/>
          </p:cNvSpPr>
          <p:nvPr/>
        </p:nvSpPr>
        <p:spPr>
          <a:xfrm>
            <a:off x="8110728" y="5803900"/>
            <a:ext cx="3413455" cy="228600"/>
          </a:xfrm>
          <a:prstGeom prst="rect">
            <a:avLst/>
          </a:prstGeom>
          <a:noFill/>
        </p:spPr>
        <p:txBody>
          <a:bodyPr wrap="square" lIns="0" tIns="0" rIns="0" bIns="0" anchor="ctr"/>
          <a:lstStyle/>
          <a:p>
            <a:pPr marL="0" indent="0">
              <a:buNone/>
            </a:pPr>
            <a:r>
              <a:rPr sz="950">
                <a:solidFill>
                  <a:srgbClr val="93A4BD"/>
                </a:solidFill>
                <a:latin typeface="Calibri"/>
                <a:ea typeface="Calibri"/>
                <a:cs typeface="Calibri"/>
              </a:rPr>
              <a:t>Low-evidence cases are flagged or declined</a:t>
            </a:r>
          </a:p>
        </p:txBody>
      </p:sp>
      <p:sp>
        <p:nvSpPr>
          <p:cNvPr id="34" name="Shape 32">
            <a:extLst>
              <a:ext uri="{FF2B5EF4-FFF2-40B4-BE49-F238E27FC236}">
                <a16:creationId xmlns:a16="http://schemas.microsoft.com/office/drawing/2014/main" id="{9B1769E1-BB77-4E22-A532-82A3BF0BE0DD}"/>
              </a:ext>
            </a:extLst>
          </p:cNvPr>
          <p:cNvSpPr>
            <a:spLocks noGrp="1"/>
          </p:cNvSpPr>
          <p:nvPr/>
        </p:nvSpPr>
        <p:spPr>
          <a:xfrm>
            <a:off x="548640" y="6070600"/>
            <a:ext cx="11094415" cy="330200"/>
          </a:xfrm>
          <a:prstGeom prst="rect">
            <a:avLst/>
          </a:prstGeom>
          <a:solidFill>
            <a:srgbClr val="0F2236"/>
          </a:solidFill>
        </p:spPr>
        <p:txBody>
          <a:bodyPr/>
          <a:lstStyle/>
          <a:p>
            <a:endParaRPr/>
          </a:p>
        </p:txBody>
      </p:sp>
      <p:sp>
        <p:nvSpPr>
          <p:cNvPr id="35" name="Shape 33">
            <a:extLst>
              <a:ext uri="{FF2B5EF4-FFF2-40B4-BE49-F238E27FC236}">
                <a16:creationId xmlns:a16="http://schemas.microsoft.com/office/drawing/2014/main" id="{420D1255-4E7C-40C8-B4C0-0E95031F70FD}"/>
              </a:ext>
            </a:extLst>
          </p:cNvPr>
          <p:cNvSpPr>
            <a:spLocks noGrp="1"/>
          </p:cNvSpPr>
          <p:nvPr/>
        </p:nvSpPr>
        <p:spPr>
          <a:xfrm>
            <a:off x="548640" y="6070600"/>
            <a:ext cx="82296" cy="330200"/>
          </a:xfrm>
          <a:prstGeom prst="rect">
            <a:avLst/>
          </a:prstGeom>
          <a:solidFill>
            <a:srgbClr val="0F766E"/>
          </a:solidFill>
        </p:spPr>
        <p:txBody>
          <a:bodyPr/>
          <a:lstStyle/>
          <a:p>
            <a:endParaRPr/>
          </a:p>
        </p:txBody>
      </p:sp>
      <p:sp>
        <p:nvSpPr>
          <p:cNvPr id="36" name="Text 34">
            <a:extLst>
              <a:ext uri="{FF2B5EF4-FFF2-40B4-BE49-F238E27FC236}">
                <a16:creationId xmlns:a16="http://schemas.microsoft.com/office/drawing/2014/main" id="{407063D3-D05A-45FC-B316-969A2B98FD70}"/>
              </a:ext>
            </a:extLst>
          </p:cNvPr>
          <p:cNvSpPr>
            <a:spLocks noGrp="1"/>
          </p:cNvSpPr>
          <p:nvPr/>
        </p:nvSpPr>
        <p:spPr>
          <a:xfrm>
            <a:off x="822960" y="6070600"/>
            <a:ext cx="10637215" cy="330200"/>
          </a:xfrm>
          <a:prstGeom prst="rect">
            <a:avLst/>
          </a:prstGeom>
          <a:noFill/>
        </p:spPr>
        <p:txBody>
          <a:bodyPr wrap="square" lIns="0" tIns="0" rIns="0" bIns="0" anchor="ctr"/>
          <a:lstStyle/>
          <a:p>
            <a:pPr marL="0" indent="0">
              <a:buNone/>
            </a:pPr>
            <a:r>
              <a:rPr lang="en-US" sz="1300" i="1">
                <a:solidFill>
                  <a:srgbClr val="5EEAD4"/>
                </a:solidFill>
                <a:latin typeface="Calibri"/>
                <a:ea typeface="Calibri"/>
                <a:cs typeface="Calibri"/>
              </a:rPr>
              <a:t>Human and legal owners retain accountability for negotiations, compliance and other high-impact decisions.</a:t>
            </a:r>
            <a:endParaRPr sz="1300" i="1">
              <a:solidFill>
                <a:srgbClr val="5EEAD4"/>
              </a:solidFill>
              <a:latin typeface="Calibri"/>
              <a:ea typeface="Calibri"/>
              <a:cs typeface="Calibri"/>
            </a:endParaRPr>
          </a:p>
        </p:txBody>
      </p:sp>
      <p:sp>
        <p:nvSpPr>
          <p:cNvPr id="37" name="Text 35">
            <a:extLst>
              <a:ext uri="{FF2B5EF4-FFF2-40B4-BE49-F238E27FC236}">
                <a16:creationId xmlns:a16="http://schemas.microsoft.com/office/drawing/2014/main" id="{01BE6D17-4FC5-4ACD-84F4-91C2C8A489FF}"/>
              </a:ext>
            </a:extLst>
          </p:cNvPr>
          <p:cNvSpPr>
            <a:spLocks noGrp="1"/>
          </p:cNvSpPr>
          <p:nvPr/>
        </p:nvSpPr>
        <p:spPr>
          <a:xfrm>
            <a:off x="548640" y="6473952"/>
            <a:ext cx="8229600" cy="256032"/>
          </a:xfrm>
          <a:prstGeom prst="rect">
            <a:avLst/>
          </a:prstGeom>
          <a:noFill/>
        </p:spPr>
        <p:txBody>
          <a:bodyPr wrap="square" lIns="0" tIns="0" rIns="0" bIns="0" anchor="ctr"/>
          <a:lstStyle/>
          <a:p>
            <a:pPr marL="0" indent="0">
              <a:buNone/>
            </a:pPr>
            <a:r>
              <a:rPr sz="800" b="1">
                <a:solidFill>
                  <a:srgbClr val="93A4BD"/>
                </a:solidFill>
                <a:latin typeface="Calibri"/>
                <a:ea typeface="Calibri"/>
                <a:cs typeface="Calibri"/>
              </a:rPr>
              <a:t>Contract Intelligence Platform  ·  Confidential — Internal</a:t>
            </a:r>
          </a:p>
        </p:txBody>
      </p:sp>
      <p:sp>
        <p:nvSpPr>
          <p:cNvPr id="38" name="Text 36">
            <a:extLst>
              <a:ext uri="{FF2B5EF4-FFF2-40B4-BE49-F238E27FC236}">
                <a16:creationId xmlns:a16="http://schemas.microsoft.com/office/drawing/2014/main" id="{86000B13-1D78-41E6-AAC9-59B799B079D1}"/>
              </a:ext>
            </a:extLst>
          </p:cNvPr>
          <p:cNvSpPr>
            <a:spLocks noGrp="1"/>
          </p:cNvSpPr>
          <p:nvPr/>
        </p:nvSpPr>
        <p:spPr>
          <a:xfrm>
            <a:off x="10728655" y="6473952"/>
            <a:ext cx="914400" cy="256032"/>
          </a:xfrm>
          <a:prstGeom prst="rect">
            <a:avLst/>
          </a:prstGeom>
          <a:noFill/>
        </p:spPr>
        <p:txBody>
          <a:bodyPr wrap="square" lIns="0" tIns="0" rIns="0" bIns="0" anchor="ctr"/>
          <a:lstStyle/>
          <a:p>
            <a:pPr marL="0" indent="0" algn="r">
              <a:buNone/>
            </a:pPr>
            <a:r>
              <a:rPr sz="900">
                <a:solidFill>
                  <a:srgbClr val="93A4BD"/>
                </a:solidFill>
                <a:latin typeface="Calibri"/>
                <a:ea typeface="Calibri"/>
                <a:cs typeface="Calibri"/>
              </a:rPr>
              <a:t>11</a:t>
            </a:r>
          </a:p>
        </p:txBody>
      </p:sp>
    </p:spTree>
    <p:extLst>
      <p:ext uri="{BB962C8B-B14F-4D97-AF65-F5344CB8AC3E}">
        <p14:creationId xmlns:p14="http://schemas.microsoft.com/office/powerpoint/2010/main" val="88235703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lang="en-IN"/>
          </a:p>
        </p:txBody>
      </p:sp>
      <p:sp>
        <p:nvSpPr>
          <p:cNvPr id="3" name="Text 1"/>
          <p:cNvSpPr/>
          <p:nvPr/>
        </p:nvSpPr>
        <p:spPr>
          <a:xfrm>
            <a:off x="571486" y="381000"/>
            <a:ext cx="2517990" cy="160020"/>
          </a:xfrm>
          <a:prstGeom prst="rect">
            <a:avLst/>
          </a:prstGeom>
          <a:noFill/>
          <a:ln/>
        </p:spPr>
        <p:txBody>
          <a:bodyPr wrap="square" lIns="0" tIns="0" rIns="0" bIns="0" rtlCol="0" anchor="t"/>
          <a:lstStyle/>
          <a:p>
            <a:pPr marL="0" indent="0" algn="l">
              <a:buNone/>
            </a:pPr>
            <a:r>
              <a:rPr lang="en-US" sz="1050" b="1" dirty="0">
                <a:solidFill>
                  <a:srgbClr val="557083"/>
                </a:solidFill>
                <a:latin typeface="Aptos" pitchFamily="34" charset="0"/>
                <a:ea typeface="Aptos" pitchFamily="34" charset="-122"/>
                <a:cs typeface="Aptos" pitchFamily="34" charset="-120"/>
              </a:rPr>
              <a:t>SECTION 04 · OPERATING MODEL</a:t>
            </a:r>
            <a:endParaRPr lang="en-US" sz="1050" dirty="0"/>
          </a:p>
        </p:txBody>
      </p:sp>
      <p:sp>
        <p:nvSpPr>
          <p:cNvPr id="4" name="Text 2"/>
          <p:cNvSpPr/>
          <p:nvPr/>
        </p:nvSpPr>
        <p:spPr>
          <a:xfrm>
            <a:off x="571486" y="685800"/>
            <a:ext cx="10572486" cy="635000"/>
          </a:xfrm>
          <a:prstGeom prst="rect">
            <a:avLst/>
          </a:prstGeom>
          <a:noFill/>
          <a:ln/>
        </p:spPr>
        <p:txBody>
          <a:bodyPr wrap="none" lIns="0" tIns="0" rIns="0" bIns="0" rtlCol="0" anchor="t">
            <a:normAutofit/>
          </a:bodyPr>
          <a:lstStyle/>
          <a:p>
            <a:pPr marL="0" indent="0" algn="l">
              <a:buNone/>
            </a:pPr>
            <a:r>
              <a:rPr lang="en-US" sz="2800" b="1" dirty="0">
                <a:solidFill>
                  <a:srgbClr val="17233A"/>
                </a:solidFill>
                <a:latin typeface="Aptos" pitchFamily="34" charset="0"/>
                <a:ea typeface="Aptos" pitchFamily="34" charset="-122"/>
                <a:cs typeface="Aptos" pitchFamily="34" charset="-120"/>
              </a:rPr>
              <a:t>Clear ownership makes contract intelligence accountable</a:t>
            </a:r>
            <a:endParaRPr lang="en-US" sz="2800" dirty="0"/>
          </a:p>
        </p:txBody>
      </p:sp>
      <p:sp>
        <p:nvSpPr>
          <p:cNvPr id="5" name="Shape 3"/>
          <p:cNvSpPr/>
          <p:nvPr/>
        </p:nvSpPr>
        <p:spPr>
          <a:xfrm>
            <a:off x="571486" y="1428750"/>
            <a:ext cx="11048724" cy="19050"/>
          </a:xfrm>
          <a:prstGeom prst="rect">
            <a:avLst/>
          </a:prstGeom>
          <a:solidFill>
            <a:srgbClr val="DCE5EA"/>
          </a:solidFill>
          <a:ln w="12700">
            <a:solidFill>
              <a:srgbClr val="FFFFFF">
                <a:alpha val="0"/>
              </a:srgbClr>
            </a:solidFill>
            <a:prstDash val="solid"/>
          </a:ln>
        </p:spPr>
        <p:txBody>
          <a:bodyPr/>
          <a:lstStyle/>
          <a:p>
            <a:endParaRPr lang="en-IN"/>
          </a:p>
        </p:txBody>
      </p:sp>
      <p:sp>
        <p:nvSpPr>
          <p:cNvPr id="6" name="Text 4"/>
          <p:cNvSpPr/>
          <p:nvPr/>
        </p:nvSpPr>
        <p:spPr>
          <a:xfrm>
            <a:off x="571486" y="1638300"/>
            <a:ext cx="1678144" cy="160020"/>
          </a:xfrm>
          <a:prstGeom prst="rect">
            <a:avLst/>
          </a:prstGeom>
          <a:noFill/>
          <a:ln/>
        </p:spPr>
        <p:txBody>
          <a:bodyPr wrap="square" lIns="0" tIns="0" rIns="0" bIns="0" rtlCol="0" anchor="t"/>
          <a:lstStyle/>
          <a:p>
            <a:pPr marL="0" indent="0" algn="l">
              <a:buNone/>
            </a:pPr>
            <a:r>
              <a:rPr lang="en-US" sz="1050" b="1" dirty="0">
                <a:solidFill>
                  <a:srgbClr val="557083"/>
                </a:solidFill>
                <a:latin typeface="Aptos" pitchFamily="34" charset="0"/>
                <a:ea typeface="Aptos" pitchFamily="34" charset="-122"/>
                <a:cs typeface="Aptos" pitchFamily="34" charset="-120"/>
              </a:rPr>
              <a:t>ACCOUNTABLE ROLES</a:t>
            </a:r>
            <a:endParaRPr lang="en-US" sz="1050" dirty="0"/>
          </a:p>
        </p:txBody>
      </p:sp>
      <p:sp>
        <p:nvSpPr>
          <p:cNvPr id="7" name="Shape 5"/>
          <p:cNvSpPr/>
          <p:nvPr/>
        </p:nvSpPr>
        <p:spPr>
          <a:xfrm>
            <a:off x="571486" y="1971675"/>
            <a:ext cx="2605022" cy="3067050"/>
          </a:xfrm>
          <a:prstGeom prst="rect">
            <a:avLst/>
          </a:prstGeom>
          <a:solidFill>
            <a:srgbClr val="F3F7F9"/>
          </a:solidFill>
          <a:ln w="12700">
            <a:solidFill>
              <a:srgbClr val="FFFFFF">
                <a:alpha val="0"/>
              </a:srgbClr>
            </a:solidFill>
            <a:prstDash val="solid"/>
          </a:ln>
        </p:spPr>
        <p:txBody>
          <a:bodyPr/>
          <a:lstStyle/>
          <a:p>
            <a:endParaRPr lang="en-IN"/>
          </a:p>
        </p:txBody>
      </p:sp>
      <p:sp>
        <p:nvSpPr>
          <p:cNvPr id="8" name="Shape 6"/>
          <p:cNvSpPr/>
          <p:nvPr/>
        </p:nvSpPr>
        <p:spPr>
          <a:xfrm>
            <a:off x="571486" y="2009775"/>
            <a:ext cx="2605022" cy="0"/>
          </a:xfrm>
          <a:prstGeom prst="line">
            <a:avLst/>
          </a:prstGeom>
          <a:solidFill>
            <a:srgbClr val="FFFFFF">
              <a:alpha val="0"/>
            </a:srgbClr>
          </a:solidFill>
          <a:ln w="76200">
            <a:solidFill>
              <a:srgbClr val="12A6A6"/>
            </a:solidFill>
            <a:prstDash val="solid"/>
          </a:ln>
        </p:spPr>
        <p:txBody>
          <a:bodyPr/>
          <a:lstStyle/>
          <a:p>
            <a:endParaRPr lang="en-IN"/>
          </a:p>
        </p:txBody>
      </p:sp>
      <p:sp>
        <p:nvSpPr>
          <p:cNvPr id="9" name="Text 7"/>
          <p:cNvSpPr/>
          <p:nvPr/>
        </p:nvSpPr>
        <p:spPr>
          <a:xfrm>
            <a:off x="761981" y="2286000"/>
            <a:ext cx="2224032" cy="209550"/>
          </a:xfrm>
          <a:prstGeom prst="rect">
            <a:avLst/>
          </a:prstGeom>
          <a:noFill/>
          <a:ln/>
        </p:spPr>
        <p:txBody>
          <a:bodyPr wrap="square" lIns="0" tIns="0" rIns="0" bIns="0" rtlCol="0" anchor="t"/>
          <a:lstStyle/>
          <a:p>
            <a:pPr marL="0" indent="0" algn="l">
              <a:buNone/>
            </a:pPr>
            <a:r>
              <a:rPr lang="en-US" sz="1500" b="1" dirty="0">
                <a:solidFill>
                  <a:srgbClr val="12A6A6"/>
                </a:solidFill>
                <a:latin typeface="Aptos" pitchFamily="34" charset="0"/>
                <a:ea typeface="Aptos" pitchFamily="34" charset="-122"/>
                <a:cs typeface="Aptos" pitchFamily="34" charset="-120"/>
              </a:rPr>
              <a:t>PLATFORM &amp; DATA</a:t>
            </a:r>
            <a:endParaRPr lang="en-US" sz="1500" dirty="0"/>
          </a:p>
        </p:txBody>
      </p:sp>
      <p:sp>
        <p:nvSpPr>
          <p:cNvPr id="10" name="Shape 8"/>
          <p:cNvSpPr/>
          <p:nvPr/>
        </p:nvSpPr>
        <p:spPr>
          <a:xfrm>
            <a:off x="761981" y="2657475"/>
            <a:ext cx="419090" cy="28575"/>
          </a:xfrm>
          <a:prstGeom prst="rect">
            <a:avLst/>
          </a:prstGeom>
          <a:solidFill>
            <a:srgbClr val="12A6A6"/>
          </a:solidFill>
          <a:ln w="12700">
            <a:solidFill>
              <a:srgbClr val="FFFFFF">
                <a:alpha val="0"/>
              </a:srgbClr>
            </a:solidFill>
            <a:prstDash val="solid"/>
          </a:ln>
        </p:spPr>
        <p:txBody>
          <a:bodyPr/>
          <a:lstStyle/>
          <a:p>
            <a:endParaRPr lang="en-IN"/>
          </a:p>
        </p:txBody>
      </p:sp>
      <p:sp>
        <p:nvSpPr>
          <p:cNvPr id="11" name="Text 9"/>
          <p:cNvSpPr/>
          <p:nvPr/>
        </p:nvSpPr>
        <p:spPr>
          <a:xfrm>
            <a:off x="761981" y="2876550"/>
            <a:ext cx="2224032" cy="1485900"/>
          </a:xfrm>
          <a:prstGeom prst="rect">
            <a:avLst/>
          </a:prstGeom>
          <a:noFill/>
          <a:ln/>
        </p:spPr>
        <p:txBody>
          <a:bodyPr wrap="square" lIns="0" tIns="0" rIns="0" bIns="0" rtlCol="0" anchor="t"/>
          <a:lstStyle/>
          <a:p>
            <a:pPr marL="0" indent="0" algn="l">
              <a:buNone/>
            </a:pPr>
            <a:r>
              <a:rPr lang="en-US" sz="1300" dirty="0">
                <a:solidFill>
                  <a:srgbClr val="26394A"/>
                </a:solidFill>
                <a:latin typeface="Aptos" pitchFamily="34" charset="0"/>
                <a:ea typeface="Aptos" pitchFamily="34" charset="-122"/>
                <a:cs typeface="Aptos" pitchFamily="34" charset="-120"/>
              </a:rPr>
              <a:t>Own onboarding and metadata quality</a:t>
            </a:r>
            <a:endParaRPr lang="en-US" sz="1300" dirty="0"/>
          </a:p>
          <a:p>
            <a:pPr marL="0" indent="0" algn="l">
              <a:buNone/>
            </a:pPr>
            <a:r>
              <a:rPr lang="en-US" sz="1300" dirty="0">
                <a:solidFill>
                  <a:srgbClr val="26394A"/>
                </a:solidFill>
                <a:latin typeface="Aptos" pitchFamily="34" charset="0"/>
                <a:ea typeface="Aptos" pitchFamily="34" charset="-122"/>
                <a:cs typeface="Aptos" pitchFamily="34" charset="-120"/>
              </a:rPr>
              <a:t>Operate pipelines, lineage and access</a:t>
            </a:r>
            <a:endParaRPr lang="en-US" sz="1300" dirty="0"/>
          </a:p>
          <a:p>
            <a:pPr marL="0" indent="0" algn="l">
              <a:buNone/>
            </a:pPr>
            <a:r>
              <a:rPr lang="en-US" sz="1300" dirty="0">
                <a:solidFill>
                  <a:srgbClr val="26394A"/>
                </a:solidFill>
                <a:latin typeface="Aptos" pitchFamily="34" charset="0"/>
                <a:ea typeface="Aptos" pitchFamily="34" charset="-122"/>
                <a:cs typeface="Aptos" pitchFamily="34" charset="-120"/>
              </a:rPr>
              <a:t>Resolve defects and service health</a:t>
            </a:r>
            <a:endParaRPr lang="en-US" sz="1300" dirty="0"/>
          </a:p>
        </p:txBody>
      </p:sp>
      <p:sp>
        <p:nvSpPr>
          <p:cNvPr id="12" name="Shape 10"/>
          <p:cNvSpPr/>
          <p:nvPr/>
        </p:nvSpPr>
        <p:spPr>
          <a:xfrm>
            <a:off x="3386053" y="1971675"/>
            <a:ext cx="2605022" cy="3067050"/>
          </a:xfrm>
          <a:prstGeom prst="rect">
            <a:avLst/>
          </a:prstGeom>
          <a:solidFill>
            <a:srgbClr val="F3F7F9"/>
          </a:solidFill>
          <a:ln w="12700">
            <a:solidFill>
              <a:srgbClr val="FFFFFF">
                <a:alpha val="0"/>
              </a:srgbClr>
            </a:solidFill>
            <a:prstDash val="solid"/>
          </a:ln>
        </p:spPr>
        <p:txBody>
          <a:bodyPr/>
          <a:lstStyle/>
          <a:p>
            <a:endParaRPr lang="en-IN"/>
          </a:p>
        </p:txBody>
      </p:sp>
      <p:sp>
        <p:nvSpPr>
          <p:cNvPr id="13" name="Shape 11"/>
          <p:cNvSpPr/>
          <p:nvPr/>
        </p:nvSpPr>
        <p:spPr>
          <a:xfrm>
            <a:off x="3386053" y="2009775"/>
            <a:ext cx="2605022" cy="0"/>
          </a:xfrm>
          <a:prstGeom prst="line">
            <a:avLst/>
          </a:prstGeom>
          <a:solidFill>
            <a:srgbClr val="FFFFFF">
              <a:alpha val="0"/>
            </a:srgbClr>
          </a:solidFill>
          <a:ln w="76200">
            <a:solidFill>
              <a:srgbClr val="12A6A6"/>
            </a:solidFill>
            <a:prstDash val="solid"/>
          </a:ln>
        </p:spPr>
        <p:txBody>
          <a:bodyPr/>
          <a:lstStyle/>
          <a:p>
            <a:endParaRPr lang="en-IN"/>
          </a:p>
        </p:txBody>
      </p:sp>
      <p:sp>
        <p:nvSpPr>
          <p:cNvPr id="14" name="Text 12"/>
          <p:cNvSpPr/>
          <p:nvPr/>
        </p:nvSpPr>
        <p:spPr>
          <a:xfrm>
            <a:off x="3576548" y="2286000"/>
            <a:ext cx="2224032" cy="209550"/>
          </a:xfrm>
          <a:prstGeom prst="rect">
            <a:avLst/>
          </a:prstGeom>
          <a:noFill/>
          <a:ln/>
        </p:spPr>
        <p:txBody>
          <a:bodyPr wrap="square" lIns="0" tIns="0" rIns="0" bIns="0" rtlCol="0" anchor="t"/>
          <a:lstStyle/>
          <a:p>
            <a:pPr marL="0" indent="0" algn="l">
              <a:buNone/>
            </a:pPr>
            <a:r>
              <a:rPr lang="en-US" sz="1500" b="1" dirty="0">
                <a:solidFill>
                  <a:srgbClr val="12A6A6"/>
                </a:solidFill>
                <a:latin typeface="Aptos" pitchFamily="34" charset="0"/>
                <a:ea typeface="Aptos" pitchFamily="34" charset="-122"/>
                <a:cs typeface="Aptos" pitchFamily="34" charset="-120"/>
              </a:rPr>
              <a:t>BUSINESS PRODUCT</a:t>
            </a:r>
            <a:endParaRPr lang="en-US" sz="1500" dirty="0"/>
          </a:p>
        </p:txBody>
      </p:sp>
      <p:sp>
        <p:nvSpPr>
          <p:cNvPr id="15" name="Shape 13"/>
          <p:cNvSpPr/>
          <p:nvPr/>
        </p:nvSpPr>
        <p:spPr>
          <a:xfrm>
            <a:off x="3576548" y="2657475"/>
            <a:ext cx="419090" cy="28575"/>
          </a:xfrm>
          <a:prstGeom prst="rect">
            <a:avLst/>
          </a:prstGeom>
          <a:solidFill>
            <a:srgbClr val="12A6A6"/>
          </a:solidFill>
          <a:ln w="12700">
            <a:solidFill>
              <a:srgbClr val="FFFFFF">
                <a:alpha val="0"/>
              </a:srgbClr>
            </a:solidFill>
            <a:prstDash val="solid"/>
          </a:ln>
        </p:spPr>
        <p:txBody>
          <a:bodyPr/>
          <a:lstStyle/>
          <a:p>
            <a:endParaRPr lang="en-IN"/>
          </a:p>
        </p:txBody>
      </p:sp>
      <p:sp>
        <p:nvSpPr>
          <p:cNvPr id="16" name="Text 14"/>
          <p:cNvSpPr/>
          <p:nvPr/>
        </p:nvSpPr>
        <p:spPr>
          <a:xfrm>
            <a:off x="3576548" y="2876550"/>
            <a:ext cx="2224032" cy="990600"/>
          </a:xfrm>
          <a:prstGeom prst="rect">
            <a:avLst/>
          </a:prstGeom>
          <a:noFill/>
          <a:ln/>
        </p:spPr>
        <p:txBody>
          <a:bodyPr wrap="square" lIns="0" tIns="0" rIns="0" bIns="0" rtlCol="0" anchor="t"/>
          <a:lstStyle/>
          <a:p>
            <a:pPr marL="0" indent="0" algn="l">
              <a:buNone/>
            </a:pPr>
            <a:r>
              <a:rPr lang="en-US" sz="1300" dirty="0">
                <a:solidFill>
                  <a:srgbClr val="26394A"/>
                </a:solidFill>
                <a:latin typeface="Aptos" pitchFamily="34" charset="0"/>
                <a:ea typeface="Aptos" pitchFamily="34" charset="-122"/>
                <a:cs typeface="Aptos" pitchFamily="34" charset="-120"/>
              </a:rPr>
              <a:t>Prioritize use cases and users</a:t>
            </a:r>
            <a:endParaRPr lang="en-US" sz="1300" dirty="0"/>
          </a:p>
          <a:p>
            <a:pPr marL="0" indent="0" algn="l">
              <a:buNone/>
            </a:pPr>
            <a:r>
              <a:rPr lang="en-US" sz="1300" dirty="0">
                <a:solidFill>
                  <a:srgbClr val="26394A"/>
                </a:solidFill>
                <a:latin typeface="Aptos" pitchFamily="34" charset="0"/>
                <a:ea typeface="Aptos" pitchFamily="34" charset="-122"/>
                <a:cs typeface="Aptos" pitchFamily="34" charset="-120"/>
              </a:rPr>
              <a:t>Drive workflow adoption</a:t>
            </a:r>
            <a:endParaRPr lang="en-US" sz="1300" dirty="0"/>
          </a:p>
          <a:p>
            <a:pPr marL="0" indent="0" algn="l">
              <a:buNone/>
            </a:pPr>
            <a:r>
              <a:rPr lang="en-US" sz="1300" dirty="0">
                <a:solidFill>
                  <a:srgbClr val="26394A"/>
                </a:solidFill>
                <a:latin typeface="Aptos" pitchFamily="34" charset="0"/>
                <a:ea typeface="Aptos" pitchFamily="34" charset="-122"/>
                <a:cs typeface="Aptos" pitchFamily="34" charset="-120"/>
              </a:rPr>
              <a:t>Own outcomes and value evidence</a:t>
            </a:r>
            <a:endParaRPr lang="en-US" sz="1300" dirty="0"/>
          </a:p>
        </p:txBody>
      </p:sp>
      <p:sp>
        <p:nvSpPr>
          <p:cNvPr id="17" name="Shape 15"/>
          <p:cNvSpPr/>
          <p:nvPr/>
        </p:nvSpPr>
        <p:spPr>
          <a:xfrm>
            <a:off x="6200620" y="1971675"/>
            <a:ext cx="2605022" cy="3067050"/>
          </a:xfrm>
          <a:prstGeom prst="rect">
            <a:avLst/>
          </a:prstGeom>
          <a:solidFill>
            <a:srgbClr val="F3F7F9"/>
          </a:solidFill>
          <a:ln w="12700">
            <a:solidFill>
              <a:srgbClr val="FFFFFF">
                <a:alpha val="0"/>
              </a:srgbClr>
            </a:solidFill>
            <a:prstDash val="solid"/>
          </a:ln>
        </p:spPr>
        <p:txBody>
          <a:bodyPr/>
          <a:lstStyle/>
          <a:p>
            <a:endParaRPr lang="en-IN"/>
          </a:p>
        </p:txBody>
      </p:sp>
      <p:sp>
        <p:nvSpPr>
          <p:cNvPr id="18" name="Shape 16"/>
          <p:cNvSpPr/>
          <p:nvPr/>
        </p:nvSpPr>
        <p:spPr>
          <a:xfrm>
            <a:off x="6200620" y="2009775"/>
            <a:ext cx="2605022" cy="0"/>
          </a:xfrm>
          <a:prstGeom prst="line">
            <a:avLst/>
          </a:prstGeom>
          <a:solidFill>
            <a:srgbClr val="FFFFFF">
              <a:alpha val="0"/>
            </a:srgbClr>
          </a:solidFill>
          <a:ln w="76200">
            <a:solidFill>
              <a:srgbClr val="456276"/>
            </a:solidFill>
            <a:prstDash val="solid"/>
          </a:ln>
        </p:spPr>
        <p:txBody>
          <a:bodyPr/>
          <a:lstStyle/>
          <a:p>
            <a:endParaRPr lang="en-IN"/>
          </a:p>
        </p:txBody>
      </p:sp>
      <p:sp>
        <p:nvSpPr>
          <p:cNvPr id="19" name="Text 17"/>
          <p:cNvSpPr/>
          <p:nvPr/>
        </p:nvSpPr>
        <p:spPr>
          <a:xfrm>
            <a:off x="6391115" y="2286000"/>
            <a:ext cx="2224032" cy="209550"/>
          </a:xfrm>
          <a:prstGeom prst="rect">
            <a:avLst/>
          </a:prstGeom>
          <a:noFill/>
          <a:ln/>
        </p:spPr>
        <p:txBody>
          <a:bodyPr wrap="square" lIns="0" tIns="0" rIns="0" bIns="0" rtlCol="0" anchor="t"/>
          <a:lstStyle/>
          <a:p>
            <a:pPr marL="0" indent="0" algn="l">
              <a:buNone/>
            </a:pPr>
            <a:r>
              <a:rPr lang="en-US" sz="1500" b="1" dirty="0">
                <a:solidFill>
                  <a:srgbClr val="456276"/>
                </a:solidFill>
                <a:latin typeface="Aptos" pitchFamily="34" charset="0"/>
                <a:ea typeface="Aptos" pitchFamily="34" charset="-122"/>
                <a:cs typeface="Aptos" pitchFamily="34" charset="-120"/>
              </a:rPr>
              <a:t>RISK &amp; LEGAL</a:t>
            </a:r>
            <a:endParaRPr lang="en-US" sz="1500" dirty="0"/>
          </a:p>
        </p:txBody>
      </p:sp>
      <p:sp>
        <p:nvSpPr>
          <p:cNvPr id="20" name="Shape 18"/>
          <p:cNvSpPr/>
          <p:nvPr/>
        </p:nvSpPr>
        <p:spPr>
          <a:xfrm>
            <a:off x="6391115" y="2657475"/>
            <a:ext cx="419090" cy="28575"/>
          </a:xfrm>
          <a:prstGeom prst="rect">
            <a:avLst/>
          </a:prstGeom>
          <a:solidFill>
            <a:srgbClr val="456276"/>
          </a:solidFill>
          <a:ln w="12700">
            <a:solidFill>
              <a:srgbClr val="FFFFFF">
                <a:alpha val="0"/>
              </a:srgbClr>
            </a:solidFill>
            <a:prstDash val="solid"/>
          </a:ln>
        </p:spPr>
        <p:txBody>
          <a:bodyPr/>
          <a:lstStyle/>
          <a:p>
            <a:endParaRPr lang="en-IN"/>
          </a:p>
        </p:txBody>
      </p:sp>
      <p:sp>
        <p:nvSpPr>
          <p:cNvPr id="21" name="Text 19"/>
          <p:cNvSpPr/>
          <p:nvPr/>
        </p:nvSpPr>
        <p:spPr>
          <a:xfrm>
            <a:off x="6391115" y="2876550"/>
            <a:ext cx="2224032" cy="990600"/>
          </a:xfrm>
          <a:prstGeom prst="rect">
            <a:avLst/>
          </a:prstGeom>
          <a:noFill/>
          <a:ln/>
        </p:spPr>
        <p:txBody>
          <a:bodyPr wrap="square" lIns="0" tIns="0" rIns="0" bIns="0" rtlCol="0" anchor="t"/>
          <a:lstStyle/>
          <a:p>
            <a:pPr marL="0" indent="0" algn="l">
              <a:buNone/>
            </a:pPr>
            <a:r>
              <a:rPr lang="en-US" sz="1300" dirty="0">
                <a:solidFill>
                  <a:srgbClr val="26394A"/>
                </a:solidFill>
                <a:latin typeface="Aptos" pitchFamily="34" charset="0"/>
                <a:ea typeface="Aptos" pitchFamily="34" charset="-122"/>
                <a:cs typeface="Aptos" pitchFamily="34" charset="-120"/>
              </a:rPr>
              <a:t>Define controls and permitted use</a:t>
            </a:r>
            <a:endParaRPr lang="en-US" sz="1300" dirty="0"/>
          </a:p>
          <a:p>
            <a:pPr marL="0" indent="0" algn="l">
              <a:buNone/>
            </a:pPr>
            <a:r>
              <a:rPr lang="en-US" sz="1300" dirty="0">
                <a:solidFill>
                  <a:srgbClr val="26394A"/>
                </a:solidFill>
                <a:latin typeface="Aptos" pitchFamily="34" charset="0"/>
                <a:ea typeface="Aptos" pitchFamily="34" charset="-122"/>
                <a:cs typeface="Aptos" pitchFamily="34" charset="-120"/>
              </a:rPr>
              <a:t>Review material exceptions</a:t>
            </a:r>
            <a:endParaRPr lang="en-US" sz="1300" dirty="0"/>
          </a:p>
          <a:p>
            <a:pPr marL="0" indent="0" algn="l">
              <a:buNone/>
            </a:pPr>
            <a:r>
              <a:rPr lang="en-US" sz="1300" dirty="0">
                <a:solidFill>
                  <a:srgbClr val="26394A"/>
                </a:solidFill>
                <a:latin typeface="Aptos" pitchFamily="34" charset="0"/>
                <a:ea typeface="Aptos" pitchFamily="34" charset="-122"/>
                <a:cs typeface="Aptos" pitchFamily="34" charset="-120"/>
              </a:rPr>
              <a:t>Maintain escalation paths</a:t>
            </a:r>
            <a:endParaRPr lang="en-US" sz="1300" dirty="0"/>
          </a:p>
        </p:txBody>
      </p:sp>
      <p:sp>
        <p:nvSpPr>
          <p:cNvPr id="22" name="Shape 20"/>
          <p:cNvSpPr/>
          <p:nvPr/>
        </p:nvSpPr>
        <p:spPr>
          <a:xfrm>
            <a:off x="9015187" y="1971675"/>
            <a:ext cx="2605022" cy="3067050"/>
          </a:xfrm>
          <a:prstGeom prst="rect">
            <a:avLst/>
          </a:prstGeom>
          <a:solidFill>
            <a:srgbClr val="F3F7F9"/>
          </a:solidFill>
          <a:ln w="12700">
            <a:solidFill>
              <a:srgbClr val="FFFFFF">
                <a:alpha val="0"/>
              </a:srgbClr>
            </a:solidFill>
            <a:prstDash val="solid"/>
          </a:ln>
        </p:spPr>
        <p:txBody>
          <a:bodyPr/>
          <a:lstStyle/>
          <a:p>
            <a:endParaRPr lang="en-IN"/>
          </a:p>
        </p:txBody>
      </p:sp>
      <p:sp>
        <p:nvSpPr>
          <p:cNvPr id="23" name="Shape 21"/>
          <p:cNvSpPr/>
          <p:nvPr/>
        </p:nvSpPr>
        <p:spPr>
          <a:xfrm>
            <a:off x="9015187" y="2009775"/>
            <a:ext cx="2605022" cy="0"/>
          </a:xfrm>
          <a:prstGeom prst="line">
            <a:avLst/>
          </a:prstGeom>
          <a:solidFill>
            <a:srgbClr val="FFFFFF">
              <a:alpha val="0"/>
            </a:srgbClr>
          </a:solidFill>
          <a:ln w="76200">
            <a:solidFill>
              <a:srgbClr val="E36B4B"/>
            </a:solidFill>
            <a:prstDash val="solid"/>
          </a:ln>
        </p:spPr>
        <p:txBody>
          <a:bodyPr/>
          <a:lstStyle/>
          <a:p>
            <a:endParaRPr lang="en-IN"/>
          </a:p>
        </p:txBody>
      </p:sp>
      <p:sp>
        <p:nvSpPr>
          <p:cNvPr id="24" name="Text 22"/>
          <p:cNvSpPr/>
          <p:nvPr/>
        </p:nvSpPr>
        <p:spPr>
          <a:xfrm>
            <a:off x="9205682" y="2286000"/>
            <a:ext cx="2224032" cy="209550"/>
          </a:xfrm>
          <a:prstGeom prst="rect">
            <a:avLst/>
          </a:prstGeom>
          <a:noFill/>
          <a:ln/>
        </p:spPr>
        <p:txBody>
          <a:bodyPr wrap="square" lIns="0" tIns="0" rIns="0" bIns="0" rtlCol="0" anchor="t"/>
          <a:lstStyle/>
          <a:p>
            <a:pPr marL="0" indent="0" algn="l">
              <a:buNone/>
            </a:pPr>
            <a:r>
              <a:rPr lang="en-US" sz="1500" b="1" dirty="0">
                <a:solidFill>
                  <a:srgbClr val="E36B4B"/>
                </a:solidFill>
                <a:latin typeface="Aptos" pitchFamily="34" charset="0"/>
                <a:ea typeface="Aptos" pitchFamily="34" charset="-122"/>
                <a:cs typeface="Aptos" pitchFamily="34" charset="-120"/>
              </a:rPr>
              <a:t>EXECUTIVE SPONSOR</a:t>
            </a:r>
            <a:endParaRPr lang="en-US" sz="1500" dirty="0"/>
          </a:p>
        </p:txBody>
      </p:sp>
      <p:sp>
        <p:nvSpPr>
          <p:cNvPr id="25" name="Shape 23"/>
          <p:cNvSpPr/>
          <p:nvPr/>
        </p:nvSpPr>
        <p:spPr>
          <a:xfrm>
            <a:off x="9205682" y="2657475"/>
            <a:ext cx="419090" cy="28575"/>
          </a:xfrm>
          <a:prstGeom prst="rect">
            <a:avLst/>
          </a:prstGeom>
          <a:solidFill>
            <a:srgbClr val="E36B4B"/>
          </a:solidFill>
          <a:ln w="12700">
            <a:solidFill>
              <a:srgbClr val="FFFFFF">
                <a:alpha val="0"/>
              </a:srgbClr>
            </a:solidFill>
            <a:prstDash val="solid"/>
          </a:ln>
        </p:spPr>
        <p:txBody>
          <a:bodyPr/>
          <a:lstStyle/>
          <a:p>
            <a:endParaRPr lang="en-IN"/>
          </a:p>
        </p:txBody>
      </p:sp>
      <p:sp>
        <p:nvSpPr>
          <p:cNvPr id="26" name="Text 24"/>
          <p:cNvSpPr/>
          <p:nvPr/>
        </p:nvSpPr>
        <p:spPr>
          <a:xfrm>
            <a:off x="9205682" y="2876550"/>
            <a:ext cx="2224032" cy="1238250"/>
          </a:xfrm>
          <a:prstGeom prst="rect">
            <a:avLst/>
          </a:prstGeom>
          <a:noFill/>
          <a:ln/>
        </p:spPr>
        <p:txBody>
          <a:bodyPr wrap="square" lIns="0" tIns="0" rIns="0" bIns="0" rtlCol="0" anchor="t"/>
          <a:lstStyle/>
          <a:p>
            <a:pPr marL="0" indent="0" algn="l">
              <a:buNone/>
            </a:pPr>
            <a:r>
              <a:rPr lang="en-US" sz="1300" dirty="0">
                <a:solidFill>
                  <a:srgbClr val="26394A"/>
                </a:solidFill>
                <a:latin typeface="Aptos" pitchFamily="34" charset="0"/>
                <a:ea typeface="Aptos" pitchFamily="34" charset="-122"/>
                <a:cs typeface="Aptos" pitchFamily="34" charset="-120"/>
              </a:rPr>
              <a:t>Name accountable owners</a:t>
            </a:r>
            <a:endParaRPr lang="en-US" sz="1300" dirty="0"/>
          </a:p>
          <a:p>
            <a:pPr marL="0" indent="0" algn="l">
              <a:buNone/>
            </a:pPr>
            <a:r>
              <a:rPr lang="en-US" sz="1300" dirty="0">
                <a:solidFill>
                  <a:srgbClr val="26394A"/>
                </a:solidFill>
                <a:latin typeface="Aptos" pitchFamily="34" charset="0"/>
                <a:ea typeface="Aptos" pitchFamily="34" charset="-122"/>
                <a:cs typeface="Aptos" pitchFamily="34" charset="-120"/>
              </a:rPr>
              <a:t>Fund completion and pilot</a:t>
            </a:r>
            <a:endParaRPr lang="en-US" sz="1300" dirty="0"/>
          </a:p>
          <a:p>
            <a:pPr marL="0" indent="0" algn="l">
              <a:buNone/>
            </a:pPr>
            <a:r>
              <a:rPr lang="en-US" sz="1300" dirty="0">
                <a:solidFill>
                  <a:srgbClr val="26394A"/>
                </a:solidFill>
                <a:latin typeface="Aptos" pitchFamily="34" charset="0"/>
                <a:ea typeface="Aptos" pitchFamily="34" charset="-122"/>
                <a:cs typeface="Aptos" pitchFamily="34" charset="-120"/>
              </a:rPr>
              <a:t>Enforce decision gates</a:t>
            </a:r>
            <a:endParaRPr lang="en-US" sz="1300" dirty="0"/>
          </a:p>
          <a:p>
            <a:pPr marL="0" indent="0" algn="l">
              <a:buNone/>
            </a:pPr>
            <a:r>
              <a:rPr lang="en-US" sz="1300" dirty="0">
                <a:solidFill>
                  <a:srgbClr val="26394A"/>
                </a:solidFill>
                <a:latin typeface="Aptos" pitchFamily="34" charset="0"/>
                <a:ea typeface="Aptos" pitchFamily="34" charset="-122"/>
                <a:cs typeface="Aptos" pitchFamily="34" charset="-120"/>
              </a:rPr>
              <a:t>Scale only after value is proven</a:t>
            </a:r>
            <a:endParaRPr lang="en-US" sz="1300" dirty="0"/>
          </a:p>
        </p:txBody>
      </p:sp>
      <p:sp>
        <p:nvSpPr>
          <p:cNvPr id="27" name="Shape 25"/>
          <p:cNvSpPr/>
          <p:nvPr/>
        </p:nvSpPr>
        <p:spPr>
          <a:xfrm>
            <a:off x="571486" y="5257800"/>
            <a:ext cx="11048724" cy="552450"/>
          </a:xfrm>
          <a:prstGeom prst="rect">
            <a:avLst/>
          </a:prstGeom>
          <a:solidFill>
            <a:srgbClr val="17324D"/>
          </a:solidFill>
          <a:ln w="12700">
            <a:solidFill>
              <a:srgbClr val="FFFFFF">
                <a:alpha val="0"/>
              </a:srgbClr>
            </a:solidFill>
            <a:prstDash val="solid"/>
          </a:ln>
        </p:spPr>
        <p:txBody>
          <a:bodyPr/>
          <a:lstStyle/>
          <a:p>
            <a:endParaRPr lang="en-IN"/>
          </a:p>
        </p:txBody>
      </p:sp>
      <p:sp>
        <p:nvSpPr>
          <p:cNvPr id="28" name="Text 26"/>
          <p:cNvSpPr/>
          <p:nvPr/>
        </p:nvSpPr>
        <p:spPr>
          <a:xfrm>
            <a:off x="2700389" y="5434965"/>
            <a:ext cx="6790917" cy="198120"/>
          </a:xfrm>
          <a:prstGeom prst="rect">
            <a:avLst/>
          </a:prstGeom>
          <a:noFill/>
          <a:ln/>
        </p:spPr>
        <p:txBody>
          <a:bodyPr wrap="square" lIns="0" tIns="0" rIns="0" bIns="0" rtlCol="0" anchor="t"/>
          <a:lstStyle/>
          <a:p>
            <a:pPr marL="0" indent="0" algn="l">
              <a:buNone/>
            </a:pPr>
            <a:r>
              <a:rPr lang="en-US" sz="1300" b="1" dirty="0">
                <a:solidFill>
                  <a:srgbClr val="FFFFFF"/>
                </a:solidFill>
                <a:latin typeface="Aptos" pitchFamily="34" charset="0"/>
                <a:ea typeface="Aptos" pitchFamily="34" charset="-122"/>
                <a:cs typeface="Aptos" pitchFamily="34" charset="-120"/>
              </a:rPr>
              <a:t>SCALE GATE · QUALITY + ADOPTION + CONTROL EVIDENCE + VALIDATED VALUE</a:t>
            </a:r>
            <a:endParaRPr lang="en-US" sz="1300" dirty="0"/>
          </a:p>
        </p:txBody>
      </p:sp>
      <p:sp>
        <p:nvSpPr>
          <p:cNvPr id="29" name="Text 27"/>
          <p:cNvSpPr/>
          <p:nvPr/>
        </p:nvSpPr>
        <p:spPr>
          <a:xfrm>
            <a:off x="571486" y="6477000"/>
            <a:ext cx="4050286" cy="152400"/>
          </a:xfrm>
          <a:prstGeom prst="rect">
            <a:avLst/>
          </a:prstGeom>
          <a:noFill/>
          <a:ln/>
        </p:spPr>
        <p:txBody>
          <a:bodyPr wrap="square" lIns="0" tIns="0" rIns="0" bIns="0" rtlCol="0" anchor="t"/>
          <a:lstStyle/>
          <a:p>
            <a:pPr marL="0" indent="0" algn="l">
              <a:buNone/>
            </a:pPr>
            <a:r>
              <a:rPr lang="en-US" sz="1000" dirty="0">
                <a:solidFill>
                  <a:srgbClr val="718392"/>
                </a:solidFill>
                <a:latin typeface="Aptos" pitchFamily="34" charset="0"/>
                <a:ea typeface="Aptos" pitchFamily="34" charset="-122"/>
                <a:cs typeface="Aptos" pitchFamily="34" charset="-120"/>
              </a:rPr>
              <a:t>Executive discussion · Blue Shield of California · Confidential — Internal</a:t>
            </a:r>
            <a:endParaRPr lang="en-US" sz="1000" dirty="0"/>
          </a:p>
        </p:txBody>
      </p:sp>
      <p:sp>
        <p:nvSpPr>
          <p:cNvPr id="30" name="Text 28"/>
          <p:cNvSpPr/>
          <p:nvPr/>
        </p:nvSpPr>
        <p:spPr>
          <a:xfrm>
            <a:off x="11479005" y="6477000"/>
            <a:ext cx="141205" cy="152400"/>
          </a:xfrm>
          <a:prstGeom prst="rect">
            <a:avLst/>
          </a:prstGeom>
          <a:noFill/>
          <a:ln/>
        </p:spPr>
        <p:txBody>
          <a:bodyPr wrap="square" lIns="0" tIns="0" rIns="0" bIns="0" rtlCol="0" anchor="t"/>
          <a:lstStyle/>
          <a:p>
            <a:pPr marL="0" indent="0" algn="l">
              <a:buNone/>
            </a:pPr>
            <a:r>
              <a:rPr lang="en-US" sz="1000" b="1" dirty="0">
                <a:solidFill>
                  <a:srgbClr val="718392"/>
                </a:solidFill>
                <a:latin typeface="Aptos" pitchFamily="34" charset="0"/>
                <a:ea typeface="Aptos" pitchFamily="34" charset="-122"/>
                <a:cs typeface="Aptos" pitchFamily="34" charset="-120"/>
              </a:rPr>
              <a:t>12</a:t>
            </a:r>
            <a:endParaRPr lang="en-US" sz="1000" dirty="0"/>
          </a:p>
        </p:txBody>
      </p:sp>
    </p:spTree>
    <p:extLst>
      <p:ext uri="{BB962C8B-B14F-4D97-AF65-F5344CB8AC3E}">
        <p14:creationId xmlns:p14="http://schemas.microsoft.com/office/powerpoint/2010/main" val="261717142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B17EEF5B-E999-4FA8-8984-E850F01BD9FC}"/>
              </a:ext>
            </a:extLst>
          </p:cNvPr>
          <p:cNvSpPr>
            <a:spLocks noGrp="1"/>
          </p:cNvSpPr>
          <p:nvPr/>
        </p:nvSpPr>
        <p:spPr>
          <a:xfrm>
            <a:off x="548640" y="457200"/>
            <a:ext cx="11094415" cy="256032"/>
          </a:xfrm>
          <a:prstGeom prst="rect">
            <a:avLst/>
          </a:prstGeom>
          <a:noFill/>
        </p:spPr>
        <p:txBody>
          <a:bodyPr wrap="square" lIns="0" tIns="0" rIns="0" bIns="0" anchor="ctr"/>
          <a:lstStyle/>
          <a:p>
            <a:pPr marL="0" indent="0">
              <a:buNone/>
            </a:pPr>
            <a:r>
              <a:rPr sz="1100" b="1">
                <a:solidFill>
                  <a:srgbClr val="0F766E"/>
                </a:solidFill>
                <a:latin typeface="Calibri"/>
                <a:ea typeface="Calibri"/>
                <a:cs typeface="Calibri"/>
              </a:rPr>
              <a:t>SECTION 12 · VALUE, ECONOMICS &amp; SCALE</a:t>
            </a:r>
          </a:p>
        </p:txBody>
      </p:sp>
      <p:sp>
        <p:nvSpPr>
          <p:cNvPr id="3" name="Text 1">
            <a:extLst>
              <a:ext uri="{FF2B5EF4-FFF2-40B4-BE49-F238E27FC236}">
                <a16:creationId xmlns:a16="http://schemas.microsoft.com/office/drawing/2014/main" id="{C4897E06-88AE-4FE6-82EC-DBE9D082DB2D}"/>
              </a:ext>
            </a:extLst>
          </p:cNvPr>
          <p:cNvSpPr>
            <a:spLocks noGrp="1"/>
          </p:cNvSpPr>
          <p:nvPr/>
        </p:nvSpPr>
        <p:spPr>
          <a:xfrm>
            <a:off x="548640" y="804672"/>
            <a:ext cx="11094466" cy="1005840"/>
          </a:xfrm>
          <a:prstGeom prst="rect">
            <a:avLst/>
          </a:prstGeom>
          <a:noFill/>
        </p:spPr>
        <p:txBody>
          <a:bodyPr wrap="square" lIns="0" tIns="0" rIns="0" bIns="0" anchor="t">
            <a:normAutofit/>
          </a:bodyPr>
          <a:lstStyle/>
          <a:p>
            <a:pPr marL="0" indent="0">
              <a:lnSpc>
                <a:spcPts val="3080"/>
              </a:lnSpc>
              <a:buNone/>
            </a:pPr>
            <a:r>
              <a:rPr lang="en-US" sz="2200" b="1">
                <a:solidFill>
                  <a:srgbClr val="0B1B2E"/>
                </a:solidFill>
                <a:latin typeface="Georgia"/>
                <a:ea typeface="Georgia"/>
                <a:cs typeface="Georgia"/>
              </a:rPr>
              <a:t>Scale only after quality, adoption and value are demonstrated</a:t>
            </a:r>
            <a:endParaRPr sz="2200" b="1">
              <a:solidFill>
                <a:srgbClr val="0B1B2E"/>
              </a:solidFill>
              <a:latin typeface="Georgia"/>
              <a:ea typeface="Georgia"/>
              <a:cs typeface="Georgia"/>
            </a:endParaRPr>
          </a:p>
        </p:txBody>
      </p:sp>
      <p:sp>
        <p:nvSpPr>
          <p:cNvPr id="4" name="Shape 2">
            <a:extLst>
              <a:ext uri="{FF2B5EF4-FFF2-40B4-BE49-F238E27FC236}">
                <a16:creationId xmlns:a16="http://schemas.microsoft.com/office/drawing/2014/main" id="{97121F44-0051-498D-AC18-CE886ABC094B}"/>
              </a:ext>
            </a:extLst>
          </p:cNvPr>
          <p:cNvSpPr>
            <a:spLocks noGrp="1"/>
          </p:cNvSpPr>
          <p:nvPr/>
        </p:nvSpPr>
        <p:spPr>
          <a:xfrm>
            <a:off x="548640" y="1965960"/>
            <a:ext cx="3515258" cy="566928"/>
          </a:xfrm>
          <a:prstGeom prst="rect">
            <a:avLst/>
          </a:prstGeom>
          <a:solidFill>
            <a:srgbClr val="0B1B2E"/>
          </a:solidFill>
          <a:effectLst>
            <a:outerShdw blurRad="177800" dist="50800" dir="8100000" algn="bl" rotWithShape="0">
              <a:srgbClr val="000000">
                <a:alpha val="22000"/>
              </a:srgbClr>
            </a:outerShdw>
          </a:effectLst>
        </p:spPr>
        <p:txBody>
          <a:bodyPr/>
          <a:lstStyle/>
          <a:p>
            <a:endParaRPr/>
          </a:p>
        </p:txBody>
      </p:sp>
      <p:sp>
        <p:nvSpPr>
          <p:cNvPr id="5" name="Text 3">
            <a:extLst>
              <a:ext uri="{FF2B5EF4-FFF2-40B4-BE49-F238E27FC236}">
                <a16:creationId xmlns:a16="http://schemas.microsoft.com/office/drawing/2014/main" id="{1BEABB55-11CF-428C-A4BB-F04B36A31ADE}"/>
              </a:ext>
            </a:extLst>
          </p:cNvPr>
          <p:cNvSpPr>
            <a:spLocks noGrp="1"/>
          </p:cNvSpPr>
          <p:nvPr/>
        </p:nvSpPr>
        <p:spPr>
          <a:xfrm>
            <a:off x="731520" y="1965960"/>
            <a:ext cx="3240938" cy="566928"/>
          </a:xfrm>
          <a:prstGeom prst="rect">
            <a:avLst/>
          </a:prstGeom>
          <a:noFill/>
        </p:spPr>
        <p:txBody>
          <a:bodyPr wrap="square" lIns="0" tIns="0" rIns="0" bIns="0" anchor="ctr"/>
          <a:lstStyle/>
          <a:p>
            <a:pPr marL="0" indent="0">
              <a:buNone/>
            </a:pPr>
            <a:r>
              <a:rPr lang="en-IN" sz="1300" b="1">
                <a:solidFill>
                  <a:srgbClr val="FFFFFF"/>
                </a:solidFill>
                <a:latin typeface="Calibri"/>
                <a:ea typeface="Calibri"/>
                <a:cs typeface="Calibri"/>
              </a:rPr>
              <a:t>COMPLETE</a:t>
            </a:r>
            <a:endParaRPr sz="1300" b="1">
              <a:solidFill>
                <a:srgbClr val="FFFFFF"/>
              </a:solidFill>
              <a:latin typeface="Calibri"/>
              <a:ea typeface="Calibri"/>
              <a:cs typeface="Calibri"/>
            </a:endParaRPr>
          </a:p>
        </p:txBody>
      </p:sp>
      <p:sp>
        <p:nvSpPr>
          <p:cNvPr id="6" name="Shape 4">
            <a:extLst>
              <a:ext uri="{FF2B5EF4-FFF2-40B4-BE49-F238E27FC236}">
                <a16:creationId xmlns:a16="http://schemas.microsoft.com/office/drawing/2014/main" id="{54852A86-96DF-4936-8FA9-789054C093F9}"/>
              </a:ext>
            </a:extLst>
          </p:cNvPr>
          <p:cNvSpPr>
            <a:spLocks noGrp="1"/>
          </p:cNvSpPr>
          <p:nvPr/>
        </p:nvSpPr>
        <p:spPr>
          <a:xfrm>
            <a:off x="548640" y="2578608"/>
            <a:ext cx="3515258" cy="3364992"/>
          </a:xfrm>
          <a:prstGeom prst="rect">
            <a:avLst/>
          </a:prstGeom>
          <a:solidFill>
            <a:srgbClr val="F8FAFC"/>
          </a:solidFill>
        </p:spPr>
        <p:txBody>
          <a:bodyPr/>
          <a:lstStyle/>
          <a:p>
            <a:endParaRPr/>
          </a:p>
        </p:txBody>
      </p:sp>
      <p:sp>
        <p:nvSpPr>
          <p:cNvPr id="7" name="Shape 5">
            <a:extLst>
              <a:ext uri="{FF2B5EF4-FFF2-40B4-BE49-F238E27FC236}">
                <a16:creationId xmlns:a16="http://schemas.microsoft.com/office/drawing/2014/main" id="{16EF5966-D6D3-4157-AA00-A1719F3143E7}"/>
              </a:ext>
            </a:extLst>
          </p:cNvPr>
          <p:cNvSpPr>
            <a:spLocks noGrp="1"/>
          </p:cNvSpPr>
          <p:nvPr/>
        </p:nvSpPr>
        <p:spPr>
          <a:xfrm>
            <a:off x="548640" y="2578608"/>
            <a:ext cx="82296" cy="3364992"/>
          </a:xfrm>
          <a:prstGeom prst="rect">
            <a:avLst/>
          </a:prstGeom>
          <a:solidFill>
            <a:srgbClr val="14B8A6"/>
          </a:solidFill>
        </p:spPr>
        <p:txBody>
          <a:bodyPr/>
          <a:lstStyle/>
          <a:p>
            <a:endParaRPr/>
          </a:p>
        </p:txBody>
      </p:sp>
      <p:sp>
        <p:nvSpPr>
          <p:cNvPr id="8" name="Text 6">
            <a:extLst>
              <a:ext uri="{FF2B5EF4-FFF2-40B4-BE49-F238E27FC236}">
                <a16:creationId xmlns:a16="http://schemas.microsoft.com/office/drawing/2014/main" id="{DF4BD163-5B6C-4285-93AF-82E9438D186B}"/>
              </a:ext>
            </a:extLst>
          </p:cNvPr>
          <p:cNvSpPr>
            <a:spLocks noGrp="1"/>
          </p:cNvSpPr>
          <p:nvPr/>
        </p:nvSpPr>
        <p:spPr>
          <a:xfrm>
            <a:off x="768096" y="2743200"/>
            <a:ext cx="3167786" cy="502920"/>
          </a:xfrm>
          <a:prstGeom prst="rect">
            <a:avLst/>
          </a:prstGeom>
          <a:noFill/>
        </p:spPr>
        <p:txBody>
          <a:bodyPr wrap="square" lIns="0" tIns="0" rIns="0" bIns="0" anchor="ctr">
            <a:normAutofit/>
          </a:bodyPr>
          <a:lstStyle/>
          <a:p>
            <a:pPr marL="0" indent="0">
              <a:lnSpc>
                <a:spcPts val="1700"/>
              </a:lnSpc>
              <a:buNone/>
            </a:pPr>
            <a:r>
              <a:rPr lang="en-IN" sz="1550" b="1">
                <a:solidFill>
                  <a:srgbClr val="0B1B2E"/>
                </a:solidFill>
                <a:latin typeface="Georgia"/>
                <a:ea typeface="Georgia"/>
                <a:cs typeface="Georgia"/>
              </a:rPr>
              <a:t>Complete the governed foundation</a:t>
            </a:r>
            <a:endParaRPr sz="1550" b="1">
              <a:solidFill>
                <a:srgbClr val="0B1B2E"/>
              </a:solidFill>
              <a:latin typeface="Georgia"/>
              <a:ea typeface="Georgia"/>
              <a:cs typeface="Georgia"/>
            </a:endParaRPr>
          </a:p>
        </p:txBody>
      </p:sp>
      <p:sp>
        <p:nvSpPr>
          <p:cNvPr id="9" name="Shape 7">
            <a:extLst>
              <a:ext uri="{FF2B5EF4-FFF2-40B4-BE49-F238E27FC236}">
                <a16:creationId xmlns:a16="http://schemas.microsoft.com/office/drawing/2014/main" id="{09B306A8-63E0-4F8C-A5EE-8127C4730E84}"/>
              </a:ext>
            </a:extLst>
          </p:cNvPr>
          <p:cNvSpPr>
            <a:spLocks noGrp="1"/>
          </p:cNvSpPr>
          <p:nvPr/>
        </p:nvSpPr>
        <p:spPr>
          <a:xfrm>
            <a:off x="768096" y="3310128"/>
            <a:ext cx="3149498" cy="0"/>
          </a:xfrm>
          <a:prstGeom prst="line">
            <a:avLst/>
          </a:prstGeom>
          <a:noFill/>
          <a:ln w="12700">
            <a:solidFill>
              <a:srgbClr val="E3E9F0"/>
            </a:solidFill>
            <a:prstDash val="solid"/>
          </a:ln>
        </p:spPr>
        <p:txBody>
          <a:bodyPr/>
          <a:lstStyle/>
          <a:p>
            <a:endParaRPr/>
          </a:p>
        </p:txBody>
      </p:sp>
      <p:sp>
        <p:nvSpPr>
          <p:cNvPr id="10" name="Shape 8">
            <a:extLst>
              <a:ext uri="{FF2B5EF4-FFF2-40B4-BE49-F238E27FC236}">
                <a16:creationId xmlns:a16="http://schemas.microsoft.com/office/drawing/2014/main" id="{440C42EB-A5D7-49BB-90C9-FC976E50297A}"/>
              </a:ext>
            </a:extLst>
          </p:cNvPr>
          <p:cNvSpPr>
            <a:spLocks noGrp="1"/>
          </p:cNvSpPr>
          <p:nvPr/>
        </p:nvSpPr>
        <p:spPr>
          <a:xfrm>
            <a:off x="768096" y="3520440"/>
            <a:ext cx="128016" cy="128016"/>
          </a:xfrm>
          <a:prstGeom prst="ellipse">
            <a:avLst/>
          </a:prstGeom>
          <a:solidFill>
            <a:srgbClr val="14B8A6"/>
          </a:solidFill>
        </p:spPr>
        <p:txBody>
          <a:bodyPr/>
          <a:lstStyle/>
          <a:p>
            <a:endParaRPr/>
          </a:p>
        </p:txBody>
      </p:sp>
      <p:sp>
        <p:nvSpPr>
          <p:cNvPr id="11" name="Text 9">
            <a:extLst>
              <a:ext uri="{FF2B5EF4-FFF2-40B4-BE49-F238E27FC236}">
                <a16:creationId xmlns:a16="http://schemas.microsoft.com/office/drawing/2014/main" id="{ABDE8D14-2CEA-4720-864B-DDA1CA37BB19}"/>
              </a:ext>
            </a:extLst>
          </p:cNvPr>
          <p:cNvSpPr>
            <a:spLocks noGrp="1"/>
          </p:cNvSpPr>
          <p:nvPr/>
        </p:nvSpPr>
        <p:spPr>
          <a:xfrm>
            <a:off x="987552" y="3419856"/>
            <a:ext cx="2948330" cy="658368"/>
          </a:xfrm>
          <a:prstGeom prst="rect">
            <a:avLst/>
          </a:prstGeom>
          <a:noFill/>
        </p:spPr>
        <p:txBody>
          <a:bodyPr wrap="square" lIns="0" tIns="0" rIns="0" bIns="0" anchor="t">
            <a:normAutofit/>
          </a:bodyPr>
          <a:lstStyle/>
          <a:p>
            <a:pPr marL="0" indent="0">
              <a:lnSpc>
                <a:spcPts val="1500"/>
              </a:lnSpc>
              <a:buNone/>
            </a:pPr>
            <a:r>
              <a:rPr lang="en-IN" sz="1150">
                <a:solidFill>
                  <a:srgbClr val="33415A"/>
                </a:solidFill>
                <a:latin typeface="Calibri"/>
                <a:ea typeface="Calibri"/>
                <a:cs typeface="Calibri"/>
              </a:rPr>
              <a:t>Finish contract onboarding</a:t>
            </a:r>
            <a:endParaRPr sz="1150">
              <a:solidFill>
                <a:srgbClr val="33415A"/>
              </a:solidFill>
              <a:latin typeface="Calibri"/>
              <a:ea typeface="Calibri"/>
              <a:cs typeface="Calibri"/>
            </a:endParaRPr>
          </a:p>
        </p:txBody>
      </p:sp>
      <p:sp>
        <p:nvSpPr>
          <p:cNvPr id="12" name="Shape 10">
            <a:extLst>
              <a:ext uri="{FF2B5EF4-FFF2-40B4-BE49-F238E27FC236}">
                <a16:creationId xmlns:a16="http://schemas.microsoft.com/office/drawing/2014/main" id="{717886E4-1AC4-472A-BF3B-17040E6CD845}"/>
              </a:ext>
            </a:extLst>
          </p:cNvPr>
          <p:cNvSpPr>
            <a:spLocks noGrp="1"/>
          </p:cNvSpPr>
          <p:nvPr/>
        </p:nvSpPr>
        <p:spPr>
          <a:xfrm>
            <a:off x="768096" y="4270248"/>
            <a:ext cx="128016" cy="128016"/>
          </a:xfrm>
          <a:prstGeom prst="ellipse">
            <a:avLst/>
          </a:prstGeom>
          <a:solidFill>
            <a:srgbClr val="14B8A6"/>
          </a:solidFill>
        </p:spPr>
        <p:txBody>
          <a:bodyPr/>
          <a:lstStyle/>
          <a:p>
            <a:endParaRPr/>
          </a:p>
        </p:txBody>
      </p:sp>
      <p:sp>
        <p:nvSpPr>
          <p:cNvPr id="13" name="Text 11">
            <a:extLst>
              <a:ext uri="{FF2B5EF4-FFF2-40B4-BE49-F238E27FC236}">
                <a16:creationId xmlns:a16="http://schemas.microsoft.com/office/drawing/2014/main" id="{D480E7F1-72AB-490B-8833-6EBE149295B7}"/>
              </a:ext>
            </a:extLst>
          </p:cNvPr>
          <p:cNvSpPr>
            <a:spLocks noGrp="1"/>
          </p:cNvSpPr>
          <p:nvPr/>
        </p:nvSpPr>
        <p:spPr>
          <a:xfrm>
            <a:off x="987552" y="4169664"/>
            <a:ext cx="2948330" cy="658368"/>
          </a:xfrm>
          <a:prstGeom prst="rect">
            <a:avLst/>
          </a:prstGeom>
          <a:noFill/>
        </p:spPr>
        <p:txBody>
          <a:bodyPr wrap="square" lIns="0" tIns="0" rIns="0" bIns="0" anchor="t">
            <a:normAutofit/>
          </a:bodyPr>
          <a:lstStyle/>
          <a:p>
            <a:pPr marL="0" indent="0">
              <a:lnSpc>
                <a:spcPts val="1500"/>
              </a:lnSpc>
              <a:buNone/>
            </a:pPr>
            <a:r>
              <a:rPr lang="en-IN" sz="1150">
                <a:solidFill>
                  <a:srgbClr val="33415A"/>
                </a:solidFill>
                <a:latin typeface="Calibri"/>
                <a:ea typeface="Calibri"/>
                <a:cs typeface="Calibri"/>
              </a:rPr>
              <a:t>Harden quality and operations</a:t>
            </a:r>
            <a:endParaRPr sz="1150">
              <a:solidFill>
                <a:srgbClr val="33415A"/>
              </a:solidFill>
              <a:latin typeface="Calibri"/>
              <a:ea typeface="Calibri"/>
              <a:cs typeface="Calibri"/>
            </a:endParaRPr>
          </a:p>
        </p:txBody>
      </p:sp>
      <p:sp>
        <p:nvSpPr>
          <p:cNvPr id="14" name="Shape 12">
            <a:extLst>
              <a:ext uri="{FF2B5EF4-FFF2-40B4-BE49-F238E27FC236}">
                <a16:creationId xmlns:a16="http://schemas.microsoft.com/office/drawing/2014/main" id="{2C8621E0-BA0F-40E6-BC7A-A7BC93B300E6}"/>
              </a:ext>
            </a:extLst>
          </p:cNvPr>
          <p:cNvSpPr>
            <a:spLocks noGrp="1"/>
          </p:cNvSpPr>
          <p:nvPr/>
        </p:nvSpPr>
        <p:spPr>
          <a:xfrm>
            <a:off x="768096" y="5020056"/>
            <a:ext cx="128016" cy="128016"/>
          </a:xfrm>
          <a:prstGeom prst="ellipse">
            <a:avLst/>
          </a:prstGeom>
          <a:solidFill>
            <a:srgbClr val="14B8A6"/>
          </a:solidFill>
        </p:spPr>
        <p:txBody>
          <a:bodyPr/>
          <a:lstStyle/>
          <a:p>
            <a:endParaRPr/>
          </a:p>
        </p:txBody>
      </p:sp>
      <p:sp>
        <p:nvSpPr>
          <p:cNvPr id="15" name="Text 13">
            <a:extLst>
              <a:ext uri="{FF2B5EF4-FFF2-40B4-BE49-F238E27FC236}">
                <a16:creationId xmlns:a16="http://schemas.microsoft.com/office/drawing/2014/main" id="{538CFE67-FEE7-4C8B-BA93-9BA737A2A082}"/>
              </a:ext>
            </a:extLst>
          </p:cNvPr>
          <p:cNvSpPr>
            <a:spLocks noGrp="1"/>
          </p:cNvSpPr>
          <p:nvPr/>
        </p:nvSpPr>
        <p:spPr>
          <a:xfrm>
            <a:off x="987552" y="4919472"/>
            <a:ext cx="2948330" cy="658368"/>
          </a:xfrm>
          <a:prstGeom prst="rect">
            <a:avLst/>
          </a:prstGeom>
          <a:noFill/>
        </p:spPr>
        <p:txBody>
          <a:bodyPr wrap="square" lIns="0" tIns="0" rIns="0" bIns="0" anchor="t">
            <a:normAutofit/>
          </a:bodyPr>
          <a:lstStyle/>
          <a:p>
            <a:pPr marL="0" indent="0">
              <a:lnSpc>
                <a:spcPts val="1500"/>
              </a:lnSpc>
              <a:buNone/>
            </a:pPr>
            <a:r>
              <a:rPr lang="en-IN" sz="1150">
                <a:solidFill>
                  <a:srgbClr val="33415A"/>
                </a:solidFill>
                <a:latin typeface="Calibri"/>
                <a:ea typeface="Calibri"/>
                <a:cs typeface="Calibri"/>
              </a:rPr>
              <a:t>Owner: platform + business product</a:t>
            </a:r>
            <a:endParaRPr sz="1150">
              <a:solidFill>
                <a:srgbClr val="33415A"/>
              </a:solidFill>
              <a:latin typeface="Calibri"/>
              <a:ea typeface="Calibri"/>
              <a:cs typeface="Calibri"/>
            </a:endParaRPr>
          </a:p>
        </p:txBody>
      </p:sp>
      <p:sp>
        <p:nvSpPr>
          <p:cNvPr id="16" name="Shape 14">
            <a:extLst>
              <a:ext uri="{FF2B5EF4-FFF2-40B4-BE49-F238E27FC236}">
                <a16:creationId xmlns:a16="http://schemas.microsoft.com/office/drawing/2014/main" id="{BCDB80B7-1DD1-491A-9878-9A6AA2D22845}"/>
              </a:ext>
            </a:extLst>
          </p:cNvPr>
          <p:cNvSpPr>
            <a:spLocks noGrp="1"/>
          </p:cNvSpPr>
          <p:nvPr/>
        </p:nvSpPr>
        <p:spPr>
          <a:xfrm>
            <a:off x="4100474" y="2249424"/>
            <a:ext cx="201168" cy="0"/>
          </a:xfrm>
          <a:prstGeom prst="line">
            <a:avLst/>
          </a:prstGeom>
          <a:noFill/>
          <a:ln w="22860">
            <a:solidFill>
              <a:srgbClr val="0F766E"/>
            </a:solidFill>
            <a:prstDash val="solid"/>
            <a:tailEnd type="triangle"/>
          </a:ln>
        </p:spPr>
        <p:txBody>
          <a:bodyPr/>
          <a:lstStyle/>
          <a:p>
            <a:endParaRPr/>
          </a:p>
        </p:txBody>
      </p:sp>
      <p:sp>
        <p:nvSpPr>
          <p:cNvPr id="17" name="Shape 15">
            <a:extLst>
              <a:ext uri="{FF2B5EF4-FFF2-40B4-BE49-F238E27FC236}">
                <a16:creationId xmlns:a16="http://schemas.microsoft.com/office/drawing/2014/main" id="{1BB20F0F-42B3-465D-86BC-4543C8291AF0}"/>
              </a:ext>
            </a:extLst>
          </p:cNvPr>
          <p:cNvSpPr>
            <a:spLocks noGrp="1"/>
          </p:cNvSpPr>
          <p:nvPr/>
        </p:nvSpPr>
        <p:spPr>
          <a:xfrm>
            <a:off x="4338218" y="1965960"/>
            <a:ext cx="3515258" cy="566928"/>
          </a:xfrm>
          <a:prstGeom prst="rect">
            <a:avLst/>
          </a:prstGeom>
          <a:solidFill>
            <a:srgbClr val="0B1B2E"/>
          </a:solidFill>
          <a:effectLst>
            <a:outerShdw blurRad="177800" dist="50800" dir="8100000" algn="bl" rotWithShape="0">
              <a:srgbClr val="000000">
                <a:alpha val="22000"/>
              </a:srgbClr>
            </a:outerShdw>
          </a:effectLst>
        </p:spPr>
        <p:txBody>
          <a:bodyPr/>
          <a:lstStyle/>
          <a:p>
            <a:endParaRPr/>
          </a:p>
        </p:txBody>
      </p:sp>
      <p:sp>
        <p:nvSpPr>
          <p:cNvPr id="18" name="Text 16">
            <a:extLst>
              <a:ext uri="{FF2B5EF4-FFF2-40B4-BE49-F238E27FC236}">
                <a16:creationId xmlns:a16="http://schemas.microsoft.com/office/drawing/2014/main" id="{C860984A-95DA-499B-A9D8-1DDD8EC30CA6}"/>
              </a:ext>
            </a:extLst>
          </p:cNvPr>
          <p:cNvSpPr>
            <a:spLocks noGrp="1"/>
          </p:cNvSpPr>
          <p:nvPr/>
        </p:nvSpPr>
        <p:spPr>
          <a:xfrm>
            <a:off x="4521098" y="1965960"/>
            <a:ext cx="3240938" cy="566928"/>
          </a:xfrm>
          <a:prstGeom prst="rect">
            <a:avLst/>
          </a:prstGeom>
          <a:noFill/>
        </p:spPr>
        <p:txBody>
          <a:bodyPr wrap="square" lIns="0" tIns="0" rIns="0" bIns="0" anchor="ctr"/>
          <a:lstStyle/>
          <a:p>
            <a:pPr marL="0" indent="0">
              <a:buNone/>
            </a:pPr>
            <a:r>
              <a:rPr lang="en-IN" sz="1300" b="1">
                <a:solidFill>
                  <a:srgbClr val="FFFFFF"/>
                </a:solidFill>
                <a:latin typeface="Calibri"/>
                <a:ea typeface="Calibri"/>
                <a:cs typeface="Calibri"/>
              </a:rPr>
              <a:t>MEASURE</a:t>
            </a:r>
            <a:endParaRPr sz="1300" b="1">
              <a:solidFill>
                <a:srgbClr val="FFFFFF"/>
              </a:solidFill>
              <a:latin typeface="Calibri"/>
              <a:ea typeface="Calibri"/>
              <a:cs typeface="Calibri"/>
            </a:endParaRPr>
          </a:p>
        </p:txBody>
      </p:sp>
      <p:sp>
        <p:nvSpPr>
          <p:cNvPr id="19" name="Shape 17">
            <a:extLst>
              <a:ext uri="{FF2B5EF4-FFF2-40B4-BE49-F238E27FC236}">
                <a16:creationId xmlns:a16="http://schemas.microsoft.com/office/drawing/2014/main" id="{BC81661A-B6A7-477A-9F6E-76096FD748F0}"/>
              </a:ext>
            </a:extLst>
          </p:cNvPr>
          <p:cNvSpPr>
            <a:spLocks noGrp="1"/>
          </p:cNvSpPr>
          <p:nvPr/>
        </p:nvSpPr>
        <p:spPr>
          <a:xfrm>
            <a:off x="4338218" y="2578608"/>
            <a:ext cx="3515258" cy="3364992"/>
          </a:xfrm>
          <a:prstGeom prst="rect">
            <a:avLst/>
          </a:prstGeom>
          <a:solidFill>
            <a:srgbClr val="F8FAFC"/>
          </a:solidFill>
        </p:spPr>
        <p:txBody>
          <a:bodyPr/>
          <a:lstStyle/>
          <a:p>
            <a:endParaRPr/>
          </a:p>
        </p:txBody>
      </p:sp>
      <p:sp>
        <p:nvSpPr>
          <p:cNvPr id="20" name="Shape 18">
            <a:extLst>
              <a:ext uri="{FF2B5EF4-FFF2-40B4-BE49-F238E27FC236}">
                <a16:creationId xmlns:a16="http://schemas.microsoft.com/office/drawing/2014/main" id="{8D3DB024-DA09-4AC0-A3B5-D3199E551AEC}"/>
              </a:ext>
            </a:extLst>
          </p:cNvPr>
          <p:cNvSpPr>
            <a:spLocks noGrp="1"/>
          </p:cNvSpPr>
          <p:nvPr/>
        </p:nvSpPr>
        <p:spPr>
          <a:xfrm>
            <a:off x="4338218" y="2578608"/>
            <a:ext cx="82296" cy="3364992"/>
          </a:xfrm>
          <a:prstGeom prst="rect">
            <a:avLst/>
          </a:prstGeom>
          <a:solidFill>
            <a:srgbClr val="14B8A6"/>
          </a:solidFill>
        </p:spPr>
        <p:txBody>
          <a:bodyPr/>
          <a:lstStyle/>
          <a:p>
            <a:endParaRPr/>
          </a:p>
        </p:txBody>
      </p:sp>
      <p:sp>
        <p:nvSpPr>
          <p:cNvPr id="21" name="Text 19">
            <a:extLst>
              <a:ext uri="{FF2B5EF4-FFF2-40B4-BE49-F238E27FC236}">
                <a16:creationId xmlns:a16="http://schemas.microsoft.com/office/drawing/2014/main" id="{8D98E24B-7521-4BD7-ADE6-627CA95CFED4}"/>
              </a:ext>
            </a:extLst>
          </p:cNvPr>
          <p:cNvSpPr>
            <a:spLocks noGrp="1"/>
          </p:cNvSpPr>
          <p:nvPr/>
        </p:nvSpPr>
        <p:spPr>
          <a:xfrm>
            <a:off x="4557674" y="2743200"/>
            <a:ext cx="3167786" cy="502920"/>
          </a:xfrm>
          <a:prstGeom prst="rect">
            <a:avLst/>
          </a:prstGeom>
          <a:noFill/>
        </p:spPr>
        <p:txBody>
          <a:bodyPr wrap="square" lIns="0" tIns="0" rIns="0" bIns="0" anchor="ctr">
            <a:normAutofit/>
          </a:bodyPr>
          <a:lstStyle/>
          <a:p>
            <a:pPr marL="0" indent="0">
              <a:lnSpc>
                <a:spcPts val="1700"/>
              </a:lnSpc>
              <a:buNone/>
            </a:pPr>
            <a:r>
              <a:rPr lang="en-IN" sz="1550" b="1">
                <a:solidFill>
                  <a:srgbClr val="0B1B2E"/>
                </a:solidFill>
                <a:latin typeface="Georgia"/>
                <a:ea typeface="Georgia"/>
                <a:cs typeface="Georgia"/>
              </a:rPr>
              <a:t>Measure trust and economics</a:t>
            </a:r>
            <a:endParaRPr sz="1550" b="1">
              <a:solidFill>
                <a:srgbClr val="0B1B2E"/>
              </a:solidFill>
              <a:latin typeface="Georgia"/>
              <a:ea typeface="Georgia"/>
              <a:cs typeface="Georgia"/>
            </a:endParaRPr>
          </a:p>
        </p:txBody>
      </p:sp>
      <p:sp>
        <p:nvSpPr>
          <p:cNvPr id="22" name="Shape 20">
            <a:extLst>
              <a:ext uri="{FF2B5EF4-FFF2-40B4-BE49-F238E27FC236}">
                <a16:creationId xmlns:a16="http://schemas.microsoft.com/office/drawing/2014/main" id="{1C1F65F5-5E64-4FF4-A3A6-CDA0A06354EA}"/>
              </a:ext>
            </a:extLst>
          </p:cNvPr>
          <p:cNvSpPr>
            <a:spLocks noGrp="1"/>
          </p:cNvSpPr>
          <p:nvPr/>
        </p:nvSpPr>
        <p:spPr>
          <a:xfrm>
            <a:off x="4557674" y="3310128"/>
            <a:ext cx="3149498" cy="0"/>
          </a:xfrm>
          <a:prstGeom prst="line">
            <a:avLst/>
          </a:prstGeom>
          <a:noFill/>
          <a:ln w="12700">
            <a:solidFill>
              <a:srgbClr val="E3E9F0"/>
            </a:solidFill>
            <a:prstDash val="solid"/>
          </a:ln>
        </p:spPr>
        <p:txBody>
          <a:bodyPr/>
          <a:lstStyle/>
          <a:p>
            <a:endParaRPr/>
          </a:p>
        </p:txBody>
      </p:sp>
      <p:sp>
        <p:nvSpPr>
          <p:cNvPr id="23" name="Shape 21">
            <a:extLst>
              <a:ext uri="{FF2B5EF4-FFF2-40B4-BE49-F238E27FC236}">
                <a16:creationId xmlns:a16="http://schemas.microsoft.com/office/drawing/2014/main" id="{D175AC9C-1D9E-4D05-84F4-1D7D1FC0DE7D}"/>
              </a:ext>
            </a:extLst>
          </p:cNvPr>
          <p:cNvSpPr>
            <a:spLocks noGrp="1"/>
          </p:cNvSpPr>
          <p:nvPr/>
        </p:nvSpPr>
        <p:spPr>
          <a:xfrm>
            <a:off x="4557674" y="3520440"/>
            <a:ext cx="128016" cy="128016"/>
          </a:xfrm>
          <a:prstGeom prst="ellipse">
            <a:avLst/>
          </a:prstGeom>
          <a:solidFill>
            <a:srgbClr val="14B8A6"/>
          </a:solidFill>
        </p:spPr>
        <p:txBody>
          <a:bodyPr/>
          <a:lstStyle/>
          <a:p>
            <a:endParaRPr/>
          </a:p>
        </p:txBody>
      </p:sp>
      <p:sp>
        <p:nvSpPr>
          <p:cNvPr id="24" name="Text 22">
            <a:extLst>
              <a:ext uri="{FF2B5EF4-FFF2-40B4-BE49-F238E27FC236}">
                <a16:creationId xmlns:a16="http://schemas.microsoft.com/office/drawing/2014/main" id="{C24E5FE6-34F0-4705-9670-459F1A27915F}"/>
              </a:ext>
            </a:extLst>
          </p:cNvPr>
          <p:cNvSpPr>
            <a:spLocks noGrp="1"/>
          </p:cNvSpPr>
          <p:nvPr/>
        </p:nvSpPr>
        <p:spPr>
          <a:xfrm>
            <a:off x="4777130" y="3419856"/>
            <a:ext cx="2948330" cy="658368"/>
          </a:xfrm>
          <a:prstGeom prst="rect">
            <a:avLst/>
          </a:prstGeom>
          <a:noFill/>
        </p:spPr>
        <p:txBody>
          <a:bodyPr wrap="square" lIns="0" tIns="0" rIns="0" bIns="0" anchor="t">
            <a:normAutofit/>
          </a:bodyPr>
          <a:lstStyle/>
          <a:p>
            <a:pPr marL="0" indent="0">
              <a:lnSpc>
                <a:spcPts val="1500"/>
              </a:lnSpc>
              <a:buNone/>
            </a:pPr>
            <a:r>
              <a:rPr lang="en-US" sz="1150">
                <a:solidFill>
                  <a:srgbClr val="33415A"/>
                </a:solidFill>
                <a:latin typeface="Calibri"/>
                <a:ea typeface="Calibri"/>
                <a:cs typeface="Calibri"/>
              </a:rPr>
              <a:t>Baseline research effort and cycle time</a:t>
            </a:r>
            <a:endParaRPr sz="1150">
              <a:solidFill>
                <a:srgbClr val="33415A"/>
              </a:solidFill>
              <a:latin typeface="Calibri"/>
              <a:ea typeface="Calibri"/>
              <a:cs typeface="Calibri"/>
            </a:endParaRPr>
          </a:p>
        </p:txBody>
      </p:sp>
      <p:sp>
        <p:nvSpPr>
          <p:cNvPr id="25" name="Shape 23">
            <a:extLst>
              <a:ext uri="{FF2B5EF4-FFF2-40B4-BE49-F238E27FC236}">
                <a16:creationId xmlns:a16="http://schemas.microsoft.com/office/drawing/2014/main" id="{9FDD2DCF-6D82-4FC8-B324-9976DCAED415}"/>
              </a:ext>
            </a:extLst>
          </p:cNvPr>
          <p:cNvSpPr>
            <a:spLocks noGrp="1"/>
          </p:cNvSpPr>
          <p:nvPr/>
        </p:nvSpPr>
        <p:spPr>
          <a:xfrm>
            <a:off x="4557674" y="4270248"/>
            <a:ext cx="128016" cy="128016"/>
          </a:xfrm>
          <a:prstGeom prst="ellipse">
            <a:avLst/>
          </a:prstGeom>
          <a:solidFill>
            <a:srgbClr val="14B8A6"/>
          </a:solidFill>
        </p:spPr>
        <p:txBody>
          <a:bodyPr/>
          <a:lstStyle/>
          <a:p>
            <a:endParaRPr/>
          </a:p>
        </p:txBody>
      </p:sp>
      <p:sp>
        <p:nvSpPr>
          <p:cNvPr id="26" name="Text 24">
            <a:extLst>
              <a:ext uri="{FF2B5EF4-FFF2-40B4-BE49-F238E27FC236}">
                <a16:creationId xmlns:a16="http://schemas.microsoft.com/office/drawing/2014/main" id="{E848DB40-A86B-49EF-A67C-6E7C7F7D640E}"/>
              </a:ext>
            </a:extLst>
          </p:cNvPr>
          <p:cNvSpPr>
            <a:spLocks noGrp="1"/>
          </p:cNvSpPr>
          <p:nvPr/>
        </p:nvSpPr>
        <p:spPr>
          <a:xfrm>
            <a:off x="4777130" y="4169664"/>
            <a:ext cx="2948330" cy="658368"/>
          </a:xfrm>
          <a:prstGeom prst="rect">
            <a:avLst/>
          </a:prstGeom>
          <a:noFill/>
        </p:spPr>
        <p:txBody>
          <a:bodyPr wrap="square" lIns="0" tIns="0" rIns="0" bIns="0" anchor="t">
            <a:normAutofit/>
          </a:bodyPr>
          <a:lstStyle/>
          <a:p>
            <a:pPr marL="0" indent="0">
              <a:lnSpc>
                <a:spcPts val="1500"/>
              </a:lnSpc>
              <a:buNone/>
            </a:pPr>
            <a:r>
              <a:rPr lang="en-US" sz="1150">
                <a:solidFill>
                  <a:srgbClr val="33415A"/>
                </a:solidFill>
                <a:latin typeface="Calibri"/>
                <a:ea typeface="Calibri"/>
                <a:cs typeface="Calibri"/>
              </a:rPr>
              <a:t>Track adoption, quality and exception rates</a:t>
            </a:r>
            <a:endParaRPr sz="1150">
              <a:solidFill>
                <a:srgbClr val="33415A"/>
              </a:solidFill>
              <a:latin typeface="Calibri"/>
              <a:ea typeface="Calibri"/>
              <a:cs typeface="Calibri"/>
            </a:endParaRPr>
          </a:p>
        </p:txBody>
      </p:sp>
      <p:sp>
        <p:nvSpPr>
          <p:cNvPr id="27" name="Shape 25">
            <a:extLst>
              <a:ext uri="{FF2B5EF4-FFF2-40B4-BE49-F238E27FC236}">
                <a16:creationId xmlns:a16="http://schemas.microsoft.com/office/drawing/2014/main" id="{AF6DDDFC-8EC0-4B22-A880-BBC3B255439E}"/>
              </a:ext>
            </a:extLst>
          </p:cNvPr>
          <p:cNvSpPr>
            <a:spLocks noGrp="1"/>
          </p:cNvSpPr>
          <p:nvPr/>
        </p:nvSpPr>
        <p:spPr>
          <a:xfrm>
            <a:off x="4557674" y="5020056"/>
            <a:ext cx="128016" cy="128016"/>
          </a:xfrm>
          <a:prstGeom prst="ellipse">
            <a:avLst/>
          </a:prstGeom>
          <a:solidFill>
            <a:srgbClr val="14B8A6"/>
          </a:solidFill>
        </p:spPr>
        <p:txBody>
          <a:bodyPr/>
          <a:lstStyle/>
          <a:p>
            <a:endParaRPr/>
          </a:p>
        </p:txBody>
      </p:sp>
      <p:sp>
        <p:nvSpPr>
          <p:cNvPr id="28" name="Text 26">
            <a:extLst>
              <a:ext uri="{FF2B5EF4-FFF2-40B4-BE49-F238E27FC236}">
                <a16:creationId xmlns:a16="http://schemas.microsoft.com/office/drawing/2014/main" id="{8CEB5787-BBEA-4DF2-8027-E1004F64660C}"/>
              </a:ext>
            </a:extLst>
          </p:cNvPr>
          <p:cNvSpPr>
            <a:spLocks noGrp="1"/>
          </p:cNvSpPr>
          <p:nvPr/>
        </p:nvSpPr>
        <p:spPr>
          <a:xfrm>
            <a:off x="4777130" y="4919472"/>
            <a:ext cx="2948330" cy="658368"/>
          </a:xfrm>
          <a:prstGeom prst="rect">
            <a:avLst/>
          </a:prstGeom>
          <a:noFill/>
        </p:spPr>
        <p:txBody>
          <a:bodyPr wrap="square" lIns="0" tIns="0" rIns="0" bIns="0" anchor="t">
            <a:normAutofit/>
          </a:bodyPr>
          <a:lstStyle/>
          <a:p>
            <a:pPr marL="0" indent="0">
              <a:lnSpc>
                <a:spcPts val="1500"/>
              </a:lnSpc>
              <a:buNone/>
            </a:pPr>
            <a:r>
              <a:rPr lang="en-US" sz="1150">
                <a:solidFill>
                  <a:srgbClr val="33415A"/>
                </a:solidFill>
                <a:latin typeface="Calibri"/>
                <a:ea typeface="Calibri"/>
                <a:cs typeface="Calibri"/>
              </a:rPr>
              <a:t>Include operating cost in the value case</a:t>
            </a:r>
            <a:endParaRPr sz="1150">
              <a:solidFill>
                <a:srgbClr val="33415A"/>
              </a:solidFill>
              <a:latin typeface="Calibri"/>
              <a:ea typeface="Calibri"/>
              <a:cs typeface="Calibri"/>
            </a:endParaRPr>
          </a:p>
        </p:txBody>
      </p:sp>
      <p:sp>
        <p:nvSpPr>
          <p:cNvPr id="29" name="Shape 27">
            <a:extLst>
              <a:ext uri="{FF2B5EF4-FFF2-40B4-BE49-F238E27FC236}">
                <a16:creationId xmlns:a16="http://schemas.microsoft.com/office/drawing/2014/main" id="{12273F6C-6AFC-4291-BC8F-3ED866DA2103}"/>
              </a:ext>
            </a:extLst>
          </p:cNvPr>
          <p:cNvSpPr>
            <a:spLocks noGrp="1"/>
          </p:cNvSpPr>
          <p:nvPr/>
        </p:nvSpPr>
        <p:spPr>
          <a:xfrm>
            <a:off x="8127797" y="1965960"/>
            <a:ext cx="3515258" cy="566928"/>
          </a:xfrm>
          <a:prstGeom prst="rect">
            <a:avLst/>
          </a:prstGeom>
          <a:solidFill>
            <a:srgbClr val="F26A4B"/>
          </a:solidFill>
          <a:effectLst>
            <a:outerShdw blurRad="177800" dist="50800" dir="8100000" algn="bl" rotWithShape="0">
              <a:srgbClr val="000000">
                <a:alpha val="22000"/>
              </a:srgbClr>
            </a:outerShdw>
          </a:effectLst>
        </p:spPr>
        <p:txBody>
          <a:bodyPr/>
          <a:lstStyle/>
          <a:p>
            <a:endParaRPr/>
          </a:p>
        </p:txBody>
      </p:sp>
      <p:sp>
        <p:nvSpPr>
          <p:cNvPr id="30" name="Text 28">
            <a:extLst>
              <a:ext uri="{FF2B5EF4-FFF2-40B4-BE49-F238E27FC236}">
                <a16:creationId xmlns:a16="http://schemas.microsoft.com/office/drawing/2014/main" id="{021E6289-FA5D-4710-89C9-20D1C2537653}"/>
              </a:ext>
            </a:extLst>
          </p:cNvPr>
          <p:cNvSpPr>
            <a:spLocks noGrp="1"/>
          </p:cNvSpPr>
          <p:nvPr/>
        </p:nvSpPr>
        <p:spPr>
          <a:xfrm>
            <a:off x="8310677" y="1965960"/>
            <a:ext cx="3240938" cy="566928"/>
          </a:xfrm>
          <a:prstGeom prst="rect">
            <a:avLst/>
          </a:prstGeom>
          <a:noFill/>
        </p:spPr>
        <p:txBody>
          <a:bodyPr wrap="square" lIns="0" tIns="0" rIns="0" bIns="0" anchor="ctr"/>
          <a:lstStyle/>
          <a:p>
            <a:pPr marL="0" indent="0">
              <a:buNone/>
            </a:pPr>
            <a:r>
              <a:rPr lang="en-IN" sz="1300" b="1">
                <a:solidFill>
                  <a:srgbClr val="FFFFFF"/>
                </a:solidFill>
                <a:latin typeface="Calibri"/>
                <a:ea typeface="Calibri"/>
                <a:cs typeface="Calibri"/>
              </a:rPr>
              <a:t>SCALE</a:t>
            </a:r>
            <a:endParaRPr sz="1300" b="1">
              <a:solidFill>
                <a:srgbClr val="FFFFFF"/>
              </a:solidFill>
              <a:latin typeface="Calibri"/>
              <a:ea typeface="Calibri"/>
              <a:cs typeface="Calibri"/>
            </a:endParaRPr>
          </a:p>
        </p:txBody>
      </p:sp>
      <p:sp>
        <p:nvSpPr>
          <p:cNvPr id="31" name="Shape 29">
            <a:extLst>
              <a:ext uri="{FF2B5EF4-FFF2-40B4-BE49-F238E27FC236}">
                <a16:creationId xmlns:a16="http://schemas.microsoft.com/office/drawing/2014/main" id="{EFFDCC66-7659-4A00-9718-87FFCD8DDCC2}"/>
              </a:ext>
            </a:extLst>
          </p:cNvPr>
          <p:cNvSpPr>
            <a:spLocks noGrp="1"/>
          </p:cNvSpPr>
          <p:nvPr/>
        </p:nvSpPr>
        <p:spPr>
          <a:xfrm>
            <a:off x="8127797" y="2578608"/>
            <a:ext cx="3515258" cy="3364992"/>
          </a:xfrm>
          <a:prstGeom prst="rect">
            <a:avLst/>
          </a:prstGeom>
          <a:solidFill>
            <a:srgbClr val="F8FAFC"/>
          </a:solidFill>
        </p:spPr>
        <p:txBody>
          <a:bodyPr/>
          <a:lstStyle/>
          <a:p>
            <a:endParaRPr/>
          </a:p>
        </p:txBody>
      </p:sp>
      <p:sp>
        <p:nvSpPr>
          <p:cNvPr id="32" name="Shape 30">
            <a:extLst>
              <a:ext uri="{FF2B5EF4-FFF2-40B4-BE49-F238E27FC236}">
                <a16:creationId xmlns:a16="http://schemas.microsoft.com/office/drawing/2014/main" id="{4727D1DC-A036-4C6C-8339-E7E1CD8A9887}"/>
              </a:ext>
            </a:extLst>
          </p:cNvPr>
          <p:cNvSpPr>
            <a:spLocks noGrp="1"/>
          </p:cNvSpPr>
          <p:nvPr/>
        </p:nvSpPr>
        <p:spPr>
          <a:xfrm>
            <a:off x="8127797" y="2578608"/>
            <a:ext cx="82296" cy="3364992"/>
          </a:xfrm>
          <a:prstGeom prst="rect">
            <a:avLst/>
          </a:prstGeom>
          <a:solidFill>
            <a:srgbClr val="F26A4B"/>
          </a:solidFill>
        </p:spPr>
        <p:txBody>
          <a:bodyPr/>
          <a:lstStyle/>
          <a:p>
            <a:endParaRPr/>
          </a:p>
        </p:txBody>
      </p:sp>
      <p:sp>
        <p:nvSpPr>
          <p:cNvPr id="33" name="Text 31">
            <a:extLst>
              <a:ext uri="{FF2B5EF4-FFF2-40B4-BE49-F238E27FC236}">
                <a16:creationId xmlns:a16="http://schemas.microsoft.com/office/drawing/2014/main" id="{8EBEBC2B-8182-4B19-8D2C-653D8B7703FD}"/>
              </a:ext>
            </a:extLst>
          </p:cNvPr>
          <p:cNvSpPr>
            <a:spLocks noGrp="1"/>
          </p:cNvSpPr>
          <p:nvPr/>
        </p:nvSpPr>
        <p:spPr>
          <a:xfrm>
            <a:off x="8347253" y="2743200"/>
            <a:ext cx="3167786" cy="502920"/>
          </a:xfrm>
          <a:prstGeom prst="rect">
            <a:avLst/>
          </a:prstGeom>
          <a:noFill/>
        </p:spPr>
        <p:txBody>
          <a:bodyPr wrap="square" lIns="0" tIns="0" rIns="0" bIns="0" anchor="ctr">
            <a:normAutofit/>
          </a:bodyPr>
          <a:lstStyle/>
          <a:p>
            <a:pPr marL="0" indent="0">
              <a:lnSpc>
                <a:spcPts val="1700"/>
              </a:lnSpc>
              <a:buNone/>
            </a:pPr>
            <a:r>
              <a:rPr lang="en-IN" sz="1550" b="1">
                <a:solidFill>
                  <a:srgbClr val="0B1B2E"/>
                </a:solidFill>
                <a:latin typeface="Georgia"/>
                <a:ea typeface="Georgia"/>
                <a:cs typeface="Georgia"/>
              </a:rPr>
              <a:t>Scale selectively</a:t>
            </a:r>
            <a:endParaRPr sz="1550" b="1">
              <a:solidFill>
                <a:srgbClr val="0B1B2E"/>
              </a:solidFill>
              <a:latin typeface="Georgia"/>
              <a:ea typeface="Georgia"/>
              <a:cs typeface="Georgia"/>
            </a:endParaRPr>
          </a:p>
        </p:txBody>
      </p:sp>
      <p:sp>
        <p:nvSpPr>
          <p:cNvPr id="34" name="Shape 32">
            <a:extLst>
              <a:ext uri="{FF2B5EF4-FFF2-40B4-BE49-F238E27FC236}">
                <a16:creationId xmlns:a16="http://schemas.microsoft.com/office/drawing/2014/main" id="{D55A6DE6-3403-4BB3-8765-D445EBA17CEE}"/>
              </a:ext>
            </a:extLst>
          </p:cNvPr>
          <p:cNvSpPr>
            <a:spLocks noGrp="1"/>
          </p:cNvSpPr>
          <p:nvPr/>
        </p:nvSpPr>
        <p:spPr>
          <a:xfrm>
            <a:off x="8347253" y="3310128"/>
            <a:ext cx="3149498" cy="0"/>
          </a:xfrm>
          <a:prstGeom prst="line">
            <a:avLst/>
          </a:prstGeom>
          <a:noFill/>
          <a:ln w="12700">
            <a:solidFill>
              <a:srgbClr val="E3E9F0"/>
            </a:solidFill>
            <a:prstDash val="solid"/>
          </a:ln>
        </p:spPr>
        <p:txBody>
          <a:bodyPr/>
          <a:lstStyle/>
          <a:p>
            <a:endParaRPr/>
          </a:p>
        </p:txBody>
      </p:sp>
      <p:sp>
        <p:nvSpPr>
          <p:cNvPr id="35" name="Shape 33">
            <a:extLst>
              <a:ext uri="{FF2B5EF4-FFF2-40B4-BE49-F238E27FC236}">
                <a16:creationId xmlns:a16="http://schemas.microsoft.com/office/drawing/2014/main" id="{12928622-690E-401C-B03A-BA3F1ED1E9AE}"/>
              </a:ext>
            </a:extLst>
          </p:cNvPr>
          <p:cNvSpPr>
            <a:spLocks noGrp="1"/>
          </p:cNvSpPr>
          <p:nvPr/>
        </p:nvSpPr>
        <p:spPr>
          <a:xfrm>
            <a:off x="8347253" y="3520440"/>
            <a:ext cx="128016" cy="128016"/>
          </a:xfrm>
          <a:prstGeom prst="ellipse">
            <a:avLst/>
          </a:prstGeom>
          <a:solidFill>
            <a:srgbClr val="F26A4B"/>
          </a:solidFill>
        </p:spPr>
        <p:txBody>
          <a:bodyPr/>
          <a:lstStyle/>
          <a:p>
            <a:endParaRPr/>
          </a:p>
        </p:txBody>
      </p:sp>
      <p:sp>
        <p:nvSpPr>
          <p:cNvPr id="36" name="Text 34">
            <a:extLst>
              <a:ext uri="{FF2B5EF4-FFF2-40B4-BE49-F238E27FC236}">
                <a16:creationId xmlns:a16="http://schemas.microsoft.com/office/drawing/2014/main" id="{C334AF35-4F9C-436C-84DD-C32EABF4B936}"/>
              </a:ext>
            </a:extLst>
          </p:cNvPr>
          <p:cNvSpPr>
            <a:spLocks noGrp="1"/>
          </p:cNvSpPr>
          <p:nvPr/>
        </p:nvSpPr>
        <p:spPr>
          <a:xfrm>
            <a:off x="8566709" y="3419856"/>
            <a:ext cx="2948330" cy="658368"/>
          </a:xfrm>
          <a:prstGeom prst="rect">
            <a:avLst/>
          </a:prstGeom>
          <a:noFill/>
        </p:spPr>
        <p:txBody>
          <a:bodyPr wrap="square" lIns="0" tIns="0" rIns="0" bIns="0" anchor="t">
            <a:normAutofit/>
          </a:bodyPr>
          <a:lstStyle/>
          <a:p>
            <a:pPr marL="0" indent="0">
              <a:lnSpc>
                <a:spcPts val="1500"/>
              </a:lnSpc>
              <a:buNone/>
            </a:pPr>
            <a:r>
              <a:rPr lang="en-US" sz="1150">
                <a:solidFill>
                  <a:srgbClr val="33415A"/>
                </a:solidFill>
                <a:latin typeface="Calibri"/>
                <a:ea typeface="Calibri"/>
                <a:cs typeface="Calibri"/>
              </a:rPr>
              <a:t>Expand only after validated benefit</a:t>
            </a:r>
            <a:endParaRPr sz="1150">
              <a:solidFill>
                <a:srgbClr val="33415A"/>
              </a:solidFill>
              <a:latin typeface="Calibri"/>
              <a:ea typeface="Calibri"/>
              <a:cs typeface="Calibri"/>
            </a:endParaRPr>
          </a:p>
        </p:txBody>
      </p:sp>
      <p:sp>
        <p:nvSpPr>
          <p:cNvPr id="37" name="Shape 35">
            <a:extLst>
              <a:ext uri="{FF2B5EF4-FFF2-40B4-BE49-F238E27FC236}">
                <a16:creationId xmlns:a16="http://schemas.microsoft.com/office/drawing/2014/main" id="{DC2154FA-6748-45BB-9A32-B5AF54B04C64}"/>
              </a:ext>
            </a:extLst>
          </p:cNvPr>
          <p:cNvSpPr>
            <a:spLocks noGrp="1"/>
          </p:cNvSpPr>
          <p:nvPr/>
        </p:nvSpPr>
        <p:spPr>
          <a:xfrm>
            <a:off x="8347253" y="4270248"/>
            <a:ext cx="128016" cy="128016"/>
          </a:xfrm>
          <a:prstGeom prst="ellipse">
            <a:avLst/>
          </a:prstGeom>
          <a:solidFill>
            <a:srgbClr val="F26A4B"/>
          </a:solidFill>
        </p:spPr>
        <p:txBody>
          <a:bodyPr/>
          <a:lstStyle/>
          <a:p>
            <a:endParaRPr/>
          </a:p>
        </p:txBody>
      </p:sp>
      <p:sp>
        <p:nvSpPr>
          <p:cNvPr id="38" name="Text 36">
            <a:extLst>
              <a:ext uri="{FF2B5EF4-FFF2-40B4-BE49-F238E27FC236}">
                <a16:creationId xmlns:a16="http://schemas.microsoft.com/office/drawing/2014/main" id="{F5272071-2081-421E-B3D7-191B27596D94}"/>
              </a:ext>
            </a:extLst>
          </p:cNvPr>
          <p:cNvSpPr>
            <a:spLocks noGrp="1"/>
          </p:cNvSpPr>
          <p:nvPr/>
        </p:nvSpPr>
        <p:spPr>
          <a:xfrm>
            <a:off x="8566709" y="4169664"/>
            <a:ext cx="2948330" cy="658368"/>
          </a:xfrm>
          <a:prstGeom prst="rect">
            <a:avLst/>
          </a:prstGeom>
          <a:noFill/>
        </p:spPr>
        <p:txBody>
          <a:bodyPr wrap="square" lIns="0" tIns="0" rIns="0" bIns="0" anchor="t">
            <a:normAutofit/>
          </a:bodyPr>
          <a:lstStyle/>
          <a:p>
            <a:pPr marL="0" indent="0">
              <a:lnSpc>
                <a:spcPts val="1500"/>
              </a:lnSpc>
              <a:buNone/>
            </a:pPr>
            <a:r>
              <a:rPr lang="en-IN" sz="1150">
                <a:solidFill>
                  <a:srgbClr val="33415A"/>
                </a:solidFill>
                <a:latin typeface="Calibri"/>
                <a:ea typeface="Calibri"/>
                <a:cs typeface="Calibri"/>
              </a:rPr>
              <a:t>Reuse governed onboarding patterns</a:t>
            </a:r>
            <a:endParaRPr sz="1150">
              <a:solidFill>
                <a:srgbClr val="33415A"/>
              </a:solidFill>
              <a:latin typeface="Calibri"/>
              <a:ea typeface="Calibri"/>
              <a:cs typeface="Calibri"/>
            </a:endParaRPr>
          </a:p>
        </p:txBody>
      </p:sp>
      <p:sp>
        <p:nvSpPr>
          <p:cNvPr id="39" name="Shape 37">
            <a:extLst>
              <a:ext uri="{FF2B5EF4-FFF2-40B4-BE49-F238E27FC236}">
                <a16:creationId xmlns:a16="http://schemas.microsoft.com/office/drawing/2014/main" id="{5F8B0068-C908-436E-B5B6-4F9E5C507DEE}"/>
              </a:ext>
            </a:extLst>
          </p:cNvPr>
          <p:cNvSpPr>
            <a:spLocks noGrp="1"/>
          </p:cNvSpPr>
          <p:nvPr/>
        </p:nvSpPr>
        <p:spPr>
          <a:xfrm>
            <a:off x="8347253" y="5020056"/>
            <a:ext cx="128016" cy="128016"/>
          </a:xfrm>
          <a:prstGeom prst="ellipse">
            <a:avLst/>
          </a:prstGeom>
          <a:solidFill>
            <a:srgbClr val="F26A4B"/>
          </a:solidFill>
        </p:spPr>
        <p:txBody>
          <a:bodyPr/>
          <a:lstStyle/>
          <a:p>
            <a:endParaRPr/>
          </a:p>
        </p:txBody>
      </p:sp>
      <p:sp>
        <p:nvSpPr>
          <p:cNvPr id="40" name="Text 38">
            <a:extLst>
              <a:ext uri="{FF2B5EF4-FFF2-40B4-BE49-F238E27FC236}">
                <a16:creationId xmlns:a16="http://schemas.microsoft.com/office/drawing/2014/main" id="{BE2C6821-E66A-413A-B761-0E05BA9C8393}"/>
              </a:ext>
            </a:extLst>
          </p:cNvPr>
          <p:cNvSpPr>
            <a:spLocks noGrp="1"/>
          </p:cNvSpPr>
          <p:nvPr/>
        </p:nvSpPr>
        <p:spPr>
          <a:xfrm>
            <a:off x="8566709" y="4919472"/>
            <a:ext cx="2948330" cy="658368"/>
          </a:xfrm>
          <a:prstGeom prst="rect">
            <a:avLst/>
          </a:prstGeom>
          <a:noFill/>
        </p:spPr>
        <p:txBody>
          <a:bodyPr wrap="square" lIns="0" tIns="0" rIns="0" bIns="0" anchor="t">
            <a:normAutofit/>
          </a:bodyPr>
          <a:lstStyle/>
          <a:p>
            <a:pPr marL="0" indent="0">
              <a:lnSpc>
                <a:spcPts val="1500"/>
              </a:lnSpc>
              <a:buNone/>
            </a:pPr>
            <a:r>
              <a:rPr lang="en-US" sz="1150">
                <a:solidFill>
                  <a:srgbClr val="33415A"/>
                </a:solidFill>
                <a:latin typeface="Calibri"/>
                <a:ea typeface="Calibri"/>
                <a:cs typeface="Calibri"/>
              </a:rPr>
              <a:t>Approve through an executive scale gate</a:t>
            </a:r>
            <a:endParaRPr sz="1150">
              <a:solidFill>
                <a:srgbClr val="33415A"/>
              </a:solidFill>
              <a:latin typeface="Calibri"/>
              <a:ea typeface="Calibri"/>
              <a:cs typeface="Calibri"/>
            </a:endParaRPr>
          </a:p>
        </p:txBody>
      </p:sp>
      <p:sp>
        <p:nvSpPr>
          <p:cNvPr id="41" name="Shape 39">
            <a:extLst>
              <a:ext uri="{FF2B5EF4-FFF2-40B4-BE49-F238E27FC236}">
                <a16:creationId xmlns:a16="http://schemas.microsoft.com/office/drawing/2014/main" id="{A83E8CE5-A40E-4200-869A-B4CF95572530}"/>
              </a:ext>
            </a:extLst>
          </p:cNvPr>
          <p:cNvSpPr>
            <a:spLocks noGrp="1"/>
          </p:cNvSpPr>
          <p:nvPr/>
        </p:nvSpPr>
        <p:spPr>
          <a:xfrm>
            <a:off x="548640" y="6108192"/>
            <a:ext cx="11094415" cy="0"/>
          </a:xfrm>
          <a:prstGeom prst="line">
            <a:avLst/>
          </a:prstGeom>
          <a:noFill/>
          <a:ln w="19050">
            <a:solidFill>
              <a:srgbClr val="E3E9F0"/>
            </a:solidFill>
            <a:prstDash val="solid"/>
            <a:tailEnd type="triangle"/>
          </a:ln>
        </p:spPr>
        <p:txBody>
          <a:bodyPr/>
          <a:lstStyle/>
          <a:p>
            <a:endParaRPr/>
          </a:p>
        </p:txBody>
      </p:sp>
      <p:sp>
        <p:nvSpPr>
          <p:cNvPr id="42" name="Text 40">
            <a:extLst>
              <a:ext uri="{FF2B5EF4-FFF2-40B4-BE49-F238E27FC236}">
                <a16:creationId xmlns:a16="http://schemas.microsoft.com/office/drawing/2014/main" id="{CD419A82-04E6-4A43-8218-A2A05ACFE9C5}"/>
              </a:ext>
            </a:extLst>
          </p:cNvPr>
          <p:cNvSpPr>
            <a:spLocks noGrp="1"/>
          </p:cNvSpPr>
          <p:nvPr/>
        </p:nvSpPr>
        <p:spPr>
          <a:xfrm>
            <a:off x="548640" y="6172200"/>
            <a:ext cx="11094415" cy="256032"/>
          </a:xfrm>
          <a:prstGeom prst="rect">
            <a:avLst/>
          </a:prstGeom>
          <a:noFill/>
        </p:spPr>
        <p:txBody>
          <a:bodyPr wrap="square" lIns="0" tIns="0" rIns="0" bIns="0" anchor="ctr">
            <a:normAutofit/>
          </a:bodyPr>
          <a:lstStyle/>
          <a:p>
            <a:pPr marL="0" indent="0" algn="r">
              <a:buNone/>
            </a:pPr>
            <a:r>
              <a:rPr lang="en-US" sz="1000" b="1">
                <a:solidFill>
                  <a:srgbClr val="64748B"/>
                </a:solidFill>
                <a:latin typeface="Calibri"/>
                <a:ea typeface="Calibri"/>
                <a:cs typeface="Calibri"/>
              </a:rPr>
              <a:t>SCALE GATE → QUALITY · ADOPTION · CONTROL EVIDENCE · VALIDATED NET BENEFIT</a:t>
            </a:r>
            <a:endParaRPr sz="1000" b="1">
              <a:solidFill>
                <a:srgbClr val="64748B"/>
              </a:solidFill>
              <a:latin typeface="Calibri"/>
              <a:ea typeface="Calibri"/>
              <a:cs typeface="Calibri"/>
            </a:endParaRPr>
          </a:p>
        </p:txBody>
      </p:sp>
      <p:sp>
        <p:nvSpPr>
          <p:cNvPr id="43" name="Text 41">
            <a:extLst>
              <a:ext uri="{FF2B5EF4-FFF2-40B4-BE49-F238E27FC236}">
                <a16:creationId xmlns:a16="http://schemas.microsoft.com/office/drawing/2014/main" id="{8974CE1B-AD7A-4E47-ACAE-7E56C51B94DB}"/>
              </a:ext>
            </a:extLst>
          </p:cNvPr>
          <p:cNvSpPr>
            <a:spLocks noGrp="1"/>
          </p:cNvSpPr>
          <p:nvPr/>
        </p:nvSpPr>
        <p:spPr>
          <a:xfrm>
            <a:off x="548640" y="6473952"/>
            <a:ext cx="8229600" cy="256032"/>
          </a:xfrm>
          <a:prstGeom prst="rect">
            <a:avLst/>
          </a:prstGeom>
          <a:noFill/>
        </p:spPr>
        <p:txBody>
          <a:bodyPr wrap="square" lIns="0" tIns="0" rIns="0" bIns="0" anchor="ctr"/>
          <a:lstStyle/>
          <a:p>
            <a:pPr marL="0" indent="0">
              <a:buNone/>
            </a:pPr>
            <a:r>
              <a:rPr sz="800" b="1">
                <a:solidFill>
                  <a:srgbClr val="64748B"/>
                </a:solidFill>
                <a:latin typeface="Calibri"/>
                <a:ea typeface="Calibri"/>
                <a:cs typeface="Calibri"/>
              </a:rPr>
              <a:t>Contract Intelligence Platform  ·  Confidential — Internal</a:t>
            </a:r>
          </a:p>
        </p:txBody>
      </p:sp>
      <p:sp>
        <p:nvSpPr>
          <p:cNvPr id="44" name="Text 42">
            <a:extLst>
              <a:ext uri="{FF2B5EF4-FFF2-40B4-BE49-F238E27FC236}">
                <a16:creationId xmlns:a16="http://schemas.microsoft.com/office/drawing/2014/main" id="{CCAA67DA-8976-4E2F-B674-ACA956B49AE8}"/>
              </a:ext>
            </a:extLst>
          </p:cNvPr>
          <p:cNvSpPr>
            <a:spLocks noGrp="1"/>
          </p:cNvSpPr>
          <p:nvPr/>
        </p:nvSpPr>
        <p:spPr>
          <a:xfrm>
            <a:off x="10728655" y="6473952"/>
            <a:ext cx="914400" cy="256032"/>
          </a:xfrm>
          <a:prstGeom prst="rect">
            <a:avLst/>
          </a:prstGeom>
          <a:noFill/>
        </p:spPr>
        <p:txBody>
          <a:bodyPr wrap="square" lIns="0" tIns="0" rIns="0" bIns="0" anchor="ctr"/>
          <a:lstStyle/>
          <a:p>
            <a:pPr marL="0" indent="0" algn="r">
              <a:buNone/>
            </a:pPr>
            <a:r>
              <a:rPr sz="900">
                <a:solidFill>
                  <a:srgbClr val="64748B"/>
                </a:solidFill>
                <a:latin typeface="Calibri"/>
                <a:ea typeface="Calibri"/>
                <a:cs typeface="Calibri"/>
              </a:rPr>
              <a:t>13</a:t>
            </a:r>
          </a:p>
        </p:txBody>
      </p:sp>
    </p:spTree>
    <p:extLst>
      <p:ext uri="{BB962C8B-B14F-4D97-AF65-F5344CB8AC3E}">
        <p14:creationId xmlns:p14="http://schemas.microsoft.com/office/powerpoint/2010/main" val="115467035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0B1B2E"/>
        </a:solidFill>
        <a:effectLst/>
      </p:bgPr>
    </p:bg>
    <p:spTree>
      <p:nvGrpSpPr>
        <p:cNvPr id="1" name=""/>
        <p:cNvGrpSpPr/>
        <p:nvPr/>
      </p:nvGrpSpPr>
      <p:grpSpPr>
        <a:xfrm>
          <a:off x="0" y="0"/>
          <a:ext cx="0" cy="0"/>
          <a:chOff x="0" y="0"/>
          <a:chExt cx="0" cy="0"/>
        </a:xfrm>
      </p:grpSpPr>
      <p:sp>
        <p:nvSpPr>
          <p:cNvPr id="7" name="Text 5">
            <a:extLst>
              <a:ext uri="{FF2B5EF4-FFF2-40B4-BE49-F238E27FC236}">
                <a16:creationId xmlns:a16="http://schemas.microsoft.com/office/drawing/2014/main" id="{F38F47BC-ADFD-4342-BDC7-541D557AB051}"/>
              </a:ext>
            </a:extLst>
          </p:cNvPr>
          <p:cNvSpPr>
            <a:spLocks noGrp="1"/>
          </p:cNvSpPr>
          <p:nvPr/>
        </p:nvSpPr>
        <p:spPr>
          <a:xfrm>
            <a:off x="548640" y="457200"/>
            <a:ext cx="11094415" cy="256032"/>
          </a:xfrm>
          <a:prstGeom prst="rect">
            <a:avLst/>
          </a:prstGeom>
          <a:noFill/>
        </p:spPr>
        <p:txBody>
          <a:bodyPr wrap="square" lIns="0" tIns="0" rIns="0" bIns="0" anchor="ctr"/>
          <a:lstStyle/>
          <a:p>
            <a:pPr marL="0" indent="0">
              <a:buNone/>
            </a:pPr>
            <a:r>
              <a:rPr sz="1100" b="1">
                <a:solidFill>
                  <a:srgbClr val="14B8A6"/>
                </a:solidFill>
                <a:latin typeface="Calibri"/>
                <a:ea typeface="Calibri"/>
                <a:cs typeface="Calibri"/>
              </a:rPr>
              <a:t>SECTION 13 · RECOMMENDATION</a:t>
            </a:r>
          </a:p>
        </p:txBody>
      </p:sp>
      <p:sp>
        <p:nvSpPr>
          <p:cNvPr id="8" name="Text 6">
            <a:extLst>
              <a:ext uri="{FF2B5EF4-FFF2-40B4-BE49-F238E27FC236}">
                <a16:creationId xmlns:a16="http://schemas.microsoft.com/office/drawing/2014/main" id="{F211DFE2-1420-4277-83E0-FF1A3FCBAC06}"/>
              </a:ext>
            </a:extLst>
          </p:cNvPr>
          <p:cNvSpPr>
            <a:spLocks noGrp="1"/>
          </p:cNvSpPr>
          <p:nvPr/>
        </p:nvSpPr>
        <p:spPr>
          <a:xfrm>
            <a:off x="548640" y="1051560"/>
            <a:ext cx="8686800" cy="1691640"/>
          </a:xfrm>
          <a:prstGeom prst="rect">
            <a:avLst/>
          </a:prstGeom>
          <a:noFill/>
        </p:spPr>
        <p:txBody>
          <a:bodyPr wrap="square" lIns="0" tIns="0" rIns="0" bIns="0" anchor="t">
            <a:normAutofit/>
          </a:bodyPr>
          <a:lstStyle/>
          <a:p>
            <a:pPr marL="0" indent="0">
              <a:lnSpc>
                <a:spcPts val="4000"/>
              </a:lnSpc>
              <a:buNone/>
            </a:pPr>
            <a:r>
              <a:rPr lang="en-US" sz="2200" b="1">
                <a:solidFill>
                  <a:srgbClr val="FFFFFF"/>
                </a:solidFill>
                <a:latin typeface="Georgia"/>
                <a:ea typeface="Georgia"/>
                <a:cs typeface="Georgia"/>
              </a:rPr>
              <a:t>The opportunity is to operationalize contract value—governed, measurable and reusable</a:t>
            </a:r>
            <a:endParaRPr sz="2200" b="1">
              <a:solidFill>
                <a:srgbClr val="FFFFFF"/>
              </a:solidFill>
              <a:latin typeface="Georgia"/>
              <a:ea typeface="Georgia"/>
              <a:cs typeface="Georgia"/>
            </a:endParaRPr>
          </a:p>
        </p:txBody>
      </p:sp>
      <p:sp>
        <p:nvSpPr>
          <p:cNvPr id="9" name="Text 7">
            <a:extLst>
              <a:ext uri="{FF2B5EF4-FFF2-40B4-BE49-F238E27FC236}">
                <a16:creationId xmlns:a16="http://schemas.microsoft.com/office/drawing/2014/main" id="{258CD630-C8E2-489B-88DF-A0D1C0119F24}"/>
              </a:ext>
            </a:extLst>
          </p:cNvPr>
          <p:cNvSpPr>
            <a:spLocks noGrp="1"/>
          </p:cNvSpPr>
          <p:nvPr/>
        </p:nvSpPr>
        <p:spPr>
          <a:xfrm>
            <a:off x="548640" y="3276600"/>
            <a:ext cx="3401568" cy="939800"/>
          </a:xfrm>
          <a:prstGeom prst="rect">
            <a:avLst/>
          </a:prstGeom>
          <a:noFill/>
        </p:spPr>
        <p:txBody>
          <a:bodyPr wrap="square" lIns="0" tIns="0" rIns="0" bIns="0" anchor="t">
            <a:normAutofit/>
          </a:bodyPr>
          <a:lstStyle/>
          <a:p>
            <a:pPr marL="0" indent="0">
              <a:lnSpc>
                <a:spcPts val="1800"/>
              </a:lnSpc>
              <a:buNone/>
            </a:pPr>
            <a:r>
              <a:rPr lang="en-US" sz="1600" b="1">
                <a:solidFill>
                  <a:srgbClr val="5EEAD4"/>
                </a:solidFill>
                <a:latin typeface="Calibri"/>
                <a:ea typeface="Calibri"/>
                <a:cs typeface="Calibri"/>
              </a:rPr>
              <a:t>Any rate. Any provider. Any clause—through governed data and evidence.</a:t>
            </a:r>
            <a:endParaRPr sz="1600" b="1">
              <a:solidFill>
                <a:srgbClr val="5EEAD4"/>
              </a:solidFill>
              <a:latin typeface="Calibri"/>
              <a:ea typeface="Calibri"/>
              <a:cs typeface="Calibri"/>
            </a:endParaRPr>
          </a:p>
        </p:txBody>
      </p:sp>
      <p:sp>
        <p:nvSpPr>
          <p:cNvPr id="10" name="Text 8">
            <a:extLst>
              <a:ext uri="{FF2B5EF4-FFF2-40B4-BE49-F238E27FC236}">
                <a16:creationId xmlns:a16="http://schemas.microsoft.com/office/drawing/2014/main" id="{BA39EC30-215A-4539-883E-DC946422DC7C}"/>
              </a:ext>
            </a:extLst>
          </p:cNvPr>
          <p:cNvSpPr>
            <a:spLocks noGrp="1"/>
          </p:cNvSpPr>
          <p:nvPr/>
        </p:nvSpPr>
        <p:spPr>
          <a:xfrm>
            <a:off x="548640" y="2946400"/>
            <a:ext cx="3401568" cy="254000"/>
          </a:xfrm>
          <a:prstGeom prst="rect">
            <a:avLst/>
          </a:prstGeom>
          <a:noFill/>
        </p:spPr>
        <p:txBody>
          <a:bodyPr wrap="square" lIns="0" tIns="0" rIns="0" bIns="0" anchor="ctr">
            <a:normAutofit/>
          </a:bodyPr>
          <a:lstStyle/>
          <a:p>
            <a:pPr marL="0" indent="0">
              <a:buNone/>
            </a:pPr>
            <a:r>
              <a:rPr lang="en-IN" sz="950" b="1">
                <a:solidFill>
                  <a:srgbClr val="93A4BD"/>
                </a:solidFill>
                <a:latin typeface="Calibri"/>
                <a:ea typeface="Calibri"/>
                <a:cs typeface="Calibri"/>
              </a:rPr>
              <a:t>REUSABLE DATA ASSET</a:t>
            </a:r>
            <a:endParaRPr sz="950" b="1">
              <a:solidFill>
                <a:srgbClr val="93A4BD"/>
              </a:solidFill>
              <a:latin typeface="Calibri"/>
              <a:ea typeface="Calibri"/>
              <a:cs typeface="Calibri"/>
            </a:endParaRPr>
          </a:p>
        </p:txBody>
      </p:sp>
      <p:sp>
        <p:nvSpPr>
          <p:cNvPr id="11" name="Text 9">
            <a:extLst>
              <a:ext uri="{FF2B5EF4-FFF2-40B4-BE49-F238E27FC236}">
                <a16:creationId xmlns:a16="http://schemas.microsoft.com/office/drawing/2014/main" id="{DE1B12A9-2999-4D89-BB86-849EE7AEB313}"/>
              </a:ext>
            </a:extLst>
          </p:cNvPr>
          <p:cNvSpPr>
            <a:spLocks noGrp="1"/>
          </p:cNvSpPr>
          <p:nvPr/>
        </p:nvSpPr>
        <p:spPr>
          <a:xfrm>
            <a:off x="4206240" y="3276600"/>
            <a:ext cx="3401568" cy="939800"/>
          </a:xfrm>
          <a:prstGeom prst="rect">
            <a:avLst/>
          </a:prstGeom>
          <a:noFill/>
        </p:spPr>
        <p:txBody>
          <a:bodyPr wrap="square" lIns="0" tIns="0" rIns="0" bIns="0" anchor="t">
            <a:normAutofit/>
          </a:bodyPr>
          <a:lstStyle/>
          <a:p>
            <a:pPr marL="0" indent="0">
              <a:lnSpc>
                <a:spcPts val="1800"/>
              </a:lnSpc>
              <a:buNone/>
            </a:pPr>
            <a:r>
              <a:rPr lang="en-US" sz="1600" b="1">
                <a:solidFill>
                  <a:srgbClr val="5EEAD4"/>
                </a:solidFill>
                <a:latin typeface="Calibri"/>
                <a:ea typeface="Calibri"/>
                <a:cs typeface="Calibri"/>
              </a:rPr>
              <a:t>Every answer linked to source evidence, controls and accountable review.</a:t>
            </a:r>
            <a:endParaRPr sz="1600" b="1">
              <a:solidFill>
                <a:srgbClr val="5EEAD4"/>
              </a:solidFill>
              <a:latin typeface="Calibri"/>
              <a:ea typeface="Calibri"/>
              <a:cs typeface="Calibri"/>
            </a:endParaRPr>
          </a:p>
        </p:txBody>
      </p:sp>
      <p:sp>
        <p:nvSpPr>
          <p:cNvPr id="12" name="Text 10">
            <a:extLst>
              <a:ext uri="{FF2B5EF4-FFF2-40B4-BE49-F238E27FC236}">
                <a16:creationId xmlns:a16="http://schemas.microsoft.com/office/drawing/2014/main" id="{AB909E06-E0FD-43E1-9C65-C4879D2AF291}"/>
              </a:ext>
            </a:extLst>
          </p:cNvPr>
          <p:cNvSpPr>
            <a:spLocks noGrp="1"/>
          </p:cNvSpPr>
          <p:nvPr/>
        </p:nvSpPr>
        <p:spPr>
          <a:xfrm>
            <a:off x="4206240" y="2946400"/>
            <a:ext cx="3401568" cy="254000"/>
          </a:xfrm>
          <a:prstGeom prst="rect">
            <a:avLst/>
          </a:prstGeom>
          <a:noFill/>
        </p:spPr>
        <p:txBody>
          <a:bodyPr wrap="square" lIns="0" tIns="0" rIns="0" bIns="0" anchor="ctr">
            <a:normAutofit/>
          </a:bodyPr>
          <a:lstStyle/>
          <a:p>
            <a:pPr marL="0" indent="0">
              <a:buNone/>
            </a:pPr>
            <a:r>
              <a:rPr lang="en-IN" sz="950" b="1">
                <a:solidFill>
                  <a:srgbClr val="93A4BD"/>
                </a:solidFill>
                <a:latin typeface="Calibri"/>
                <a:ea typeface="Calibri"/>
                <a:cs typeface="Calibri"/>
              </a:rPr>
              <a:t>TRUST &amp; ACCOUNTABILITY</a:t>
            </a:r>
            <a:endParaRPr sz="950" b="1">
              <a:solidFill>
                <a:srgbClr val="93A4BD"/>
              </a:solidFill>
              <a:latin typeface="Calibri"/>
              <a:ea typeface="Calibri"/>
              <a:cs typeface="Calibri"/>
            </a:endParaRPr>
          </a:p>
        </p:txBody>
      </p:sp>
      <p:sp>
        <p:nvSpPr>
          <p:cNvPr id="13" name="Text 11">
            <a:extLst>
              <a:ext uri="{FF2B5EF4-FFF2-40B4-BE49-F238E27FC236}">
                <a16:creationId xmlns:a16="http://schemas.microsoft.com/office/drawing/2014/main" id="{26EA3AA9-E7E7-4806-A718-651EB997925B}"/>
              </a:ext>
            </a:extLst>
          </p:cNvPr>
          <p:cNvSpPr>
            <a:spLocks noGrp="1"/>
          </p:cNvSpPr>
          <p:nvPr/>
        </p:nvSpPr>
        <p:spPr>
          <a:xfrm>
            <a:off x="7863840" y="3276600"/>
            <a:ext cx="3401568" cy="939800"/>
          </a:xfrm>
          <a:prstGeom prst="rect">
            <a:avLst/>
          </a:prstGeom>
          <a:noFill/>
        </p:spPr>
        <p:txBody>
          <a:bodyPr wrap="square" lIns="0" tIns="0" rIns="0" bIns="0" anchor="t">
            <a:normAutofit/>
          </a:bodyPr>
          <a:lstStyle/>
          <a:p>
            <a:pPr marL="0" indent="0">
              <a:lnSpc>
                <a:spcPts val="1800"/>
              </a:lnSpc>
              <a:buNone/>
            </a:pPr>
            <a:r>
              <a:rPr lang="en-US" sz="1600" b="1">
                <a:solidFill>
                  <a:srgbClr val="F26A4B"/>
                </a:solidFill>
                <a:latin typeface="Calibri"/>
                <a:ea typeface="Calibri"/>
                <a:cs typeface="Calibri"/>
              </a:rPr>
              <a:t>Built on the current platform foundation, with scale gated by measured value.</a:t>
            </a:r>
            <a:endParaRPr sz="1600" b="1">
              <a:solidFill>
                <a:srgbClr val="F26A4B"/>
              </a:solidFill>
              <a:latin typeface="Calibri"/>
              <a:ea typeface="Calibri"/>
              <a:cs typeface="Calibri"/>
            </a:endParaRPr>
          </a:p>
        </p:txBody>
      </p:sp>
      <p:sp>
        <p:nvSpPr>
          <p:cNvPr id="14" name="Text 12">
            <a:extLst>
              <a:ext uri="{FF2B5EF4-FFF2-40B4-BE49-F238E27FC236}">
                <a16:creationId xmlns:a16="http://schemas.microsoft.com/office/drawing/2014/main" id="{F3D8D14D-B4F5-4B8E-8A38-20C33F428824}"/>
              </a:ext>
            </a:extLst>
          </p:cNvPr>
          <p:cNvSpPr>
            <a:spLocks noGrp="1"/>
          </p:cNvSpPr>
          <p:nvPr/>
        </p:nvSpPr>
        <p:spPr>
          <a:xfrm>
            <a:off x="7863840" y="2946400"/>
            <a:ext cx="3401568" cy="254000"/>
          </a:xfrm>
          <a:prstGeom prst="rect">
            <a:avLst/>
          </a:prstGeom>
          <a:noFill/>
        </p:spPr>
        <p:txBody>
          <a:bodyPr wrap="square" lIns="0" tIns="0" rIns="0" bIns="0" anchor="ctr">
            <a:normAutofit/>
          </a:bodyPr>
          <a:lstStyle/>
          <a:p>
            <a:pPr marL="0" indent="0">
              <a:buNone/>
            </a:pPr>
            <a:r>
              <a:rPr lang="en-IN" sz="950" b="1">
                <a:solidFill>
                  <a:srgbClr val="93A4BD"/>
                </a:solidFill>
                <a:latin typeface="Calibri"/>
                <a:ea typeface="Calibri"/>
                <a:cs typeface="Calibri"/>
              </a:rPr>
              <a:t>IMPLEMENTATION LEVERAGE</a:t>
            </a:r>
            <a:endParaRPr sz="950" b="1">
              <a:solidFill>
                <a:srgbClr val="93A4BD"/>
              </a:solidFill>
              <a:latin typeface="Calibri"/>
              <a:ea typeface="Calibri"/>
              <a:cs typeface="Calibri"/>
            </a:endParaRPr>
          </a:p>
        </p:txBody>
      </p:sp>
      <p:sp>
        <p:nvSpPr>
          <p:cNvPr id="15" name="Shape 13">
            <a:extLst>
              <a:ext uri="{FF2B5EF4-FFF2-40B4-BE49-F238E27FC236}">
                <a16:creationId xmlns:a16="http://schemas.microsoft.com/office/drawing/2014/main" id="{89C2E775-72E6-44F9-83A1-0478A42DAB1B}"/>
              </a:ext>
            </a:extLst>
          </p:cNvPr>
          <p:cNvSpPr>
            <a:spLocks noGrp="1"/>
          </p:cNvSpPr>
          <p:nvPr/>
        </p:nvSpPr>
        <p:spPr>
          <a:xfrm>
            <a:off x="548640" y="4645152"/>
            <a:ext cx="11094415" cy="1325880"/>
          </a:xfrm>
          <a:prstGeom prst="rect">
            <a:avLst/>
          </a:prstGeom>
          <a:solidFill>
            <a:srgbClr val="13283F"/>
          </a:solidFill>
          <a:effectLst>
            <a:outerShdw blurRad="177800" dist="50800" dir="8100000" algn="bl" rotWithShape="0">
              <a:srgbClr val="000000">
                <a:alpha val="22000"/>
              </a:srgbClr>
            </a:outerShdw>
          </a:effectLst>
        </p:spPr>
        <p:txBody>
          <a:bodyPr/>
          <a:lstStyle/>
          <a:p>
            <a:endParaRPr/>
          </a:p>
        </p:txBody>
      </p:sp>
      <p:sp>
        <p:nvSpPr>
          <p:cNvPr id="16" name="Shape 14">
            <a:extLst>
              <a:ext uri="{FF2B5EF4-FFF2-40B4-BE49-F238E27FC236}">
                <a16:creationId xmlns:a16="http://schemas.microsoft.com/office/drawing/2014/main" id="{075D05A9-2644-4DFF-96F6-7B5C724C75F8}"/>
              </a:ext>
            </a:extLst>
          </p:cNvPr>
          <p:cNvSpPr>
            <a:spLocks noGrp="1"/>
          </p:cNvSpPr>
          <p:nvPr/>
        </p:nvSpPr>
        <p:spPr>
          <a:xfrm>
            <a:off x="548640" y="4645152"/>
            <a:ext cx="91440" cy="1325880"/>
          </a:xfrm>
          <a:prstGeom prst="rect">
            <a:avLst/>
          </a:prstGeom>
          <a:solidFill>
            <a:srgbClr val="F26A4B"/>
          </a:solidFill>
        </p:spPr>
        <p:txBody>
          <a:bodyPr/>
          <a:lstStyle/>
          <a:p>
            <a:endParaRPr/>
          </a:p>
        </p:txBody>
      </p:sp>
      <p:sp>
        <p:nvSpPr>
          <p:cNvPr id="17" name="Text 15">
            <a:extLst>
              <a:ext uri="{FF2B5EF4-FFF2-40B4-BE49-F238E27FC236}">
                <a16:creationId xmlns:a16="http://schemas.microsoft.com/office/drawing/2014/main" id="{928E3291-C885-4971-BCD9-1E6E499D5D52}"/>
              </a:ext>
            </a:extLst>
          </p:cNvPr>
          <p:cNvSpPr>
            <a:spLocks noGrp="1"/>
          </p:cNvSpPr>
          <p:nvPr/>
        </p:nvSpPr>
        <p:spPr>
          <a:xfrm>
            <a:off x="868680" y="4773168"/>
            <a:ext cx="2743200" cy="256032"/>
          </a:xfrm>
          <a:prstGeom prst="rect">
            <a:avLst/>
          </a:prstGeom>
          <a:noFill/>
        </p:spPr>
        <p:txBody>
          <a:bodyPr wrap="square" lIns="0" tIns="0" rIns="0" bIns="0" anchor="ctr"/>
          <a:lstStyle/>
          <a:p>
            <a:pPr marL="0" indent="0">
              <a:buNone/>
            </a:pPr>
            <a:r>
              <a:rPr sz="1100" b="1">
                <a:solidFill>
                  <a:srgbClr val="F26A4B"/>
                </a:solidFill>
                <a:latin typeface="Calibri"/>
                <a:ea typeface="Calibri"/>
                <a:cs typeface="Calibri"/>
              </a:rPr>
              <a:t>THE EXECUTIVE ASK</a:t>
            </a:r>
          </a:p>
        </p:txBody>
      </p:sp>
      <p:sp>
        <p:nvSpPr>
          <p:cNvPr id="18" name="Shape 16">
            <a:extLst>
              <a:ext uri="{FF2B5EF4-FFF2-40B4-BE49-F238E27FC236}">
                <a16:creationId xmlns:a16="http://schemas.microsoft.com/office/drawing/2014/main" id="{E647D6C6-B63A-490C-8BCC-C8AE9FF33C5E}"/>
              </a:ext>
            </a:extLst>
          </p:cNvPr>
          <p:cNvSpPr>
            <a:spLocks noGrp="1"/>
          </p:cNvSpPr>
          <p:nvPr/>
        </p:nvSpPr>
        <p:spPr>
          <a:xfrm>
            <a:off x="868680" y="5120640"/>
            <a:ext cx="384048" cy="384048"/>
          </a:xfrm>
          <a:prstGeom prst="ellipse">
            <a:avLst/>
          </a:prstGeom>
          <a:solidFill>
            <a:srgbClr val="14B8A6"/>
          </a:solidFill>
          <a:effectLst>
            <a:outerShdw blurRad="101600" dist="25400" dir="8100000" algn="bl" rotWithShape="0">
              <a:srgbClr val="1E293B">
                <a:alpha val="11000"/>
              </a:srgbClr>
            </a:outerShdw>
          </a:effectLst>
        </p:spPr>
        <p:txBody>
          <a:bodyPr/>
          <a:lstStyle/>
          <a:p>
            <a:endParaRPr/>
          </a:p>
        </p:txBody>
      </p:sp>
      <p:sp>
        <p:nvSpPr>
          <p:cNvPr id="19" name="Text 17">
            <a:extLst>
              <a:ext uri="{FF2B5EF4-FFF2-40B4-BE49-F238E27FC236}">
                <a16:creationId xmlns:a16="http://schemas.microsoft.com/office/drawing/2014/main" id="{FA36DB03-B12E-46D4-9610-A3F8054BCBEE}"/>
              </a:ext>
            </a:extLst>
          </p:cNvPr>
          <p:cNvSpPr>
            <a:spLocks noGrp="1"/>
          </p:cNvSpPr>
          <p:nvPr/>
        </p:nvSpPr>
        <p:spPr>
          <a:xfrm>
            <a:off x="868680" y="5120640"/>
            <a:ext cx="384048" cy="384048"/>
          </a:xfrm>
          <a:prstGeom prst="rect">
            <a:avLst/>
          </a:prstGeom>
          <a:noFill/>
        </p:spPr>
        <p:txBody>
          <a:bodyPr wrap="square" lIns="0" tIns="0" rIns="0" bIns="0" anchor="ctr"/>
          <a:lstStyle/>
          <a:p>
            <a:pPr marL="0" indent="0" algn="ctr">
              <a:buNone/>
            </a:pPr>
            <a:r>
              <a:rPr sz="1200" b="1">
                <a:solidFill>
                  <a:srgbClr val="FFFFFF"/>
                </a:solidFill>
                <a:latin typeface="Calibri"/>
                <a:ea typeface="Calibri"/>
                <a:cs typeface="Calibri"/>
              </a:rPr>
              <a:t>1</a:t>
            </a:r>
          </a:p>
        </p:txBody>
      </p:sp>
      <p:sp>
        <p:nvSpPr>
          <p:cNvPr id="20" name="Text 18">
            <a:extLst>
              <a:ext uri="{FF2B5EF4-FFF2-40B4-BE49-F238E27FC236}">
                <a16:creationId xmlns:a16="http://schemas.microsoft.com/office/drawing/2014/main" id="{049EF376-71CD-43F4-940B-684A51D0F5A4}"/>
              </a:ext>
            </a:extLst>
          </p:cNvPr>
          <p:cNvSpPr>
            <a:spLocks noGrp="1"/>
          </p:cNvSpPr>
          <p:nvPr/>
        </p:nvSpPr>
        <p:spPr>
          <a:xfrm>
            <a:off x="1399032" y="5102352"/>
            <a:ext cx="2893466" cy="566928"/>
          </a:xfrm>
          <a:prstGeom prst="rect">
            <a:avLst/>
          </a:prstGeom>
          <a:noFill/>
        </p:spPr>
        <p:txBody>
          <a:bodyPr wrap="square" lIns="0" tIns="0" rIns="0" bIns="0" anchor="ctr">
            <a:normAutofit/>
          </a:bodyPr>
          <a:lstStyle/>
          <a:p>
            <a:pPr marL="0" indent="0">
              <a:lnSpc>
                <a:spcPts val="1500"/>
              </a:lnSpc>
              <a:buNone/>
            </a:pPr>
            <a:r>
              <a:rPr lang="en-US" sz="1050" b="1">
                <a:solidFill>
                  <a:srgbClr val="FFFFFF"/>
                </a:solidFill>
                <a:latin typeface="Calibri"/>
                <a:ea typeface="Calibri"/>
                <a:cs typeface="Calibri"/>
              </a:rPr>
              <a:t>Name an executive sponsor and accountable business product owner</a:t>
            </a:r>
            <a:endParaRPr sz="1050" b="1">
              <a:solidFill>
                <a:srgbClr val="FFFFFF"/>
              </a:solidFill>
              <a:latin typeface="Calibri"/>
              <a:ea typeface="Calibri"/>
              <a:cs typeface="Calibri"/>
            </a:endParaRPr>
          </a:p>
        </p:txBody>
      </p:sp>
      <p:sp>
        <p:nvSpPr>
          <p:cNvPr id="21" name="Shape 19">
            <a:extLst>
              <a:ext uri="{FF2B5EF4-FFF2-40B4-BE49-F238E27FC236}">
                <a16:creationId xmlns:a16="http://schemas.microsoft.com/office/drawing/2014/main" id="{48F4126B-D980-4BB0-8D03-477AF165F312}"/>
              </a:ext>
            </a:extLst>
          </p:cNvPr>
          <p:cNvSpPr>
            <a:spLocks noGrp="1"/>
          </p:cNvSpPr>
          <p:nvPr/>
        </p:nvSpPr>
        <p:spPr>
          <a:xfrm>
            <a:off x="4383938" y="5120640"/>
            <a:ext cx="384048" cy="384048"/>
          </a:xfrm>
          <a:prstGeom prst="ellipse">
            <a:avLst/>
          </a:prstGeom>
          <a:solidFill>
            <a:srgbClr val="14B8A6"/>
          </a:solidFill>
          <a:effectLst>
            <a:outerShdw blurRad="101600" dist="25400" dir="8100000" algn="bl" rotWithShape="0">
              <a:srgbClr val="1E293B">
                <a:alpha val="11000"/>
              </a:srgbClr>
            </a:outerShdw>
          </a:effectLst>
        </p:spPr>
        <p:txBody>
          <a:bodyPr/>
          <a:lstStyle/>
          <a:p>
            <a:endParaRPr/>
          </a:p>
        </p:txBody>
      </p:sp>
      <p:sp>
        <p:nvSpPr>
          <p:cNvPr id="22" name="Text 20">
            <a:extLst>
              <a:ext uri="{FF2B5EF4-FFF2-40B4-BE49-F238E27FC236}">
                <a16:creationId xmlns:a16="http://schemas.microsoft.com/office/drawing/2014/main" id="{A42F5B8D-9852-4A8D-ADA4-09262BD7F151}"/>
              </a:ext>
            </a:extLst>
          </p:cNvPr>
          <p:cNvSpPr>
            <a:spLocks noGrp="1"/>
          </p:cNvSpPr>
          <p:nvPr/>
        </p:nvSpPr>
        <p:spPr>
          <a:xfrm>
            <a:off x="4383938" y="5120640"/>
            <a:ext cx="384048" cy="384048"/>
          </a:xfrm>
          <a:prstGeom prst="rect">
            <a:avLst/>
          </a:prstGeom>
          <a:noFill/>
        </p:spPr>
        <p:txBody>
          <a:bodyPr wrap="square" lIns="0" tIns="0" rIns="0" bIns="0" anchor="ctr"/>
          <a:lstStyle/>
          <a:p>
            <a:pPr marL="0" indent="0" algn="ctr">
              <a:buNone/>
            </a:pPr>
            <a:r>
              <a:rPr sz="1200" b="1">
                <a:solidFill>
                  <a:srgbClr val="FFFFFF"/>
                </a:solidFill>
                <a:latin typeface="Calibri"/>
                <a:ea typeface="Calibri"/>
                <a:cs typeface="Calibri"/>
              </a:rPr>
              <a:t>2</a:t>
            </a:r>
          </a:p>
        </p:txBody>
      </p:sp>
      <p:sp>
        <p:nvSpPr>
          <p:cNvPr id="23" name="Text 21">
            <a:extLst>
              <a:ext uri="{FF2B5EF4-FFF2-40B4-BE49-F238E27FC236}">
                <a16:creationId xmlns:a16="http://schemas.microsoft.com/office/drawing/2014/main" id="{8B2FE265-70ED-4D95-B40C-A0BDC209A199}"/>
              </a:ext>
            </a:extLst>
          </p:cNvPr>
          <p:cNvSpPr>
            <a:spLocks noGrp="1"/>
          </p:cNvSpPr>
          <p:nvPr/>
        </p:nvSpPr>
        <p:spPr>
          <a:xfrm>
            <a:off x="4914290" y="5102352"/>
            <a:ext cx="2893466" cy="566928"/>
          </a:xfrm>
          <a:prstGeom prst="rect">
            <a:avLst/>
          </a:prstGeom>
          <a:noFill/>
        </p:spPr>
        <p:txBody>
          <a:bodyPr wrap="square" lIns="0" tIns="0" rIns="0" bIns="0" anchor="ctr">
            <a:normAutofit/>
          </a:bodyPr>
          <a:lstStyle/>
          <a:p>
            <a:pPr marL="0" indent="0">
              <a:lnSpc>
                <a:spcPts val="1500"/>
              </a:lnSpc>
              <a:buNone/>
            </a:pPr>
            <a:r>
              <a:rPr lang="en-US" sz="1050" b="1">
                <a:solidFill>
                  <a:srgbClr val="FFFFFF"/>
                </a:solidFill>
                <a:latin typeface="Calibri"/>
                <a:ea typeface="Calibri"/>
                <a:cs typeface="Calibri"/>
              </a:rPr>
              <a:t>Approve completion and hardening of the governed data and trust foundation</a:t>
            </a:r>
            <a:endParaRPr sz="1050" b="1">
              <a:solidFill>
                <a:srgbClr val="FFFFFF"/>
              </a:solidFill>
              <a:latin typeface="Calibri"/>
              <a:ea typeface="Calibri"/>
              <a:cs typeface="Calibri"/>
            </a:endParaRPr>
          </a:p>
        </p:txBody>
      </p:sp>
      <p:sp>
        <p:nvSpPr>
          <p:cNvPr id="24" name="Shape 22">
            <a:extLst>
              <a:ext uri="{FF2B5EF4-FFF2-40B4-BE49-F238E27FC236}">
                <a16:creationId xmlns:a16="http://schemas.microsoft.com/office/drawing/2014/main" id="{3CA835BF-2F01-4181-BCD0-EAC60E9156FC}"/>
              </a:ext>
            </a:extLst>
          </p:cNvPr>
          <p:cNvSpPr>
            <a:spLocks noGrp="1"/>
          </p:cNvSpPr>
          <p:nvPr/>
        </p:nvSpPr>
        <p:spPr>
          <a:xfrm>
            <a:off x="7899197" y="5120640"/>
            <a:ext cx="384048" cy="384048"/>
          </a:xfrm>
          <a:prstGeom prst="ellipse">
            <a:avLst/>
          </a:prstGeom>
          <a:solidFill>
            <a:srgbClr val="F26A4B"/>
          </a:solidFill>
          <a:effectLst>
            <a:outerShdw blurRad="101600" dist="25400" dir="8100000" algn="bl" rotWithShape="0">
              <a:srgbClr val="1E293B">
                <a:alpha val="11000"/>
              </a:srgbClr>
            </a:outerShdw>
          </a:effectLst>
        </p:spPr>
        <p:txBody>
          <a:bodyPr/>
          <a:lstStyle/>
          <a:p>
            <a:endParaRPr/>
          </a:p>
        </p:txBody>
      </p:sp>
      <p:sp>
        <p:nvSpPr>
          <p:cNvPr id="25" name="Text 23">
            <a:extLst>
              <a:ext uri="{FF2B5EF4-FFF2-40B4-BE49-F238E27FC236}">
                <a16:creationId xmlns:a16="http://schemas.microsoft.com/office/drawing/2014/main" id="{E1B93E3A-0FA6-458F-8E4E-DC9CCC899E92}"/>
              </a:ext>
            </a:extLst>
          </p:cNvPr>
          <p:cNvSpPr>
            <a:spLocks noGrp="1"/>
          </p:cNvSpPr>
          <p:nvPr/>
        </p:nvSpPr>
        <p:spPr>
          <a:xfrm>
            <a:off x="7899197" y="5120640"/>
            <a:ext cx="384048" cy="384048"/>
          </a:xfrm>
          <a:prstGeom prst="rect">
            <a:avLst/>
          </a:prstGeom>
          <a:noFill/>
        </p:spPr>
        <p:txBody>
          <a:bodyPr wrap="square" lIns="0" tIns="0" rIns="0" bIns="0" anchor="ctr"/>
          <a:lstStyle/>
          <a:p>
            <a:pPr marL="0" indent="0" algn="ctr">
              <a:buNone/>
            </a:pPr>
            <a:r>
              <a:rPr sz="1200" b="1">
                <a:solidFill>
                  <a:srgbClr val="FFFFFF"/>
                </a:solidFill>
                <a:latin typeface="Calibri"/>
                <a:ea typeface="Calibri"/>
                <a:cs typeface="Calibri"/>
              </a:rPr>
              <a:t>3</a:t>
            </a:r>
          </a:p>
        </p:txBody>
      </p:sp>
      <p:sp>
        <p:nvSpPr>
          <p:cNvPr id="26" name="Text 24">
            <a:extLst>
              <a:ext uri="{FF2B5EF4-FFF2-40B4-BE49-F238E27FC236}">
                <a16:creationId xmlns:a16="http://schemas.microsoft.com/office/drawing/2014/main" id="{B73B5366-5D80-4566-B10D-9E877F201915}"/>
              </a:ext>
            </a:extLst>
          </p:cNvPr>
          <p:cNvSpPr>
            <a:spLocks noGrp="1"/>
          </p:cNvSpPr>
          <p:nvPr/>
        </p:nvSpPr>
        <p:spPr>
          <a:xfrm>
            <a:off x="8429549" y="5102352"/>
            <a:ext cx="2893466" cy="566928"/>
          </a:xfrm>
          <a:prstGeom prst="rect">
            <a:avLst/>
          </a:prstGeom>
          <a:noFill/>
        </p:spPr>
        <p:txBody>
          <a:bodyPr wrap="square" lIns="0" tIns="0" rIns="0" bIns="0" anchor="ctr">
            <a:normAutofit/>
          </a:bodyPr>
          <a:lstStyle/>
          <a:p>
            <a:pPr marL="0" indent="0">
              <a:lnSpc>
                <a:spcPts val="1500"/>
              </a:lnSpc>
              <a:buNone/>
            </a:pPr>
            <a:r>
              <a:rPr lang="en-US" sz="1050" b="1">
                <a:solidFill>
                  <a:srgbClr val="FFFFFF"/>
                </a:solidFill>
                <a:latin typeface="Calibri"/>
                <a:ea typeface="Calibri"/>
                <a:cs typeface="Calibri"/>
              </a:rPr>
              <a:t>Authorize a pilot with success criteria for quality, adoption, cycle time and value</a:t>
            </a:r>
            <a:endParaRPr sz="1050" b="1">
              <a:solidFill>
                <a:srgbClr val="FFFFFF"/>
              </a:solidFill>
              <a:latin typeface="Calibri"/>
              <a:ea typeface="Calibri"/>
              <a:cs typeface="Calibri"/>
            </a:endParaRPr>
          </a:p>
        </p:txBody>
      </p:sp>
      <p:sp>
        <p:nvSpPr>
          <p:cNvPr id="27" name="Text 25">
            <a:extLst>
              <a:ext uri="{FF2B5EF4-FFF2-40B4-BE49-F238E27FC236}">
                <a16:creationId xmlns:a16="http://schemas.microsoft.com/office/drawing/2014/main" id="{7F7C007D-35C7-4035-9DBC-447C13BBCE40}"/>
              </a:ext>
            </a:extLst>
          </p:cNvPr>
          <p:cNvSpPr>
            <a:spLocks noGrp="1"/>
          </p:cNvSpPr>
          <p:nvPr/>
        </p:nvSpPr>
        <p:spPr>
          <a:xfrm>
            <a:off x="548640" y="6144768"/>
            <a:ext cx="11094415" cy="292100"/>
          </a:xfrm>
          <a:prstGeom prst="rect">
            <a:avLst/>
          </a:prstGeom>
          <a:noFill/>
        </p:spPr>
        <p:txBody>
          <a:bodyPr wrap="square" lIns="0" tIns="0" rIns="0" bIns="0" anchor="ctr">
            <a:normAutofit/>
          </a:bodyPr>
          <a:lstStyle/>
          <a:p>
            <a:pPr marL="0" indent="0">
              <a:buNone/>
            </a:pPr>
            <a:r>
              <a:rPr lang="en-US" sz="1000" i="1">
                <a:solidFill>
                  <a:srgbClr val="5EEAD4"/>
                </a:solidFill>
                <a:latin typeface="Calibri"/>
                <a:ea typeface="Calibri"/>
                <a:cs typeface="Calibri"/>
              </a:rPr>
              <a:t>The decision is whether Blue Shield will operationalize contract value through a governed, measurable pilot.</a:t>
            </a:r>
            <a:endParaRPr sz="1000" i="1">
              <a:solidFill>
                <a:srgbClr val="5EEAD4"/>
              </a:solidFill>
              <a:latin typeface="Calibri"/>
              <a:ea typeface="Calibri"/>
              <a:cs typeface="Calibri"/>
            </a:endParaRPr>
          </a:p>
        </p:txBody>
      </p:sp>
      <p:sp>
        <p:nvSpPr>
          <p:cNvPr id="28" name="Text 26">
            <a:extLst>
              <a:ext uri="{FF2B5EF4-FFF2-40B4-BE49-F238E27FC236}">
                <a16:creationId xmlns:a16="http://schemas.microsoft.com/office/drawing/2014/main" id="{D5C9F0BD-511A-46D9-96A5-CC1EC7E3E155}"/>
              </a:ext>
            </a:extLst>
          </p:cNvPr>
          <p:cNvSpPr>
            <a:spLocks noGrp="1"/>
          </p:cNvSpPr>
          <p:nvPr/>
        </p:nvSpPr>
        <p:spPr>
          <a:xfrm>
            <a:off x="548640" y="6473952"/>
            <a:ext cx="8229600" cy="256032"/>
          </a:xfrm>
          <a:prstGeom prst="rect">
            <a:avLst/>
          </a:prstGeom>
          <a:noFill/>
        </p:spPr>
        <p:txBody>
          <a:bodyPr wrap="square" lIns="0" tIns="0" rIns="0" bIns="0" anchor="ctr"/>
          <a:lstStyle/>
          <a:p>
            <a:pPr marL="0" indent="0">
              <a:buNone/>
            </a:pPr>
            <a:r>
              <a:rPr sz="800" b="1">
                <a:solidFill>
                  <a:srgbClr val="93A4BD"/>
                </a:solidFill>
                <a:latin typeface="Calibri"/>
                <a:ea typeface="Calibri"/>
                <a:cs typeface="Calibri"/>
              </a:rPr>
              <a:t>Contract Intelligence Platform  ·  Confidential — Internal</a:t>
            </a:r>
          </a:p>
        </p:txBody>
      </p:sp>
      <p:sp>
        <p:nvSpPr>
          <p:cNvPr id="29" name="Text 27">
            <a:extLst>
              <a:ext uri="{FF2B5EF4-FFF2-40B4-BE49-F238E27FC236}">
                <a16:creationId xmlns:a16="http://schemas.microsoft.com/office/drawing/2014/main" id="{7295645F-FC21-4726-971D-6E82A7B8649F}"/>
              </a:ext>
            </a:extLst>
          </p:cNvPr>
          <p:cNvSpPr>
            <a:spLocks noGrp="1"/>
          </p:cNvSpPr>
          <p:nvPr/>
        </p:nvSpPr>
        <p:spPr>
          <a:xfrm>
            <a:off x="10728655" y="6473952"/>
            <a:ext cx="914400" cy="256032"/>
          </a:xfrm>
          <a:prstGeom prst="rect">
            <a:avLst/>
          </a:prstGeom>
          <a:noFill/>
        </p:spPr>
        <p:txBody>
          <a:bodyPr wrap="square" lIns="0" tIns="0" rIns="0" bIns="0" anchor="ctr"/>
          <a:lstStyle/>
          <a:p>
            <a:pPr marL="0" indent="0" algn="r">
              <a:buNone/>
            </a:pPr>
            <a:r>
              <a:rPr sz="900">
                <a:solidFill>
                  <a:srgbClr val="93A4BD"/>
                </a:solidFill>
                <a:latin typeface="Calibri"/>
                <a:ea typeface="Calibri"/>
                <a:cs typeface="Calibri"/>
              </a:rPr>
              <a:t>14</a:t>
            </a:r>
          </a:p>
        </p:txBody>
      </p:sp>
    </p:spTree>
    <p:extLst>
      <p:ext uri="{BB962C8B-B14F-4D97-AF65-F5344CB8AC3E}">
        <p14:creationId xmlns:p14="http://schemas.microsoft.com/office/powerpoint/2010/main" val="83434133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lang="en-IN"/>
          </a:p>
        </p:txBody>
      </p:sp>
      <p:sp>
        <p:nvSpPr>
          <p:cNvPr id="3" name="Text 1"/>
          <p:cNvSpPr/>
          <p:nvPr/>
        </p:nvSpPr>
        <p:spPr>
          <a:xfrm>
            <a:off x="571486" y="381000"/>
            <a:ext cx="3083880" cy="160020"/>
          </a:xfrm>
          <a:prstGeom prst="rect">
            <a:avLst/>
          </a:prstGeom>
          <a:noFill/>
          <a:ln/>
        </p:spPr>
        <p:txBody>
          <a:bodyPr wrap="square" lIns="0" tIns="0" rIns="0" bIns="0" rtlCol="0" anchor="t"/>
          <a:lstStyle/>
          <a:p>
            <a:pPr marL="0" indent="0" algn="l">
              <a:buNone/>
            </a:pPr>
            <a:r>
              <a:rPr lang="en-US" sz="1050" b="1" dirty="0">
                <a:solidFill>
                  <a:srgbClr val="557083"/>
                </a:solidFill>
                <a:latin typeface="Aptos" pitchFamily="34" charset="0"/>
                <a:ea typeface="Aptos" pitchFamily="34" charset="-122"/>
                <a:cs typeface="Aptos" pitchFamily="34" charset="-120"/>
              </a:rPr>
              <a:t>APPENDIX · REFERENCE ARCHITECTURE</a:t>
            </a:r>
            <a:endParaRPr lang="en-US" sz="1050" dirty="0"/>
          </a:p>
        </p:txBody>
      </p:sp>
      <p:sp>
        <p:nvSpPr>
          <p:cNvPr id="4" name="Text 2"/>
          <p:cNvSpPr/>
          <p:nvPr/>
        </p:nvSpPr>
        <p:spPr>
          <a:xfrm>
            <a:off x="571486" y="685800"/>
            <a:ext cx="10667733" cy="635000"/>
          </a:xfrm>
          <a:prstGeom prst="rect">
            <a:avLst/>
          </a:prstGeom>
          <a:noFill/>
          <a:ln/>
        </p:spPr>
        <p:txBody>
          <a:bodyPr wrap="none" lIns="0" tIns="0" rIns="0" bIns="0" rtlCol="0" anchor="t">
            <a:normAutofit/>
          </a:bodyPr>
          <a:lstStyle/>
          <a:p>
            <a:pPr marL="0" indent="0" algn="l">
              <a:buNone/>
            </a:pPr>
            <a:r>
              <a:rPr lang="en-US" sz="2800" b="1" dirty="0">
                <a:solidFill>
                  <a:srgbClr val="17233A"/>
                </a:solidFill>
                <a:latin typeface="Aptos" pitchFamily="34" charset="0"/>
                <a:ea typeface="Aptos" pitchFamily="34" charset="-122"/>
                <a:cs typeface="Aptos" pitchFamily="34" charset="-120"/>
              </a:rPr>
              <a:t>Governed architecture links contracts to trusted applications</a:t>
            </a:r>
            <a:endParaRPr lang="en-US" sz="2800" dirty="0"/>
          </a:p>
        </p:txBody>
      </p:sp>
      <p:sp>
        <p:nvSpPr>
          <p:cNvPr id="5" name="Shape 3"/>
          <p:cNvSpPr/>
          <p:nvPr/>
        </p:nvSpPr>
        <p:spPr>
          <a:xfrm>
            <a:off x="571486" y="1428750"/>
            <a:ext cx="11048724" cy="19050"/>
          </a:xfrm>
          <a:prstGeom prst="rect">
            <a:avLst/>
          </a:prstGeom>
          <a:solidFill>
            <a:srgbClr val="DCE5EA"/>
          </a:solidFill>
          <a:ln w="12700">
            <a:solidFill>
              <a:srgbClr val="FFFFFF">
                <a:alpha val="0"/>
              </a:srgbClr>
            </a:solidFill>
            <a:prstDash val="solid"/>
          </a:ln>
        </p:spPr>
        <p:txBody>
          <a:bodyPr/>
          <a:lstStyle/>
          <a:p>
            <a:endParaRPr lang="en-IN"/>
          </a:p>
        </p:txBody>
      </p:sp>
      <p:sp>
        <p:nvSpPr>
          <p:cNvPr id="6" name="Text 4"/>
          <p:cNvSpPr/>
          <p:nvPr/>
        </p:nvSpPr>
        <p:spPr>
          <a:xfrm>
            <a:off x="571486" y="1619250"/>
            <a:ext cx="1798632" cy="160020"/>
          </a:xfrm>
          <a:prstGeom prst="rect">
            <a:avLst/>
          </a:prstGeom>
          <a:noFill/>
          <a:ln/>
        </p:spPr>
        <p:txBody>
          <a:bodyPr wrap="square" lIns="0" tIns="0" rIns="0" bIns="0" rtlCol="0" anchor="t"/>
          <a:lstStyle/>
          <a:p>
            <a:pPr marL="0" indent="0" algn="l">
              <a:buNone/>
            </a:pPr>
            <a:r>
              <a:rPr lang="en-US" sz="1050" b="1" dirty="0">
                <a:solidFill>
                  <a:srgbClr val="557083"/>
                </a:solidFill>
                <a:latin typeface="Aptos" pitchFamily="34" charset="0"/>
                <a:ea typeface="Aptos" pitchFamily="34" charset="-122"/>
                <a:cs typeface="Aptos" pitchFamily="34" charset="-120"/>
              </a:rPr>
              <a:t>ARCHITECTURE LAYERS</a:t>
            </a:r>
            <a:endParaRPr lang="en-US" sz="1050" dirty="0"/>
          </a:p>
        </p:txBody>
      </p:sp>
      <p:sp>
        <p:nvSpPr>
          <p:cNvPr id="7" name="Shape 5"/>
          <p:cNvSpPr/>
          <p:nvPr/>
        </p:nvSpPr>
        <p:spPr>
          <a:xfrm>
            <a:off x="571486" y="1924050"/>
            <a:ext cx="8572286" cy="552450"/>
          </a:xfrm>
          <a:prstGeom prst="rect">
            <a:avLst/>
          </a:prstGeom>
          <a:solidFill>
            <a:srgbClr val="F3F7F9"/>
          </a:solidFill>
          <a:ln w="12700">
            <a:solidFill>
              <a:srgbClr val="FFFFFF">
                <a:alpha val="0"/>
              </a:srgbClr>
            </a:solidFill>
            <a:prstDash val="solid"/>
          </a:ln>
        </p:spPr>
        <p:txBody>
          <a:bodyPr/>
          <a:lstStyle/>
          <a:p>
            <a:endParaRPr lang="en-IN"/>
          </a:p>
        </p:txBody>
      </p:sp>
      <p:sp>
        <p:nvSpPr>
          <p:cNvPr id="8" name="Shape 6"/>
          <p:cNvSpPr/>
          <p:nvPr/>
        </p:nvSpPr>
        <p:spPr>
          <a:xfrm>
            <a:off x="613395" y="1924050"/>
            <a:ext cx="0" cy="552450"/>
          </a:xfrm>
          <a:prstGeom prst="line">
            <a:avLst/>
          </a:prstGeom>
          <a:solidFill>
            <a:srgbClr val="FFFFFF">
              <a:alpha val="0"/>
            </a:srgbClr>
          </a:solidFill>
          <a:ln w="83820">
            <a:solidFill>
              <a:srgbClr val="456276"/>
            </a:solidFill>
            <a:prstDash val="solid"/>
          </a:ln>
        </p:spPr>
        <p:txBody>
          <a:bodyPr/>
          <a:lstStyle/>
          <a:p>
            <a:endParaRPr lang="en-IN"/>
          </a:p>
        </p:txBody>
      </p:sp>
      <p:sp>
        <p:nvSpPr>
          <p:cNvPr id="9" name="Text 7"/>
          <p:cNvSpPr/>
          <p:nvPr/>
        </p:nvSpPr>
        <p:spPr>
          <a:xfrm>
            <a:off x="655304" y="2101215"/>
            <a:ext cx="2428814" cy="198120"/>
          </a:xfrm>
          <a:prstGeom prst="rect">
            <a:avLst/>
          </a:prstGeom>
          <a:noFill/>
          <a:ln/>
        </p:spPr>
        <p:txBody>
          <a:bodyPr wrap="square" lIns="0" tIns="0" rIns="0" bIns="0" rtlCol="0" anchor="t"/>
          <a:lstStyle/>
          <a:p>
            <a:pPr marL="0" indent="0" algn="l">
              <a:buNone/>
            </a:pPr>
            <a:r>
              <a:rPr lang="en-US" sz="1350" b="1" dirty="0">
                <a:solidFill>
                  <a:srgbClr val="456276"/>
                </a:solidFill>
                <a:latin typeface="Aptos" pitchFamily="34" charset="0"/>
                <a:ea typeface="Aptos" pitchFamily="34" charset="-122"/>
                <a:cs typeface="Aptos" pitchFamily="34" charset="-120"/>
              </a:rPr>
              <a:t>SOURCE DOCUMENTS</a:t>
            </a:r>
            <a:endParaRPr lang="en-US" sz="1350" dirty="0"/>
          </a:p>
        </p:txBody>
      </p:sp>
      <p:sp>
        <p:nvSpPr>
          <p:cNvPr id="10" name="Text 8"/>
          <p:cNvSpPr/>
          <p:nvPr/>
        </p:nvSpPr>
        <p:spPr>
          <a:xfrm>
            <a:off x="3084118" y="2112645"/>
            <a:ext cx="6059654" cy="175260"/>
          </a:xfrm>
          <a:prstGeom prst="rect">
            <a:avLst/>
          </a:prstGeom>
          <a:noFill/>
          <a:ln/>
        </p:spPr>
        <p:txBody>
          <a:bodyPr wrap="square" lIns="0" tIns="0" rIns="0" bIns="0" rtlCol="0" anchor="t"/>
          <a:lstStyle/>
          <a:p>
            <a:pPr marL="0" indent="0" algn="l">
              <a:buNone/>
            </a:pPr>
            <a:r>
              <a:rPr lang="en-US" sz="1200" dirty="0">
                <a:solidFill>
                  <a:srgbClr val="26394A"/>
                </a:solidFill>
                <a:latin typeface="Aptos" pitchFamily="34" charset="0"/>
                <a:ea typeface="Aptos" pitchFamily="34" charset="-122"/>
                <a:cs typeface="Aptos" pitchFamily="34" charset="-120"/>
              </a:rPr>
              <a:t>Contract repositories | PDFs, exhibits and amendments</a:t>
            </a:r>
            <a:endParaRPr lang="en-US" sz="1200" dirty="0"/>
          </a:p>
        </p:txBody>
      </p:sp>
      <p:sp>
        <p:nvSpPr>
          <p:cNvPr id="11" name="Shape 9"/>
          <p:cNvSpPr/>
          <p:nvPr/>
        </p:nvSpPr>
        <p:spPr>
          <a:xfrm>
            <a:off x="4686183" y="2476500"/>
            <a:ext cx="323842" cy="180975"/>
          </a:xfrm>
          <a:prstGeom prst="downArrow">
            <a:avLst/>
          </a:prstGeom>
          <a:solidFill>
            <a:srgbClr val="9BB0BD"/>
          </a:solidFill>
          <a:ln w="12700">
            <a:solidFill>
              <a:srgbClr val="FFFFFF">
                <a:alpha val="0"/>
              </a:srgbClr>
            </a:solidFill>
            <a:prstDash val="solid"/>
          </a:ln>
        </p:spPr>
        <p:txBody>
          <a:bodyPr/>
          <a:lstStyle/>
          <a:p>
            <a:endParaRPr lang="en-IN"/>
          </a:p>
        </p:txBody>
      </p:sp>
      <p:sp>
        <p:nvSpPr>
          <p:cNvPr id="12" name="Shape 10"/>
          <p:cNvSpPr/>
          <p:nvPr/>
        </p:nvSpPr>
        <p:spPr>
          <a:xfrm>
            <a:off x="571486" y="2657475"/>
            <a:ext cx="8572286" cy="552450"/>
          </a:xfrm>
          <a:prstGeom prst="rect">
            <a:avLst/>
          </a:prstGeom>
          <a:solidFill>
            <a:srgbClr val="F3F7F9"/>
          </a:solidFill>
          <a:ln w="12700">
            <a:solidFill>
              <a:srgbClr val="FFFFFF">
                <a:alpha val="0"/>
              </a:srgbClr>
            </a:solidFill>
            <a:prstDash val="solid"/>
          </a:ln>
        </p:spPr>
        <p:txBody>
          <a:bodyPr/>
          <a:lstStyle/>
          <a:p>
            <a:endParaRPr lang="en-IN"/>
          </a:p>
        </p:txBody>
      </p:sp>
      <p:sp>
        <p:nvSpPr>
          <p:cNvPr id="13" name="Shape 11"/>
          <p:cNvSpPr/>
          <p:nvPr/>
        </p:nvSpPr>
        <p:spPr>
          <a:xfrm>
            <a:off x="613395" y="2657475"/>
            <a:ext cx="0" cy="552450"/>
          </a:xfrm>
          <a:prstGeom prst="line">
            <a:avLst/>
          </a:prstGeom>
          <a:solidFill>
            <a:srgbClr val="FFFFFF">
              <a:alpha val="0"/>
            </a:srgbClr>
          </a:solidFill>
          <a:ln w="83820">
            <a:solidFill>
              <a:srgbClr val="12A6A6"/>
            </a:solidFill>
            <a:prstDash val="solid"/>
          </a:ln>
        </p:spPr>
        <p:txBody>
          <a:bodyPr/>
          <a:lstStyle/>
          <a:p>
            <a:endParaRPr lang="en-IN"/>
          </a:p>
        </p:txBody>
      </p:sp>
      <p:sp>
        <p:nvSpPr>
          <p:cNvPr id="14" name="Text 12"/>
          <p:cNvSpPr/>
          <p:nvPr/>
        </p:nvSpPr>
        <p:spPr>
          <a:xfrm>
            <a:off x="655304" y="2834640"/>
            <a:ext cx="2428814" cy="198120"/>
          </a:xfrm>
          <a:prstGeom prst="rect">
            <a:avLst/>
          </a:prstGeom>
          <a:noFill/>
          <a:ln/>
        </p:spPr>
        <p:txBody>
          <a:bodyPr wrap="square" lIns="0" tIns="0" rIns="0" bIns="0" rtlCol="0" anchor="t"/>
          <a:lstStyle/>
          <a:p>
            <a:pPr marL="0" indent="0" algn="l">
              <a:buNone/>
            </a:pPr>
            <a:r>
              <a:rPr lang="en-US" sz="1350" b="1" dirty="0">
                <a:solidFill>
                  <a:srgbClr val="12A6A6"/>
                </a:solidFill>
                <a:latin typeface="Aptos" pitchFamily="34" charset="0"/>
                <a:ea typeface="Aptos" pitchFamily="34" charset="-122"/>
                <a:cs typeface="Aptos" pitchFamily="34" charset="-120"/>
              </a:rPr>
              <a:t>INGEST &amp; STRUCTURE</a:t>
            </a:r>
            <a:endParaRPr lang="en-US" sz="1350" dirty="0"/>
          </a:p>
        </p:txBody>
      </p:sp>
      <p:sp>
        <p:nvSpPr>
          <p:cNvPr id="15" name="Text 13"/>
          <p:cNvSpPr/>
          <p:nvPr/>
        </p:nvSpPr>
        <p:spPr>
          <a:xfrm>
            <a:off x="3084118" y="2846070"/>
            <a:ext cx="6059654" cy="175260"/>
          </a:xfrm>
          <a:prstGeom prst="rect">
            <a:avLst/>
          </a:prstGeom>
          <a:noFill/>
          <a:ln/>
        </p:spPr>
        <p:txBody>
          <a:bodyPr wrap="square" lIns="0" tIns="0" rIns="0" bIns="0" rtlCol="0" anchor="t"/>
          <a:lstStyle/>
          <a:p>
            <a:pPr marL="0" indent="0" algn="l">
              <a:buNone/>
            </a:pPr>
            <a:r>
              <a:rPr lang="en-US" sz="1200" dirty="0">
                <a:solidFill>
                  <a:srgbClr val="26394A"/>
                </a:solidFill>
                <a:latin typeface="Aptos" pitchFamily="34" charset="0"/>
                <a:ea typeface="Aptos" pitchFamily="34" charset="-122"/>
                <a:cs typeface="Aptos" pitchFamily="34" charset="-120"/>
              </a:rPr>
              <a:t>Intake + OCR | Metadata + terms | Normalization + validation</a:t>
            </a:r>
            <a:endParaRPr lang="en-US" sz="1200" dirty="0"/>
          </a:p>
        </p:txBody>
      </p:sp>
      <p:sp>
        <p:nvSpPr>
          <p:cNvPr id="16" name="Shape 14"/>
          <p:cNvSpPr/>
          <p:nvPr/>
        </p:nvSpPr>
        <p:spPr>
          <a:xfrm>
            <a:off x="4686183" y="3209925"/>
            <a:ext cx="323842" cy="180975"/>
          </a:xfrm>
          <a:prstGeom prst="downArrow">
            <a:avLst/>
          </a:prstGeom>
          <a:solidFill>
            <a:srgbClr val="9BB0BD"/>
          </a:solidFill>
          <a:ln w="12700">
            <a:solidFill>
              <a:srgbClr val="FFFFFF">
                <a:alpha val="0"/>
              </a:srgbClr>
            </a:solidFill>
            <a:prstDash val="solid"/>
          </a:ln>
        </p:spPr>
        <p:txBody>
          <a:bodyPr/>
          <a:lstStyle/>
          <a:p>
            <a:endParaRPr lang="en-IN"/>
          </a:p>
        </p:txBody>
      </p:sp>
      <p:sp>
        <p:nvSpPr>
          <p:cNvPr id="17" name="Shape 15"/>
          <p:cNvSpPr/>
          <p:nvPr/>
        </p:nvSpPr>
        <p:spPr>
          <a:xfrm>
            <a:off x="571486" y="3390900"/>
            <a:ext cx="8572286" cy="552450"/>
          </a:xfrm>
          <a:prstGeom prst="rect">
            <a:avLst/>
          </a:prstGeom>
          <a:solidFill>
            <a:srgbClr val="F3F7F9"/>
          </a:solidFill>
          <a:ln w="12700">
            <a:solidFill>
              <a:srgbClr val="FFFFFF">
                <a:alpha val="0"/>
              </a:srgbClr>
            </a:solidFill>
            <a:prstDash val="solid"/>
          </a:ln>
        </p:spPr>
        <p:txBody>
          <a:bodyPr/>
          <a:lstStyle/>
          <a:p>
            <a:endParaRPr lang="en-IN"/>
          </a:p>
        </p:txBody>
      </p:sp>
      <p:sp>
        <p:nvSpPr>
          <p:cNvPr id="18" name="Shape 16"/>
          <p:cNvSpPr/>
          <p:nvPr/>
        </p:nvSpPr>
        <p:spPr>
          <a:xfrm>
            <a:off x="613395" y="3390900"/>
            <a:ext cx="0" cy="552450"/>
          </a:xfrm>
          <a:prstGeom prst="line">
            <a:avLst/>
          </a:prstGeom>
          <a:solidFill>
            <a:srgbClr val="FFFFFF">
              <a:alpha val="0"/>
            </a:srgbClr>
          </a:solidFill>
          <a:ln w="83820">
            <a:solidFill>
              <a:srgbClr val="12A6A6"/>
            </a:solidFill>
            <a:prstDash val="solid"/>
          </a:ln>
        </p:spPr>
        <p:txBody>
          <a:bodyPr/>
          <a:lstStyle/>
          <a:p>
            <a:endParaRPr lang="en-IN"/>
          </a:p>
        </p:txBody>
      </p:sp>
      <p:sp>
        <p:nvSpPr>
          <p:cNvPr id="19" name="Text 17"/>
          <p:cNvSpPr/>
          <p:nvPr/>
        </p:nvSpPr>
        <p:spPr>
          <a:xfrm>
            <a:off x="655304" y="3568065"/>
            <a:ext cx="2428814" cy="198120"/>
          </a:xfrm>
          <a:prstGeom prst="rect">
            <a:avLst/>
          </a:prstGeom>
          <a:noFill/>
          <a:ln/>
        </p:spPr>
        <p:txBody>
          <a:bodyPr wrap="square" lIns="0" tIns="0" rIns="0" bIns="0" rtlCol="0" anchor="t"/>
          <a:lstStyle/>
          <a:p>
            <a:pPr marL="0" indent="0" algn="l">
              <a:buNone/>
            </a:pPr>
            <a:r>
              <a:rPr lang="en-US" sz="1350" b="1" dirty="0">
                <a:solidFill>
                  <a:srgbClr val="12A6A6"/>
                </a:solidFill>
                <a:latin typeface="Aptos" pitchFamily="34" charset="0"/>
                <a:ea typeface="Aptos" pitchFamily="34" charset="-122"/>
                <a:cs typeface="Aptos" pitchFamily="34" charset="-120"/>
              </a:rPr>
              <a:t>GOVERNED DATA</a:t>
            </a:r>
            <a:endParaRPr lang="en-US" sz="1350" dirty="0"/>
          </a:p>
        </p:txBody>
      </p:sp>
      <p:sp>
        <p:nvSpPr>
          <p:cNvPr id="20" name="Text 18"/>
          <p:cNvSpPr/>
          <p:nvPr/>
        </p:nvSpPr>
        <p:spPr>
          <a:xfrm>
            <a:off x="3084118" y="3579495"/>
            <a:ext cx="6059654" cy="175260"/>
          </a:xfrm>
          <a:prstGeom prst="rect">
            <a:avLst/>
          </a:prstGeom>
          <a:noFill/>
          <a:ln/>
        </p:spPr>
        <p:txBody>
          <a:bodyPr wrap="square" lIns="0" tIns="0" rIns="0" bIns="0" rtlCol="0" anchor="t"/>
          <a:lstStyle/>
          <a:p>
            <a:pPr marL="0" indent="0" algn="l">
              <a:buNone/>
            </a:pPr>
            <a:r>
              <a:rPr lang="en-US" sz="1200" dirty="0">
                <a:solidFill>
                  <a:srgbClr val="26394A"/>
                </a:solidFill>
                <a:latin typeface="Aptos" pitchFamily="34" charset="0"/>
                <a:ea typeface="Aptos" pitchFamily="34" charset="-122"/>
                <a:cs typeface="Aptos" pitchFamily="34" charset="-120"/>
              </a:rPr>
              <a:t>Contract registry | Amendment registry | Rates + current-state logic</a:t>
            </a:r>
            <a:endParaRPr lang="en-US" sz="1200" dirty="0"/>
          </a:p>
        </p:txBody>
      </p:sp>
      <p:sp>
        <p:nvSpPr>
          <p:cNvPr id="21" name="Shape 19"/>
          <p:cNvSpPr/>
          <p:nvPr/>
        </p:nvSpPr>
        <p:spPr>
          <a:xfrm>
            <a:off x="4686183" y="3943350"/>
            <a:ext cx="323842" cy="180975"/>
          </a:xfrm>
          <a:prstGeom prst="downArrow">
            <a:avLst/>
          </a:prstGeom>
          <a:solidFill>
            <a:srgbClr val="9BB0BD"/>
          </a:solidFill>
          <a:ln w="12700">
            <a:solidFill>
              <a:srgbClr val="FFFFFF">
                <a:alpha val="0"/>
              </a:srgbClr>
            </a:solidFill>
            <a:prstDash val="solid"/>
          </a:ln>
        </p:spPr>
        <p:txBody>
          <a:bodyPr/>
          <a:lstStyle/>
          <a:p>
            <a:endParaRPr lang="en-IN"/>
          </a:p>
        </p:txBody>
      </p:sp>
      <p:sp>
        <p:nvSpPr>
          <p:cNvPr id="22" name="Shape 20"/>
          <p:cNvSpPr/>
          <p:nvPr/>
        </p:nvSpPr>
        <p:spPr>
          <a:xfrm>
            <a:off x="571486" y="4124325"/>
            <a:ext cx="8572286" cy="552450"/>
          </a:xfrm>
          <a:prstGeom prst="rect">
            <a:avLst/>
          </a:prstGeom>
          <a:solidFill>
            <a:srgbClr val="F3F7F9"/>
          </a:solidFill>
          <a:ln w="12700">
            <a:solidFill>
              <a:srgbClr val="FFFFFF">
                <a:alpha val="0"/>
              </a:srgbClr>
            </a:solidFill>
            <a:prstDash val="solid"/>
          </a:ln>
        </p:spPr>
        <p:txBody>
          <a:bodyPr/>
          <a:lstStyle/>
          <a:p>
            <a:endParaRPr lang="en-IN"/>
          </a:p>
        </p:txBody>
      </p:sp>
      <p:sp>
        <p:nvSpPr>
          <p:cNvPr id="23" name="Shape 21"/>
          <p:cNvSpPr/>
          <p:nvPr/>
        </p:nvSpPr>
        <p:spPr>
          <a:xfrm>
            <a:off x="613395" y="4124325"/>
            <a:ext cx="0" cy="552450"/>
          </a:xfrm>
          <a:prstGeom prst="line">
            <a:avLst/>
          </a:prstGeom>
          <a:solidFill>
            <a:srgbClr val="FFFFFF">
              <a:alpha val="0"/>
            </a:srgbClr>
          </a:solidFill>
          <a:ln w="83820">
            <a:solidFill>
              <a:srgbClr val="2B7A8E"/>
            </a:solidFill>
            <a:prstDash val="solid"/>
          </a:ln>
        </p:spPr>
        <p:txBody>
          <a:bodyPr/>
          <a:lstStyle/>
          <a:p>
            <a:endParaRPr lang="en-IN"/>
          </a:p>
        </p:txBody>
      </p:sp>
      <p:sp>
        <p:nvSpPr>
          <p:cNvPr id="24" name="Text 22"/>
          <p:cNvSpPr/>
          <p:nvPr/>
        </p:nvSpPr>
        <p:spPr>
          <a:xfrm>
            <a:off x="655304" y="4301490"/>
            <a:ext cx="2428814" cy="198120"/>
          </a:xfrm>
          <a:prstGeom prst="rect">
            <a:avLst/>
          </a:prstGeom>
          <a:noFill/>
          <a:ln/>
        </p:spPr>
        <p:txBody>
          <a:bodyPr wrap="square" lIns="0" tIns="0" rIns="0" bIns="0" rtlCol="0" anchor="t"/>
          <a:lstStyle/>
          <a:p>
            <a:pPr marL="0" indent="0" algn="l">
              <a:buNone/>
            </a:pPr>
            <a:r>
              <a:rPr lang="en-US" sz="1350" b="1" dirty="0">
                <a:solidFill>
                  <a:srgbClr val="2B7A8E"/>
                </a:solidFill>
                <a:latin typeface="Aptos" pitchFamily="34" charset="0"/>
                <a:ea typeface="Aptos" pitchFamily="34" charset="-122"/>
                <a:cs typeface="Aptos" pitchFamily="34" charset="-120"/>
              </a:rPr>
              <a:t>EVIDENCE RETRIEVAL</a:t>
            </a:r>
            <a:endParaRPr lang="en-US" sz="1350" dirty="0"/>
          </a:p>
        </p:txBody>
      </p:sp>
      <p:sp>
        <p:nvSpPr>
          <p:cNvPr id="25" name="Text 23"/>
          <p:cNvSpPr/>
          <p:nvPr/>
        </p:nvSpPr>
        <p:spPr>
          <a:xfrm>
            <a:off x="3084118" y="4312920"/>
            <a:ext cx="6059654" cy="175260"/>
          </a:xfrm>
          <a:prstGeom prst="rect">
            <a:avLst/>
          </a:prstGeom>
          <a:noFill/>
          <a:ln/>
        </p:spPr>
        <p:txBody>
          <a:bodyPr wrap="square" lIns="0" tIns="0" rIns="0" bIns="0" rtlCol="0" anchor="t"/>
          <a:lstStyle/>
          <a:p>
            <a:pPr marL="0" indent="0" algn="l">
              <a:buNone/>
            </a:pPr>
            <a:r>
              <a:rPr lang="en-US" sz="1200" dirty="0">
                <a:solidFill>
                  <a:srgbClr val="26394A"/>
                </a:solidFill>
                <a:latin typeface="Aptos" pitchFamily="34" charset="0"/>
                <a:ea typeface="Aptos" pitchFamily="34" charset="-122"/>
                <a:cs typeface="Aptos" pitchFamily="34" charset="-120"/>
              </a:rPr>
              <a:t>Chunking + embeddings | Vector search | Source citations</a:t>
            </a:r>
            <a:endParaRPr lang="en-US" sz="1200" dirty="0"/>
          </a:p>
        </p:txBody>
      </p:sp>
      <p:sp>
        <p:nvSpPr>
          <p:cNvPr id="26" name="Shape 24"/>
          <p:cNvSpPr/>
          <p:nvPr/>
        </p:nvSpPr>
        <p:spPr>
          <a:xfrm>
            <a:off x="4686183" y="4676775"/>
            <a:ext cx="323842" cy="180975"/>
          </a:xfrm>
          <a:prstGeom prst="downArrow">
            <a:avLst/>
          </a:prstGeom>
          <a:solidFill>
            <a:srgbClr val="9BB0BD"/>
          </a:solidFill>
          <a:ln w="12700">
            <a:solidFill>
              <a:srgbClr val="FFFFFF">
                <a:alpha val="0"/>
              </a:srgbClr>
            </a:solidFill>
            <a:prstDash val="solid"/>
          </a:ln>
        </p:spPr>
        <p:txBody>
          <a:bodyPr/>
          <a:lstStyle/>
          <a:p>
            <a:endParaRPr lang="en-IN"/>
          </a:p>
        </p:txBody>
      </p:sp>
      <p:sp>
        <p:nvSpPr>
          <p:cNvPr id="27" name="Shape 25"/>
          <p:cNvSpPr/>
          <p:nvPr/>
        </p:nvSpPr>
        <p:spPr>
          <a:xfrm>
            <a:off x="571486" y="4857750"/>
            <a:ext cx="8572286" cy="552450"/>
          </a:xfrm>
          <a:prstGeom prst="rect">
            <a:avLst/>
          </a:prstGeom>
          <a:solidFill>
            <a:srgbClr val="F3F7F9"/>
          </a:solidFill>
          <a:ln w="12700">
            <a:solidFill>
              <a:srgbClr val="FFFFFF">
                <a:alpha val="0"/>
              </a:srgbClr>
            </a:solidFill>
            <a:prstDash val="solid"/>
          </a:ln>
        </p:spPr>
        <p:txBody>
          <a:bodyPr/>
          <a:lstStyle/>
          <a:p>
            <a:endParaRPr lang="en-IN"/>
          </a:p>
        </p:txBody>
      </p:sp>
      <p:sp>
        <p:nvSpPr>
          <p:cNvPr id="28" name="Shape 26"/>
          <p:cNvSpPr/>
          <p:nvPr/>
        </p:nvSpPr>
        <p:spPr>
          <a:xfrm>
            <a:off x="613395" y="4857750"/>
            <a:ext cx="0" cy="552450"/>
          </a:xfrm>
          <a:prstGeom prst="line">
            <a:avLst/>
          </a:prstGeom>
          <a:solidFill>
            <a:srgbClr val="FFFFFF">
              <a:alpha val="0"/>
            </a:srgbClr>
          </a:solidFill>
          <a:ln w="83820">
            <a:solidFill>
              <a:srgbClr val="E36B4B"/>
            </a:solidFill>
            <a:prstDash val="solid"/>
          </a:ln>
        </p:spPr>
        <p:txBody>
          <a:bodyPr/>
          <a:lstStyle/>
          <a:p>
            <a:endParaRPr lang="en-IN"/>
          </a:p>
        </p:txBody>
      </p:sp>
      <p:sp>
        <p:nvSpPr>
          <p:cNvPr id="29" name="Text 27"/>
          <p:cNvSpPr/>
          <p:nvPr/>
        </p:nvSpPr>
        <p:spPr>
          <a:xfrm>
            <a:off x="655304" y="5034915"/>
            <a:ext cx="2428814" cy="198120"/>
          </a:xfrm>
          <a:prstGeom prst="rect">
            <a:avLst/>
          </a:prstGeom>
          <a:noFill/>
          <a:ln/>
        </p:spPr>
        <p:txBody>
          <a:bodyPr wrap="square" lIns="0" tIns="0" rIns="0" bIns="0" rtlCol="0" anchor="t"/>
          <a:lstStyle/>
          <a:p>
            <a:pPr marL="0" indent="0" algn="l">
              <a:buNone/>
            </a:pPr>
            <a:r>
              <a:rPr lang="en-US" sz="1350" b="1" dirty="0">
                <a:solidFill>
                  <a:srgbClr val="E36B4B"/>
                </a:solidFill>
                <a:latin typeface="Aptos" pitchFamily="34" charset="0"/>
                <a:ea typeface="Aptos" pitchFamily="34" charset="-122"/>
                <a:cs typeface="Aptos" pitchFamily="34" charset="-120"/>
              </a:rPr>
              <a:t>APPLICATION DELIVERY</a:t>
            </a:r>
            <a:endParaRPr lang="en-US" sz="1350" dirty="0"/>
          </a:p>
        </p:txBody>
      </p:sp>
      <p:sp>
        <p:nvSpPr>
          <p:cNvPr id="30" name="Text 28"/>
          <p:cNvSpPr/>
          <p:nvPr/>
        </p:nvSpPr>
        <p:spPr>
          <a:xfrm>
            <a:off x="3084118" y="5046345"/>
            <a:ext cx="6059654" cy="175260"/>
          </a:xfrm>
          <a:prstGeom prst="rect">
            <a:avLst/>
          </a:prstGeom>
          <a:noFill/>
          <a:ln/>
        </p:spPr>
        <p:txBody>
          <a:bodyPr wrap="square" lIns="0" tIns="0" rIns="0" bIns="0" rtlCol="0" anchor="t"/>
          <a:lstStyle/>
          <a:p>
            <a:pPr marL="0" indent="0" algn="l">
              <a:buNone/>
            </a:pPr>
            <a:r>
              <a:rPr lang="en-US" sz="1200" dirty="0">
                <a:solidFill>
                  <a:srgbClr val="26394A"/>
                </a:solidFill>
                <a:latin typeface="Aptos" pitchFamily="34" charset="0"/>
                <a:ea typeface="Aptos" pitchFamily="34" charset="-122"/>
                <a:cs typeface="Aptos" pitchFamily="34" charset="-120"/>
              </a:rPr>
              <a:t>Business search | Evidence answers | Portfolio analytics</a:t>
            </a:r>
            <a:endParaRPr lang="en-US" sz="1200" dirty="0"/>
          </a:p>
        </p:txBody>
      </p:sp>
      <p:sp>
        <p:nvSpPr>
          <p:cNvPr id="31" name="Shape 29"/>
          <p:cNvSpPr/>
          <p:nvPr/>
        </p:nvSpPr>
        <p:spPr>
          <a:xfrm>
            <a:off x="9620009" y="1924050"/>
            <a:ext cx="2000200" cy="3486150"/>
          </a:xfrm>
          <a:prstGeom prst="rect">
            <a:avLst/>
          </a:prstGeom>
          <a:solidFill>
            <a:srgbClr val="17324D"/>
          </a:solidFill>
          <a:ln w="12700">
            <a:solidFill>
              <a:srgbClr val="FFFFFF">
                <a:alpha val="0"/>
              </a:srgbClr>
            </a:solidFill>
            <a:prstDash val="solid"/>
          </a:ln>
        </p:spPr>
        <p:txBody>
          <a:bodyPr/>
          <a:lstStyle/>
          <a:p>
            <a:endParaRPr lang="en-IN"/>
          </a:p>
        </p:txBody>
      </p:sp>
      <p:sp>
        <p:nvSpPr>
          <p:cNvPr id="32" name="Text 30"/>
          <p:cNvSpPr/>
          <p:nvPr/>
        </p:nvSpPr>
        <p:spPr>
          <a:xfrm>
            <a:off x="9829554" y="2152650"/>
            <a:ext cx="1581110" cy="423624"/>
          </a:xfrm>
          <a:prstGeom prst="rect">
            <a:avLst/>
          </a:prstGeom>
          <a:noFill/>
          <a:ln/>
        </p:spPr>
        <p:txBody>
          <a:bodyPr wrap="square" lIns="0" tIns="0" rIns="0" bIns="0" rtlCol="0" anchor="t"/>
          <a:lstStyle/>
          <a:p>
            <a:pPr marL="0" indent="0" algn="ctr">
              <a:buNone/>
            </a:pPr>
            <a:r>
              <a:rPr lang="en-US" sz="1450" b="1" dirty="0">
                <a:solidFill>
                  <a:srgbClr val="FFFFFF"/>
                </a:solidFill>
                <a:latin typeface="Aptos" pitchFamily="34" charset="0"/>
                <a:ea typeface="Aptos" pitchFamily="34" charset="-122"/>
                <a:cs typeface="Aptos" pitchFamily="34" charset="-120"/>
              </a:rPr>
              <a:t>CROSS-CUTTING</a:t>
            </a:r>
            <a:endParaRPr lang="en-US" sz="1450" dirty="0"/>
          </a:p>
          <a:p>
            <a:pPr marL="0" indent="0" algn="ctr">
              <a:buNone/>
            </a:pPr>
            <a:r>
              <a:rPr lang="en-US" sz="1450" b="1" dirty="0">
                <a:solidFill>
                  <a:srgbClr val="FFFFFF"/>
                </a:solidFill>
                <a:latin typeface="Aptos" pitchFamily="34" charset="0"/>
                <a:ea typeface="Aptos" pitchFamily="34" charset="-122"/>
                <a:cs typeface="Aptos" pitchFamily="34" charset="-120"/>
              </a:rPr>
              <a:t>GOVERNANCE</a:t>
            </a:r>
            <a:endParaRPr lang="en-US" sz="1450" dirty="0"/>
          </a:p>
        </p:txBody>
      </p:sp>
      <p:sp>
        <p:nvSpPr>
          <p:cNvPr id="33" name="Shape 31"/>
          <p:cNvSpPr/>
          <p:nvPr/>
        </p:nvSpPr>
        <p:spPr>
          <a:xfrm>
            <a:off x="10286743" y="2747724"/>
            <a:ext cx="666733" cy="28575"/>
          </a:xfrm>
          <a:prstGeom prst="rect">
            <a:avLst/>
          </a:prstGeom>
          <a:solidFill>
            <a:srgbClr val="12A6A6"/>
          </a:solidFill>
          <a:ln w="12700">
            <a:solidFill>
              <a:srgbClr val="FFFFFF">
                <a:alpha val="0"/>
              </a:srgbClr>
            </a:solidFill>
            <a:prstDash val="solid"/>
          </a:ln>
        </p:spPr>
        <p:txBody>
          <a:bodyPr/>
          <a:lstStyle/>
          <a:p>
            <a:endParaRPr lang="en-IN"/>
          </a:p>
        </p:txBody>
      </p:sp>
      <p:sp>
        <p:nvSpPr>
          <p:cNvPr id="34" name="Text 32"/>
          <p:cNvSpPr/>
          <p:nvPr/>
        </p:nvSpPr>
        <p:spPr>
          <a:xfrm>
            <a:off x="9829554" y="2966799"/>
            <a:ext cx="1581110" cy="1653540"/>
          </a:xfrm>
          <a:prstGeom prst="rect">
            <a:avLst/>
          </a:prstGeom>
          <a:noFill/>
          <a:ln/>
        </p:spPr>
        <p:txBody>
          <a:bodyPr wrap="square" lIns="0" tIns="0" rIns="0" bIns="0" rtlCol="0" anchor="t"/>
          <a:lstStyle/>
          <a:p>
            <a:pPr marL="0" indent="0" algn="ctr">
              <a:buNone/>
            </a:pPr>
            <a:r>
              <a:rPr lang="en-US" sz="1200" dirty="0">
                <a:solidFill>
                  <a:srgbClr val="FFFFFF"/>
                </a:solidFill>
                <a:latin typeface="Aptos" pitchFamily="34" charset="0"/>
                <a:ea typeface="Aptos" pitchFamily="34" charset="-122"/>
                <a:cs typeface="Aptos" pitchFamily="34" charset="-120"/>
              </a:rPr>
              <a:t>UNITY CATALOG</a:t>
            </a:r>
            <a:endParaRPr lang="en-US" sz="1200" dirty="0"/>
          </a:p>
          <a:p>
            <a:pPr marL="0" indent="0" algn="ctr">
              <a:buNone/>
            </a:pPr>
            <a:endParaRPr lang="en-US" sz="1200" dirty="0"/>
          </a:p>
          <a:p>
            <a:pPr marL="0" indent="0" algn="ctr">
              <a:buNone/>
            </a:pPr>
            <a:r>
              <a:rPr lang="en-US" sz="1200" dirty="0">
                <a:solidFill>
                  <a:srgbClr val="FFFFFF"/>
                </a:solidFill>
                <a:latin typeface="Aptos" pitchFamily="34" charset="0"/>
                <a:ea typeface="Aptos" pitchFamily="34" charset="-122"/>
                <a:cs typeface="Aptos" pitchFamily="34" charset="-120"/>
              </a:rPr>
              <a:t>Role-based access</a:t>
            </a:r>
            <a:endParaRPr lang="en-US" sz="1200" dirty="0"/>
          </a:p>
          <a:p>
            <a:pPr marL="0" indent="0" algn="ctr">
              <a:buNone/>
            </a:pPr>
            <a:r>
              <a:rPr lang="en-US" sz="1200" dirty="0">
                <a:solidFill>
                  <a:srgbClr val="FFFFFF"/>
                </a:solidFill>
                <a:latin typeface="Aptos" pitchFamily="34" charset="0"/>
                <a:ea typeface="Aptos" pitchFamily="34" charset="-122"/>
                <a:cs typeface="Aptos" pitchFamily="34" charset="-120"/>
              </a:rPr>
              <a:t>Data lineage</a:t>
            </a:r>
            <a:endParaRPr lang="en-US" sz="1200" dirty="0"/>
          </a:p>
          <a:p>
            <a:pPr marL="0" indent="0" algn="ctr">
              <a:buNone/>
            </a:pPr>
            <a:r>
              <a:rPr lang="en-US" sz="1200" dirty="0">
                <a:solidFill>
                  <a:srgbClr val="FFFFFF"/>
                </a:solidFill>
                <a:latin typeface="Aptos" pitchFamily="34" charset="0"/>
                <a:ea typeface="Aptos" pitchFamily="34" charset="-122"/>
                <a:cs typeface="Aptos" pitchFamily="34" charset="-120"/>
              </a:rPr>
              <a:t>Audit logging</a:t>
            </a:r>
            <a:endParaRPr lang="en-US" sz="1200" dirty="0"/>
          </a:p>
          <a:p>
            <a:pPr marL="0" indent="0" algn="ctr">
              <a:buNone/>
            </a:pPr>
            <a:r>
              <a:rPr lang="en-US" sz="1200" dirty="0">
                <a:solidFill>
                  <a:srgbClr val="FFFFFF"/>
                </a:solidFill>
                <a:latin typeface="Aptos" pitchFamily="34" charset="0"/>
                <a:ea typeface="Aptos" pitchFamily="34" charset="-122"/>
                <a:cs typeface="Aptos" pitchFamily="34" charset="-120"/>
              </a:rPr>
              <a:t>Quality monitoring</a:t>
            </a:r>
            <a:endParaRPr lang="en-US" sz="1200" dirty="0"/>
          </a:p>
          <a:p>
            <a:pPr marL="0" indent="0" algn="ctr">
              <a:buNone/>
            </a:pPr>
            <a:r>
              <a:rPr lang="en-US" sz="1200" dirty="0">
                <a:solidFill>
                  <a:srgbClr val="FFFFFF"/>
                </a:solidFill>
                <a:latin typeface="Aptos" pitchFamily="34" charset="0"/>
                <a:ea typeface="Aptos" pitchFamily="34" charset="-122"/>
                <a:cs typeface="Aptos" pitchFamily="34" charset="-120"/>
              </a:rPr>
              <a:t>Feedback loop</a:t>
            </a:r>
            <a:endParaRPr lang="en-US" sz="1200" dirty="0"/>
          </a:p>
        </p:txBody>
      </p:sp>
      <p:sp>
        <p:nvSpPr>
          <p:cNvPr id="35" name="Text 33"/>
          <p:cNvSpPr/>
          <p:nvPr/>
        </p:nvSpPr>
        <p:spPr>
          <a:xfrm>
            <a:off x="571486" y="6477000"/>
            <a:ext cx="4050286" cy="152400"/>
          </a:xfrm>
          <a:prstGeom prst="rect">
            <a:avLst/>
          </a:prstGeom>
          <a:noFill/>
          <a:ln/>
        </p:spPr>
        <p:txBody>
          <a:bodyPr wrap="square" lIns="0" tIns="0" rIns="0" bIns="0" rtlCol="0" anchor="t"/>
          <a:lstStyle/>
          <a:p>
            <a:pPr marL="0" indent="0" algn="l">
              <a:buNone/>
            </a:pPr>
            <a:r>
              <a:rPr lang="en-US" sz="1000" dirty="0">
                <a:solidFill>
                  <a:srgbClr val="718392"/>
                </a:solidFill>
                <a:latin typeface="Aptos" pitchFamily="34" charset="0"/>
                <a:ea typeface="Aptos" pitchFamily="34" charset="-122"/>
                <a:cs typeface="Aptos" pitchFamily="34" charset="-120"/>
              </a:rPr>
              <a:t>Executive discussion · Blue Shield of California · Confidential — Internal</a:t>
            </a:r>
            <a:endParaRPr lang="en-US" sz="1000" dirty="0"/>
          </a:p>
        </p:txBody>
      </p:sp>
      <p:sp>
        <p:nvSpPr>
          <p:cNvPr id="36" name="Text 34"/>
          <p:cNvSpPr/>
          <p:nvPr/>
        </p:nvSpPr>
        <p:spPr>
          <a:xfrm>
            <a:off x="11479005" y="6477000"/>
            <a:ext cx="141205" cy="152400"/>
          </a:xfrm>
          <a:prstGeom prst="rect">
            <a:avLst/>
          </a:prstGeom>
          <a:noFill/>
          <a:ln/>
        </p:spPr>
        <p:txBody>
          <a:bodyPr wrap="square" lIns="0" tIns="0" rIns="0" bIns="0" rtlCol="0" anchor="t"/>
          <a:lstStyle/>
          <a:p>
            <a:pPr marL="0" indent="0" algn="l">
              <a:buNone/>
            </a:pPr>
            <a:r>
              <a:rPr lang="en-US" sz="1000" b="1" dirty="0">
                <a:solidFill>
                  <a:srgbClr val="718392"/>
                </a:solidFill>
                <a:latin typeface="Aptos" pitchFamily="34" charset="0"/>
                <a:ea typeface="Aptos" pitchFamily="34" charset="-122"/>
                <a:cs typeface="Aptos" pitchFamily="34" charset="-120"/>
              </a:rPr>
              <a:t>15</a:t>
            </a:r>
            <a:endParaRPr lang="en-US" sz="1000" dirty="0"/>
          </a:p>
        </p:txBody>
      </p:sp>
    </p:spTree>
    <p:extLst>
      <p:ext uri="{BB962C8B-B14F-4D97-AF65-F5344CB8AC3E}">
        <p14:creationId xmlns:p14="http://schemas.microsoft.com/office/powerpoint/2010/main" val="209509517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webextensions/_rels/taskpanes.xml.rels><?xml version="1.0" encoding="UTF-8" standalone="yes"?>
<Relationships xmlns="http://schemas.openxmlformats.org/package/2006/relationships"><Relationship Id="rId2" Type="http://schemas.microsoft.com/office/2011/relationships/webextension" Target="webextension2.xml"/><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438" row="0">
    <wetp:webextensionref xmlns:r="http://schemas.openxmlformats.org/officeDocument/2006/relationships" r:id="rId1"/>
  </wetp:taskpane>
  <wetp:taskpane dockstate="right" visibility="0" width="438" row="1">
    <wetp:webextensionref xmlns:r="http://schemas.openxmlformats.org/officeDocument/2006/relationships" r:id="rId2"/>
  </wetp:taskpane>
</wetp:taskpanes>
</file>

<file path=ppt/webextensions/webextension1.xml><?xml version="1.0" encoding="utf-8"?>
<we:webextension xmlns:we="http://schemas.microsoft.com/office/webextensions/webextension/2010/11" id="{0ABA923A-D1FF-434D-BB61-81E9D4FB3518}">
  <we:reference id="wa200010001" version="1.0.0.1" store="en-US" storeType="OMEX"/>
  <we:alternateReferences>
    <we:reference id="WA200010001" version="1.0.0.1" store="" storeType="OMEX"/>
  </we:alternateReferences>
  <we:properties>
    <we:property name="claude.fileId" value="&quot;c12dbee7-f1e9-4481-aac9-4b3472449bd0&quot;"/>
  </we:properties>
  <we:bindings/>
  <we:snapshot xmlns:r="http://schemas.openxmlformats.org/officeDocument/2006/relationships"/>
</we:webextension>
</file>

<file path=ppt/webextensions/webextension2.xml><?xml version="1.0" encoding="utf-8"?>
<we:webextension xmlns:we="http://schemas.microsoft.com/office/webextensions/webextension/2010/11" id="{380A632D-C9AF-4812-8BF3-14C4A7816268}">
  <we:reference id="wa200010215" version="2.0.0.0" store="en-US" storeType="OMEX"/>
  <we:alternateReferences>
    <we:reference id="wa200010215" version="2.0.0.0" store="wa200010215" storeType="OMEX"/>
  </we:alternateReferences>
  <we:properties>
    <we:property name="bps.codex_control.document_id" value="&quot;509b72b1-a34f-4a43-88fb-1198ac5e03c1&quot;"/>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0</TotalTime>
  <Words>2608</Words>
  <Application>Microsoft Office PowerPoint</Application>
  <DocSecurity>0</DocSecurity>
  <PresentationFormat>Widescreen</PresentationFormat>
  <Paragraphs>367</Paragraphs>
  <Slides>16</Slides>
  <Notes>15</Notes>
  <HiddenSlides>0</HiddenSlides>
  <MMClips>0</MMClips>
  <ScaleCrop>false</ScaleCrop>
  <HeadingPairs>
    <vt:vector size="6" baseType="variant">
      <vt:variant>
        <vt:lpstr>Fonts Used</vt:lpstr>
      </vt:variant>
      <vt:variant>
        <vt:i4>4</vt:i4>
      </vt:variant>
      <vt:variant>
        <vt:lpstr>Theme</vt:lpstr>
      </vt:variant>
      <vt:variant>
        <vt:i4>2</vt:i4>
      </vt:variant>
      <vt:variant>
        <vt:lpstr>Slide Titles</vt:lpstr>
      </vt:variant>
      <vt:variant>
        <vt:i4>16</vt:i4>
      </vt:variant>
    </vt:vector>
  </HeadingPairs>
  <TitlesOfParts>
    <vt:vector size="22" baseType="lpstr">
      <vt:lpstr>Aptos</vt:lpstr>
      <vt:lpstr>Arial</vt:lpstr>
      <vt:lpstr>Calibri</vt:lpstr>
      <vt:lpstr>Georgia</vt:lpstr>
      <vt:lpstr>Office Theme</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Anukul Dixit</cp:lastModifiedBy>
  <cp:revision>1</cp:revision>
  <dcterms:created xsi:type="dcterms:W3CDTF">2026-07-29T16:11:59Z</dcterms:created>
  <dcterms:modified xsi:type="dcterms:W3CDTF">2026-07-29T16:57:39Z</dcterms:modified>
</cp:coreProperties>
</file>